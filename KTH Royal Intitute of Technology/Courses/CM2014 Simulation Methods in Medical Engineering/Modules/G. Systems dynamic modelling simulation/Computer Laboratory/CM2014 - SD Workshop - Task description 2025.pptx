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313" r:id="rId6"/>
    <p:sldId id="269" r:id="rId7"/>
    <p:sldId id="270" r:id="rId8"/>
    <p:sldId id="271" r:id="rId9"/>
    <p:sldId id="259" r:id="rId10"/>
    <p:sldId id="261" r:id="rId11"/>
    <p:sldId id="268" r:id="rId12"/>
    <p:sldId id="260" r:id="rId13"/>
    <p:sldId id="262" r:id="rId14"/>
    <p:sldId id="263" r:id="rId15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/>
    <p:restoredTop sz="96296"/>
  </p:normalViewPr>
  <p:slideViewPr>
    <p:cSldViewPr snapToGrid="0">
      <p:cViewPr>
        <p:scale>
          <a:sx n="100" d="100"/>
          <a:sy n="100" d="100"/>
        </p:scale>
        <p:origin x="115" y="-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d Khodabandehloo" userId="cb03d64890cf78b3" providerId="LiveId" clId="{9F51AD78-D53B-4C00-9970-77C64C9BD5C4}"/>
    <pc:docChg chg="modSld">
      <pc:chgData name="Sahand Khodabandehloo" userId="cb03d64890cf78b3" providerId="LiveId" clId="{9F51AD78-D53B-4C00-9970-77C64C9BD5C4}" dt="2025-03-26T10:46:22.321" v="0" actId="2161"/>
      <pc:docMkLst>
        <pc:docMk/>
      </pc:docMkLst>
      <pc:sldChg chg="modSp mod">
        <pc:chgData name="Sahand Khodabandehloo" userId="cb03d64890cf78b3" providerId="LiveId" clId="{9F51AD78-D53B-4C00-9970-77C64C9BD5C4}" dt="2025-03-26T10:46:22.321" v="0" actId="2161"/>
        <pc:sldMkLst>
          <pc:docMk/>
          <pc:sldMk cId="1835685736" sldId="260"/>
        </pc:sldMkLst>
        <pc:graphicFrameChg chg="modGraphic">
          <ac:chgData name="Sahand Khodabandehloo" userId="cb03d64890cf78b3" providerId="LiveId" clId="{9F51AD78-D53B-4C00-9970-77C64C9BD5C4}" dt="2025-03-26T10:46:22.321" v="0" actId="2161"/>
          <ac:graphicFrameMkLst>
            <pc:docMk/>
            <pc:sldMk cId="1835685736" sldId="260"/>
            <ac:graphicFrameMk id="4" creationId="{F029C31A-D29E-5088-4D84-A2E40629B67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69428-B5E2-1285-16F4-549AD3297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2F903-24E3-9E42-5FC5-89ABF151C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BCF0D-D30B-EA24-3A86-9825BEBB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65F93-7A98-1942-F210-88DBCABE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8A31B-B8B8-70D8-DF66-38F5879C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5324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0623C-C580-B4F1-656B-3E54C99F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FCEEB-5042-D9E7-BEB0-42E1DBC10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19395-BDDC-A7B1-D874-D65007E6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E3B50-517C-BE37-76DE-5F4086CE2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681D7-3CD4-5171-8C73-AFC6903C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4206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3D23-01FD-85EB-97BF-6B67B34B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9D86F-B398-B7AB-241D-E23D8D296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9C572-39CB-6166-95FF-09053195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0410-8DE6-E700-D88E-DE14CC92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825F5-6AFA-B7C9-146D-FF032AA9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4866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3B4B-D8C5-FFC4-C29E-5BA00D3B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ECA9-2A43-D2B3-7036-54E8DFF1D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CBBE4-DB75-18A6-9852-AE4C105AF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2029B-F049-4963-33CA-BD7E0061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3E38F-3645-1FEC-3551-5F690294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E61E-B1C6-5951-FAD3-20893E44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3618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A7B1-F0C1-FDBE-9256-1E3CD516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01142-FD21-E748-6BF4-E69333C99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FB120-0D2B-3BEF-A5A8-BC2027085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F2497-4A65-C042-C01C-D4C036415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D08FD-F7B7-9FA8-B585-5F566A5A8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0462A-EF18-7B57-2C71-288D8C60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B46DA-213C-BECF-EAC2-CDFCB5CF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EF0FB-A0D2-9FC6-A59A-57A45FA7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0156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F385-B527-5705-DBE4-AD221281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82D34-B8E7-32C4-B0AF-3C5A4C05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72653-7AF9-3EE1-10AE-F522EA62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9CB4B-DE63-2B41-5EE0-062A4DB9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5209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84E285-5019-BB8E-FB7F-B6DEDC92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11B59-D0FE-4AC4-00F9-28DD01A3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CA2FB-2FF8-1EF5-819D-218AA9B5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0956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4E6F-F381-F844-4220-C2ECA063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C175-C5D1-0788-0749-D5DDB03A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7D0C1-F0A0-5E79-05D9-517CD81E3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D5A56-8D7B-CB4A-7F45-2C819F03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FE641-6279-73DD-0A96-2ECC0984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7C04B-807A-CF73-4702-CB5C975E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1136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E5C5-EDF9-D1DD-0510-B46287D5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9BB9A-9AD4-2C1B-A503-C078E0F5C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D6CD9-AFAA-7F33-BA96-1EC7AFCDB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C0BAC-605F-51D7-EA69-2D3DC7A80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72F19-26D2-72EC-2644-5AC3D540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81B6-D323-6C47-2EC8-45887751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0598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B1CC-ACA2-9970-BA8D-CC39BEF9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69478-FF9E-AEC9-700B-1D95C7021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F5791-073D-9DCF-D114-265AC7D8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47BD3-F8BF-5BD4-5ACB-399CFD1D1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467A6-3404-301D-633C-152B9AC5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6739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A8F8B-DBB0-F3E2-7020-4FC832827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FC0C2-028B-1AB4-C12F-66DDDF95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7EC1-701A-ECED-3A63-E5682093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CEB0C-16B2-5974-7A8C-95FCFC3F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4FB9B-759F-C7A5-C970-60647A09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33668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2C2D5F-EA7C-6946-8E8C-7B84A7CC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42A2319-CD13-BE4D-9C63-5A9EBFDCEC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2025-03-26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7540BA4-CF98-2846-8D40-8EA647BC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latshållare för innehåll 10">
            <a:extLst>
              <a:ext uri="{FF2B5EF4-FFF2-40B4-BE49-F238E27FC236}">
                <a16:creationId xmlns:a16="http://schemas.microsoft.com/office/drawing/2014/main" id="{C55E1E5B-E1F9-C645-91AF-7753BF8D8E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00" y="1483200"/>
            <a:ext cx="10079565" cy="4816000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22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3CFEF-0C95-D8D4-C9A7-45E278ED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89603-C144-3518-CBF0-D2EC3606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1DA29-79D8-65B7-4894-B86A6A1DB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34DC6-D2B0-8340-9D8D-9F08890A1BC6}" type="datetimeFigureOut">
              <a:rPr lang="en-SE" smtClean="0"/>
              <a:t>2025-03-26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8C6BE-BFB7-DFC5-0FA7-E4A7D1D5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4DD7B-7FC5-F5AA-3A8F-92CE54981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1282-7F10-904C-B2AB-B1843ED1FD6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2628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5A17-D7ED-1DCB-90AC-80A49876D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2083"/>
            <a:ext cx="9144000" cy="1457879"/>
          </a:xfrm>
        </p:spPr>
        <p:txBody>
          <a:bodyPr>
            <a:normAutofit/>
          </a:bodyPr>
          <a:lstStyle/>
          <a:p>
            <a:r>
              <a:rPr lang="en-SE" sz="4000" b="1" dirty="0"/>
              <a:t>System dynamics workshop:</a:t>
            </a:r>
            <a:br>
              <a:rPr lang="en-SE" sz="4000" b="1" dirty="0"/>
            </a:br>
            <a:r>
              <a:rPr lang="en-SE" sz="4000" b="1" dirty="0"/>
              <a:t>the vaccine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7159C-A983-6308-4623-D31ED6CC5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SE" sz="2800" dirty="0"/>
              <a:t>Modelling Systems</a:t>
            </a:r>
          </a:p>
          <a:p>
            <a:r>
              <a:rPr lang="en-SE" sz="2800" dirty="0"/>
              <a:t>CM2014 Spring 2025</a:t>
            </a:r>
          </a:p>
        </p:txBody>
      </p:sp>
    </p:spTree>
    <p:extLst>
      <p:ext uri="{BB962C8B-B14F-4D97-AF65-F5344CB8AC3E}">
        <p14:creationId xmlns:p14="http://schemas.microsoft.com/office/powerpoint/2010/main" val="5902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949D-2295-6767-BC7B-F8A31904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45584" cy="803188"/>
          </a:xfrm>
        </p:spPr>
        <p:txBody>
          <a:bodyPr>
            <a:normAutofit/>
          </a:bodyPr>
          <a:lstStyle/>
          <a:p>
            <a:pPr algn="ctr"/>
            <a:r>
              <a:rPr lang="en-SE" sz="3200" b="1" dirty="0"/>
              <a:t>Quantitative Systems Pharmacology – System dynamic modelling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2890B5-7266-0000-C46D-EB986E56C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54" y="803189"/>
            <a:ext cx="6391292" cy="585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601904-AACA-7326-5B1C-1701F2037C04}"/>
              </a:ext>
            </a:extLst>
          </p:cNvPr>
          <p:cNvSpPr txBox="1"/>
          <p:nvPr/>
        </p:nvSpPr>
        <p:spPr>
          <a:xfrm>
            <a:off x="10252502" y="6475626"/>
            <a:ext cx="1893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Gadkar </a:t>
            </a:r>
            <a:r>
              <a:rPr lang="en-SE" i="1" dirty="0"/>
              <a:t>et al</a:t>
            </a:r>
            <a:r>
              <a:rPr lang="en-SE" dirty="0"/>
              <a:t>. 2016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A4C1A3-62A8-79BF-20AB-855DC156B212}"/>
              </a:ext>
            </a:extLst>
          </p:cNvPr>
          <p:cNvSpPr/>
          <p:nvPr/>
        </p:nvSpPr>
        <p:spPr>
          <a:xfrm>
            <a:off x="4193630" y="3657600"/>
            <a:ext cx="1828800" cy="132430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E24DA-509E-E9F8-3ABD-3BF6DCAC1DD3}"/>
              </a:ext>
            </a:extLst>
          </p:cNvPr>
          <p:cNvSpPr txBox="1"/>
          <p:nvPr/>
        </p:nvSpPr>
        <p:spPr>
          <a:xfrm>
            <a:off x="3292590" y="4693948"/>
            <a:ext cx="1635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1200" dirty="0">
                <a:solidFill>
                  <a:srgbClr val="C00000"/>
                </a:solidFill>
              </a:rPr>
              <a:t>system dynamic</a:t>
            </a:r>
            <a:br>
              <a:rPr lang="en-SE" sz="1200" dirty="0">
                <a:solidFill>
                  <a:srgbClr val="C00000"/>
                </a:solidFill>
              </a:rPr>
            </a:br>
            <a:r>
              <a:rPr lang="en-SE" sz="1200" dirty="0">
                <a:solidFill>
                  <a:srgbClr val="C00000"/>
                </a:solidFill>
              </a:rPr>
              <a:t>modelling &amp; simulation</a:t>
            </a:r>
          </a:p>
        </p:txBody>
      </p:sp>
    </p:spTree>
    <p:extLst>
      <p:ext uri="{BB962C8B-B14F-4D97-AF65-F5344CB8AC3E}">
        <p14:creationId xmlns:p14="http://schemas.microsoft.com/office/powerpoint/2010/main" val="314527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8734-B546-7169-0E67-79A21C9D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1976"/>
          </a:xfrm>
        </p:spPr>
        <p:txBody>
          <a:bodyPr>
            <a:normAutofit/>
          </a:bodyPr>
          <a:lstStyle/>
          <a:p>
            <a:pPr algn="ctr"/>
            <a:r>
              <a:rPr lang="en-SE" sz="3200" b="1" dirty="0"/>
              <a:t>Modelling in drug and vaccine research &amp; development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82F456-CF04-7A7C-A913-3AF7B67F7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946" y="691977"/>
            <a:ext cx="7811737" cy="598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D45C3C-7C79-8115-D601-294FCA13226F}"/>
              </a:ext>
            </a:extLst>
          </p:cNvPr>
          <p:cNvSpPr txBox="1"/>
          <p:nvPr/>
        </p:nvSpPr>
        <p:spPr>
          <a:xfrm>
            <a:off x="9513199" y="6475626"/>
            <a:ext cx="2675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Elmeliegy &amp; Ghobrial 2021</a:t>
            </a:r>
          </a:p>
        </p:txBody>
      </p:sp>
    </p:spTree>
    <p:extLst>
      <p:ext uri="{BB962C8B-B14F-4D97-AF65-F5344CB8AC3E}">
        <p14:creationId xmlns:p14="http://schemas.microsoft.com/office/powerpoint/2010/main" val="3209076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6C95-BB98-68AA-6367-42C736B9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98178"/>
          </a:xfrm>
        </p:spPr>
        <p:txBody>
          <a:bodyPr>
            <a:normAutofit/>
          </a:bodyPr>
          <a:lstStyle/>
          <a:p>
            <a:r>
              <a:rPr lang="en-SE" sz="3200" b="1" dirty="0"/>
              <a:t>The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98282-2191-EB6B-D030-CE4D745D0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7"/>
            <a:ext cx="10515600" cy="4848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E" sz="2400" b="1" dirty="0"/>
              <a:t>Aim and objectives:</a:t>
            </a:r>
          </a:p>
          <a:p>
            <a:r>
              <a:rPr lang="en-SE" sz="2400" dirty="0"/>
              <a:t>Training on development of conceptual models based on problem description. </a:t>
            </a:r>
          </a:p>
          <a:p>
            <a:r>
              <a:rPr lang="en-SE" sz="2400" dirty="0"/>
              <a:t>Reflect on real-world use cases and how models can integrate large amounts of information.</a:t>
            </a:r>
          </a:p>
          <a:p>
            <a:endParaRPr lang="en-SE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DDEDEA-C1F7-80AD-113B-17B5D6DCA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471" y="3015344"/>
            <a:ext cx="8797376" cy="346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04556-5CD4-DD5A-2F17-4E8B65B827B9}"/>
              </a:ext>
            </a:extLst>
          </p:cNvPr>
          <p:cNvSpPr txBox="1"/>
          <p:nvPr/>
        </p:nvSpPr>
        <p:spPr>
          <a:xfrm>
            <a:off x="9861554" y="6482545"/>
            <a:ext cx="2330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Saleh &amp; Davidsen 2007</a:t>
            </a:r>
          </a:p>
        </p:txBody>
      </p:sp>
    </p:spTree>
    <p:extLst>
      <p:ext uri="{BB962C8B-B14F-4D97-AF65-F5344CB8AC3E}">
        <p14:creationId xmlns:p14="http://schemas.microsoft.com/office/powerpoint/2010/main" val="305305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A1A2FA8B-D8C2-43DE-929E-297740D7DE86}"/>
              </a:ext>
            </a:extLst>
          </p:cNvPr>
          <p:cNvSpPr/>
          <p:nvPr/>
        </p:nvSpPr>
        <p:spPr>
          <a:xfrm>
            <a:off x="10115270" y="5116349"/>
            <a:ext cx="1225457" cy="60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F0B8D4-1D3F-4FEF-B877-88F8796F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67" dirty="0"/>
              <a:t>Some basic nomenclature of causal loop diagrams and stock-and-flows models</a:t>
            </a:r>
            <a:endParaRPr lang="en-SE" sz="2667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9D2D9-8CCC-42C7-AEF3-2D6C465E2B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2025-03-26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258C9-7D39-49D3-B9F0-CDEB9FE0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8FE5E-2931-4F13-B104-29D914CA378C}"/>
              </a:ext>
            </a:extLst>
          </p:cNvPr>
          <p:cNvSpPr txBox="1"/>
          <p:nvPr/>
        </p:nvSpPr>
        <p:spPr>
          <a:xfrm>
            <a:off x="132072" y="1736689"/>
            <a:ext cx="16802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Variables,</a:t>
            </a:r>
          </a:p>
          <a:p>
            <a:r>
              <a:rPr lang="en-US" sz="2400" i="1" dirty="0"/>
              <a:t>causal links,</a:t>
            </a:r>
            <a:br>
              <a:rPr lang="en-US" sz="2400" i="1" dirty="0"/>
            </a:br>
            <a:r>
              <a:rPr lang="en-US" sz="2400" i="1" dirty="0"/>
              <a:t>polarity</a:t>
            </a:r>
            <a:endParaRPr lang="en-SE" sz="2400" i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58F627-6D3A-405E-92A0-A34A6DC5F87F}"/>
              </a:ext>
            </a:extLst>
          </p:cNvPr>
          <p:cNvCxnSpPr/>
          <p:nvPr/>
        </p:nvCxnSpPr>
        <p:spPr>
          <a:xfrm>
            <a:off x="3258561" y="1806681"/>
            <a:ext cx="1624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E10163-C5C3-41F9-887B-87505C27115F}"/>
              </a:ext>
            </a:extLst>
          </p:cNvPr>
          <p:cNvCxnSpPr/>
          <p:nvPr/>
        </p:nvCxnSpPr>
        <p:spPr>
          <a:xfrm>
            <a:off x="3258561" y="2731580"/>
            <a:ext cx="1624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D0F3F82-42E2-4282-9916-B04A79BD1AB2}"/>
              </a:ext>
            </a:extLst>
          </p:cNvPr>
          <p:cNvSpPr txBox="1"/>
          <p:nvPr/>
        </p:nvSpPr>
        <p:spPr>
          <a:xfrm>
            <a:off x="4456903" y="138378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  <a:endParaRPr lang="en-SE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131A2-C66C-4B9E-B363-E80EFDCB56A5}"/>
              </a:ext>
            </a:extLst>
          </p:cNvPr>
          <p:cNvSpPr txBox="1"/>
          <p:nvPr/>
        </p:nvSpPr>
        <p:spPr>
          <a:xfrm>
            <a:off x="4508215" y="2280050"/>
            <a:ext cx="279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  <a:endParaRPr lang="en-SE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1E60BE-92F4-4FC6-8F5D-9DF4DBCF65BE}"/>
              </a:ext>
            </a:extLst>
          </p:cNvPr>
          <p:cNvSpPr txBox="1"/>
          <p:nvPr/>
        </p:nvSpPr>
        <p:spPr>
          <a:xfrm>
            <a:off x="2525991" y="1383786"/>
            <a:ext cx="9441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access</a:t>
            </a:r>
            <a:br>
              <a:rPr lang="en-US" sz="1600" dirty="0"/>
            </a:br>
            <a:r>
              <a:rPr lang="en-US" sz="1600" dirty="0"/>
              <a:t>to</a:t>
            </a:r>
          </a:p>
          <a:p>
            <a:pPr algn="ctr"/>
            <a:r>
              <a:rPr lang="en-US" sz="1600" dirty="0"/>
              <a:t>nutrients</a:t>
            </a:r>
            <a:endParaRPr lang="en-S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74B3A-D065-4C3F-A9A2-B753AECC00BB}"/>
              </a:ext>
            </a:extLst>
          </p:cNvPr>
          <p:cNvSpPr txBox="1"/>
          <p:nvPr/>
        </p:nvSpPr>
        <p:spPr>
          <a:xfrm>
            <a:off x="4987735" y="1622015"/>
            <a:ext cx="782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growth</a:t>
            </a:r>
            <a:endParaRPr lang="en-S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3D3D9B-CA3A-47AC-A652-50A9ECC1283B}"/>
              </a:ext>
            </a:extLst>
          </p:cNvPr>
          <p:cNvSpPr txBox="1"/>
          <p:nvPr/>
        </p:nvSpPr>
        <p:spPr>
          <a:xfrm>
            <a:off x="2587357" y="2526271"/>
            <a:ext cx="568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food</a:t>
            </a:r>
            <a:endParaRPr lang="en-SE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0F216-E022-4E5D-A603-1F770171BFB2}"/>
              </a:ext>
            </a:extLst>
          </p:cNvPr>
          <p:cNvSpPr txBox="1"/>
          <p:nvPr/>
        </p:nvSpPr>
        <p:spPr>
          <a:xfrm>
            <a:off x="4960806" y="2526270"/>
            <a:ext cx="7760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hunger</a:t>
            </a:r>
            <a:endParaRPr lang="en-SE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32776-5EDF-4D63-9273-19589E4953C5}"/>
              </a:ext>
            </a:extLst>
          </p:cNvPr>
          <p:cNvSpPr txBox="1"/>
          <p:nvPr/>
        </p:nvSpPr>
        <p:spPr>
          <a:xfrm>
            <a:off x="132073" y="4931658"/>
            <a:ext cx="1712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causal loops</a:t>
            </a:r>
            <a:endParaRPr lang="en-SE" sz="2400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4CC70-6BA2-4C34-9962-4FDB4C4E71FA}"/>
              </a:ext>
            </a:extLst>
          </p:cNvPr>
          <p:cNvSpPr txBox="1"/>
          <p:nvPr/>
        </p:nvSpPr>
        <p:spPr>
          <a:xfrm>
            <a:off x="2544449" y="4695295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A</a:t>
            </a:r>
            <a:endParaRPr lang="en-SE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0F2ECD-FAB1-434E-8252-7A51284E2380}"/>
              </a:ext>
            </a:extLst>
          </p:cNvPr>
          <p:cNvSpPr txBox="1"/>
          <p:nvPr/>
        </p:nvSpPr>
        <p:spPr>
          <a:xfrm>
            <a:off x="3505702" y="508485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B</a:t>
            </a:r>
            <a:endParaRPr lang="en-SE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96AB0B-78AF-4F59-920F-60689D8B35A0}"/>
              </a:ext>
            </a:extLst>
          </p:cNvPr>
          <p:cNvSpPr txBox="1"/>
          <p:nvPr/>
        </p:nvSpPr>
        <p:spPr>
          <a:xfrm>
            <a:off x="3575314" y="5860694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</a:t>
            </a:r>
            <a:endParaRPr lang="en-SE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67069E-8EE8-40AA-8642-6DA5AAF8462C}"/>
              </a:ext>
            </a:extLst>
          </p:cNvPr>
          <p:cNvSpPr txBox="1"/>
          <p:nvPr/>
        </p:nvSpPr>
        <p:spPr>
          <a:xfrm>
            <a:off x="2614832" y="6118722"/>
            <a:ext cx="311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D</a:t>
            </a:r>
            <a:endParaRPr lang="en-SE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81E3C-FEC8-4E23-831A-EFD06B293FF0}"/>
              </a:ext>
            </a:extLst>
          </p:cNvPr>
          <p:cNvSpPr txBox="1"/>
          <p:nvPr/>
        </p:nvSpPr>
        <p:spPr>
          <a:xfrm>
            <a:off x="1849173" y="5436344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</a:t>
            </a:r>
            <a:endParaRPr lang="en-SE" sz="1600" dirty="0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53179A5D-40EE-4B9A-97E2-CF5BA13D94EB}"/>
              </a:ext>
            </a:extLst>
          </p:cNvPr>
          <p:cNvCxnSpPr>
            <a:stCxn id="25" idx="0"/>
            <a:endCxn id="21" idx="1"/>
          </p:cNvCxnSpPr>
          <p:nvPr/>
        </p:nvCxnSpPr>
        <p:spPr>
          <a:xfrm rot="5400000" flipH="1" flipV="1">
            <a:off x="1982339" y="4874234"/>
            <a:ext cx="571772" cy="5524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45B52FC5-BFF2-4F46-A9EE-7F852AF7CB27}"/>
              </a:ext>
            </a:extLst>
          </p:cNvPr>
          <p:cNvCxnSpPr>
            <a:cxnSpLocks/>
            <a:stCxn id="21" idx="3"/>
            <a:endCxn id="22" idx="0"/>
          </p:cNvCxnSpPr>
          <p:nvPr/>
        </p:nvCxnSpPr>
        <p:spPr>
          <a:xfrm>
            <a:off x="2847737" y="4864572"/>
            <a:ext cx="806403" cy="2202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0D0C0EF0-F8AE-4FF5-8649-30D19D708344}"/>
              </a:ext>
            </a:extLst>
          </p:cNvPr>
          <p:cNvCxnSpPr>
            <a:cxnSpLocks/>
            <a:stCxn id="22" idx="3"/>
            <a:endCxn id="23" idx="3"/>
          </p:cNvCxnSpPr>
          <p:nvPr/>
        </p:nvCxnSpPr>
        <p:spPr>
          <a:xfrm>
            <a:off x="3802578" y="5254132"/>
            <a:ext cx="66406" cy="775839"/>
          </a:xfrm>
          <a:prstGeom prst="curvedConnector3">
            <a:avLst>
              <a:gd name="adj1" fmla="val 44424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09E62FBF-CE46-43A7-859E-3E399D008AC7}"/>
              </a:ext>
            </a:extLst>
          </p:cNvPr>
          <p:cNvCxnSpPr>
            <a:cxnSpLocks/>
            <a:stCxn id="23" idx="2"/>
            <a:endCxn id="24" idx="3"/>
          </p:cNvCxnSpPr>
          <p:nvPr/>
        </p:nvCxnSpPr>
        <p:spPr>
          <a:xfrm rot="5400000">
            <a:off x="3279767" y="5845616"/>
            <a:ext cx="88751" cy="79601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855C8594-5E28-4FA0-88F1-755AF53E8FC8}"/>
              </a:ext>
            </a:extLst>
          </p:cNvPr>
          <p:cNvCxnSpPr>
            <a:stCxn id="24" idx="1"/>
            <a:endCxn id="25" idx="2"/>
          </p:cNvCxnSpPr>
          <p:nvPr/>
        </p:nvCxnSpPr>
        <p:spPr>
          <a:xfrm rot="10800000">
            <a:off x="1992002" y="5774899"/>
            <a:ext cx="622831" cy="5131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5816719-B07C-4D51-8E55-4897879F29F7}"/>
              </a:ext>
            </a:extLst>
          </p:cNvPr>
          <p:cNvSpPr txBox="1"/>
          <p:nvPr/>
        </p:nvSpPr>
        <p:spPr>
          <a:xfrm>
            <a:off x="472641" y="3853682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delay</a:t>
            </a:r>
            <a:endParaRPr lang="en-SE" sz="2400" i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F21B48-375C-4A83-B866-E6546128F160}"/>
              </a:ext>
            </a:extLst>
          </p:cNvPr>
          <p:cNvCxnSpPr/>
          <p:nvPr/>
        </p:nvCxnSpPr>
        <p:spPr>
          <a:xfrm>
            <a:off x="3205829" y="4080835"/>
            <a:ext cx="1624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34AE019-A7F1-478F-AB79-2AABCC430E44}"/>
              </a:ext>
            </a:extLst>
          </p:cNvPr>
          <p:cNvSpPr txBox="1"/>
          <p:nvPr/>
        </p:nvSpPr>
        <p:spPr>
          <a:xfrm>
            <a:off x="4383499" y="366979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  <a:endParaRPr lang="en-SE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608AF3-3694-4FC4-9B14-3B94858D2204}"/>
              </a:ext>
            </a:extLst>
          </p:cNvPr>
          <p:cNvSpPr txBox="1"/>
          <p:nvPr/>
        </p:nvSpPr>
        <p:spPr>
          <a:xfrm>
            <a:off x="2464720" y="3902518"/>
            <a:ext cx="645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order</a:t>
            </a:r>
            <a:endParaRPr lang="en-SE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9B866D-FBB6-414D-98DC-8D15329C8E1C}"/>
              </a:ext>
            </a:extLst>
          </p:cNvPr>
          <p:cNvSpPr txBox="1"/>
          <p:nvPr/>
        </p:nvSpPr>
        <p:spPr>
          <a:xfrm>
            <a:off x="4955608" y="3902516"/>
            <a:ext cx="617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stock</a:t>
            </a:r>
            <a:endParaRPr lang="en-SE" sz="16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28BF0D-B2DB-4435-B237-62799787AC6B}"/>
              </a:ext>
            </a:extLst>
          </p:cNvPr>
          <p:cNvCxnSpPr/>
          <p:nvPr/>
        </p:nvCxnSpPr>
        <p:spPr>
          <a:xfrm>
            <a:off x="3954524" y="3945512"/>
            <a:ext cx="0" cy="3263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9662417-482E-40B5-A403-8B8758350438}"/>
              </a:ext>
            </a:extLst>
          </p:cNvPr>
          <p:cNvCxnSpPr/>
          <p:nvPr/>
        </p:nvCxnSpPr>
        <p:spPr>
          <a:xfrm>
            <a:off x="4009260" y="3941760"/>
            <a:ext cx="0" cy="3263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497E23C6-EE10-463A-9186-4D3E0791F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8330804" y="2045416"/>
            <a:ext cx="578080" cy="56148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AC4206B-E65C-43BE-81E6-E2DF4B0C3F59}"/>
              </a:ext>
            </a:extLst>
          </p:cNvPr>
          <p:cNvSpPr txBox="1"/>
          <p:nvPr/>
        </p:nvSpPr>
        <p:spPr>
          <a:xfrm>
            <a:off x="8434432" y="2110812"/>
            <a:ext cx="30328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solidFill>
                  <a:schemeClr val="bg2">
                    <a:lumMod val="50000"/>
                  </a:schemeClr>
                </a:solidFill>
              </a:rPr>
              <a:t>+</a:t>
            </a:r>
            <a:endParaRPr lang="en-SE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E74D71-522F-47AA-B778-92BC1D0D5840}"/>
              </a:ext>
            </a:extLst>
          </p:cNvPr>
          <p:cNvSpPr txBox="1"/>
          <p:nvPr/>
        </p:nvSpPr>
        <p:spPr>
          <a:xfrm>
            <a:off x="6232136" y="1510985"/>
            <a:ext cx="1538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reinforcing</a:t>
            </a:r>
            <a:br>
              <a:rPr lang="en-US" sz="2400" i="1" dirty="0"/>
            </a:br>
            <a:r>
              <a:rPr lang="en-US" sz="2400" i="1" dirty="0"/>
              <a:t>feedback</a:t>
            </a:r>
            <a:br>
              <a:rPr lang="en-US" sz="2400" i="1" dirty="0"/>
            </a:br>
            <a:r>
              <a:rPr lang="en-US" sz="2400" i="1" dirty="0"/>
              <a:t>loop (R)</a:t>
            </a:r>
            <a:endParaRPr lang="en-SE" sz="2400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ED0804-0091-4107-B4C9-3CE1DBC998B0}"/>
              </a:ext>
            </a:extLst>
          </p:cNvPr>
          <p:cNvSpPr txBox="1"/>
          <p:nvPr/>
        </p:nvSpPr>
        <p:spPr>
          <a:xfrm>
            <a:off x="6165403" y="2723539"/>
            <a:ext cx="14061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balancing</a:t>
            </a:r>
            <a:br>
              <a:rPr lang="en-US" sz="2400" i="1" dirty="0"/>
            </a:br>
            <a:r>
              <a:rPr lang="en-US" sz="2400" i="1" dirty="0"/>
              <a:t>feedback</a:t>
            </a:r>
            <a:br>
              <a:rPr lang="en-US" sz="2400" i="1" dirty="0"/>
            </a:br>
            <a:r>
              <a:rPr lang="en-US" sz="2400" i="1" dirty="0"/>
              <a:t>loop (B)</a:t>
            </a:r>
            <a:endParaRPr lang="en-SE" sz="2400" i="1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F186543-3084-464C-BAA5-25B418F0D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8330804" y="3549787"/>
            <a:ext cx="578080" cy="56148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018E95D-985B-46DC-A5FD-C3137D6DECE1}"/>
              </a:ext>
            </a:extLst>
          </p:cNvPr>
          <p:cNvSpPr txBox="1"/>
          <p:nvPr/>
        </p:nvSpPr>
        <p:spPr>
          <a:xfrm>
            <a:off x="8434432" y="3615183"/>
            <a:ext cx="25840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solidFill>
                  <a:schemeClr val="bg2">
                    <a:lumMod val="50000"/>
                  </a:schemeClr>
                </a:solidFill>
              </a:rPr>
              <a:t>-</a:t>
            </a:r>
            <a:endParaRPr lang="en-SE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8569DE-B65B-4271-BC6C-6A083D30008D}"/>
              </a:ext>
            </a:extLst>
          </p:cNvPr>
          <p:cNvSpPr txBox="1"/>
          <p:nvPr/>
        </p:nvSpPr>
        <p:spPr>
          <a:xfrm>
            <a:off x="6061928" y="4340409"/>
            <a:ext cx="19301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Stocks,</a:t>
            </a:r>
            <a:br>
              <a:rPr lang="en-US" sz="2400" i="1" dirty="0"/>
            </a:br>
            <a:r>
              <a:rPr lang="en-US" sz="2400" i="1" dirty="0"/>
              <a:t>flows, sources</a:t>
            </a:r>
            <a:br>
              <a:rPr lang="en-US" sz="2400" i="1" dirty="0"/>
            </a:br>
            <a:r>
              <a:rPr lang="en-US" sz="2400" i="1" dirty="0"/>
              <a:t>and sinks</a:t>
            </a:r>
            <a:endParaRPr lang="en-SE" sz="2400" i="1" dirty="0"/>
          </a:p>
        </p:txBody>
      </p:sp>
      <p:sp>
        <p:nvSpPr>
          <p:cNvPr id="58" name="Cloud 57">
            <a:extLst>
              <a:ext uri="{FF2B5EF4-FFF2-40B4-BE49-F238E27FC236}">
                <a16:creationId xmlns:a16="http://schemas.microsoft.com/office/drawing/2014/main" id="{38C02732-57BF-4C91-A9AA-7E6B38044004}"/>
              </a:ext>
            </a:extLst>
          </p:cNvPr>
          <p:cNvSpPr/>
          <p:nvPr/>
        </p:nvSpPr>
        <p:spPr>
          <a:xfrm>
            <a:off x="8394936" y="5028280"/>
            <a:ext cx="350913" cy="298057"/>
          </a:xfrm>
          <a:prstGeom prst="cloud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D1958D-DBA5-4012-833A-FA8FC4C9B6F7}"/>
              </a:ext>
            </a:extLst>
          </p:cNvPr>
          <p:cNvSpPr/>
          <p:nvPr/>
        </p:nvSpPr>
        <p:spPr>
          <a:xfrm>
            <a:off x="8642375" y="5106245"/>
            <a:ext cx="669589" cy="710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4E5F92-AEE8-4356-921C-AF59188E3E6A}"/>
              </a:ext>
            </a:extLst>
          </p:cNvPr>
          <p:cNvSpPr/>
          <p:nvPr/>
        </p:nvSpPr>
        <p:spPr>
          <a:xfrm>
            <a:off x="9487421" y="4782314"/>
            <a:ext cx="1187649" cy="6870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stock</a:t>
            </a:r>
            <a:endParaRPr lang="en-SE" sz="2400" dirty="0">
              <a:solidFill>
                <a:schemeClr val="tx1"/>
              </a:solidFill>
            </a:endParaRP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3103F034-8671-4C97-8024-DE3E4EC12C22}"/>
              </a:ext>
            </a:extLst>
          </p:cNvPr>
          <p:cNvSpPr/>
          <p:nvPr/>
        </p:nvSpPr>
        <p:spPr>
          <a:xfrm>
            <a:off x="11340728" y="5024912"/>
            <a:ext cx="350913" cy="298057"/>
          </a:xfrm>
          <a:prstGeom prst="cloud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02392D0E-2C3A-4123-B40E-16BCB0499D51}"/>
              </a:ext>
            </a:extLst>
          </p:cNvPr>
          <p:cNvSpPr/>
          <p:nvPr/>
        </p:nvSpPr>
        <p:spPr>
          <a:xfrm rot="5400000">
            <a:off x="11276615" y="5038830"/>
            <a:ext cx="253487" cy="22564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CA36E631-60C8-434E-83F6-E98B4EE4820D}"/>
              </a:ext>
            </a:extLst>
          </p:cNvPr>
          <p:cNvSpPr/>
          <p:nvPr/>
        </p:nvSpPr>
        <p:spPr>
          <a:xfrm rot="5400000">
            <a:off x="9257557" y="5023898"/>
            <a:ext cx="253487" cy="22564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65" name="Flowchart: Collate 64">
            <a:extLst>
              <a:ext uri="{FF2B5EF4-FFF2-40B4-BE49-F238E27FC236}">
                <a16:creationId xmlns:a16="http://schemas.microsoft.com/office/drawing/2014/main" id="{CE4F472A-930C-46BF-A9E1-DD20E4BEC85B}"/>
              </a:ext>
            </a:extLst>
          </p:cNvPr>
          <p:cNvSpPr/>
          <p:nvPr/>
        </p:nvSpPr>
        <p:spPr>
          <a:xfrm>
            <a:off x="8903308" y="5013913"/>
            <a:ext cx="175457" cy="253487"/>
          </a:xfrm>
          <a:prstGeom prst="flowChartCol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>
              <a:solidFill>
                <a:schemeClr val="tx1"/>
              </a:solidFill>
            </a:endParaRPr>
          </a:p>
        </p:txBody>
      </p:sp>
      <p:sp>
        <p:nvSpPr>
          <p:cNvPr id="66" name="Flowchart: Collate 65">
            <a:extLst>
              <a:ext uri="{FF2B5EF4-FFF2-40B4-BE49-F238E27FC236}">
                <a16:creationId xmlns:a16="http://schemas.microsoft.com/office/drawing/2014/main" id="{2D1FC6DF-F244-4D19-8DD9-E503FBDFBD2A}"/>
              </a:ext>
            </a:extLst>
          </p:cNvPr>
          <p:cNvSpPr/>
          <p:nvPr/>
        </p:nvSpPr>
        <p:spPr>
          <a:xfrm>
            <a:off x="10933069" y="5019158"/>
            <a:ext cx="175457" cy="253487"/>
          </a:xfrm>
          <a:prstGeom prst="flowChartCol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240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AD4C753-5672-44BF-89CB-1C2480F3553B}"/>
              </a:ext>
            </a:extLst>
          </p:cNvPr>
          <p:cNvCxnSpPr/>
          <p:nvPr/>
        </p:nvCxnSpPr>
        <p:spPr>
          <a:xfrm flipH="1" flipV="1">
            <a:off x="9487420" y="1383786"/>
            <a:ext cx="9704" cy="8617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2FC9154-CD18-4F91-9B7D-A0CE14A53B09}"/>
              </a:ext>
            </a:extLst>
          </p:cNvPr>
          <p:cNvCxnSpPr>
            <a:cxnSpLocks/>
          </p:cNvCxnSpPr>
          <p:nvPr/>
        </p:nvCxnSpPr>
        <p:spPr>
          <a:xfrm>
            <a:off x="9487421" y="2245560"/>
            <a:ext cx="15289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439CCC23-504A-4203-BCEA-5C8C0D5F0EBC}"/>
              </a:ext>
            </a:extLst>
          </p:cNvPr>
          <p:cNvSpPr/>
          <p:nvPr/>
        </p:nvSpPr>
        <p:spPr>
          <a:xfrm>
            <a:off x="9510660" y="1358666"/>
            <a:ext cx="1021248" cy="863788"/>
          </a:xfrm>
          <a:custGeom>
            <a:avLst/>
            <a:gdLst>
              <a:gd name="connsiteX0" fmla="*/ 0 w 765936"/>
              <a:gd name="connsiteY0" fmla="*/ 647841 h 647841"/>
              <a:gd name="connsiteX1" fmla="*/ 367784 w 765936"/>
              <a:gd name="connsiteY1" fmla="*/ 566861 h 647841"/>
              <a:gd name="connsiteX2" fmla="*/ 651215 w 765936"/>
              <a:gd name="connsiteY2" fmla="*/ 313798 h 647841"/>
              <a:gd name="connsiteX3" fmla="*/ 765936 w 765936"/>
              <a:gd name="connsiteY3" fmla="*/ 0 h 64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936" h="647841">
                <a:moveTo>
                  <a:pt x="0" y="647841"/>
                </a:moveTo>
                <a:cubicBezTo>
                  <a:pt x="129624" y="635188"/>
                  <a:pt x="259248" y="622535"/>
                  <a:pt x="367784" y="566861"/>
                </a:cubicBezTo>
                <a:cubicBezTo>
                  <a:pt x="476320" y="511187"/>
                  <a:pt x="584856" y="408275"/>
                  <a:pt x="651215" y="313798"/>
                </a:cubicBezTo>
                <a:cubicBezTo>
                  <a:pt x="717574" y="219321"/>
                  <a:pt x="741755" y="109660"/>
                  <a:pt x="765936" y="0"/>
                </a:cubicBezTo>
              </a:path>
            </a:pathLst>
          </a:cu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D80DBE0-C7D9-4DB7-B4DE-826CC0D298F7}"/>
              </a:ext>
            </a:extLst>
          </p:cNvPr>
          <p:cNvCxnSpPr/>
          <p:nvPr/>
        </p:nvCxnSpPr>
        <p:spPr>
          <a:xfrm flipH="1" flipV="1">
            <a:off x="9510660" y="2920722"/>
            <a:ext cx="9704" cy="8617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5340C28-1950-4382-A630-ACC2EAE1C9CA}"/>
              </a:ext>
            </a:extLst>
          </p:cNvPr>
          <p:cNvCxnSpPr>
            <a:cxnSpLocks/>
          </p:cNvCxnSpPr>
          <p:nvPr/>
        </p:nvCxnSpPr>
        <p:spPr>
          <a:xfrm>
            <a:off x="9510661" y="3782496"/>
            <a:ext cx="15289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2532D783-35F5-4991-BDE8-B53F3842F38D}"/>
              </a:ext>
            </a:extLst>
          </p:cNvPr>
          <p:cNvSpPr/>
          <p:nvPr/>
        </p:nvSpPr>
        <p:spPr>
          <a:xfrm>
            <a:off x="9537654" y="3235436"/>
            <a:ext cx="1390157" cy="548133"/>
          </a:xfrm>
          <a:custGeom>
            <a:avLst/>
            <a:gdLst>
              <a:gd name="connsiteX0" fmla="*/ 0 w 1042618"/>
              <a:gd name="connsiteY0" fmla="*/ 411100 h 411100"/>
              <a:gd name="connsiteX1" fmla="*/ 259811 w 1042618"/>
              <a:gd name="connsiteY1" fmla="*/ 127669 h 411100"/>
              <a:gd name="connsiteX2" fmla="*/ 705201 w 1042618"/>
              <a:gd name="connsiteY2" fmla="*/ 16322 h 411100"/>
              <a:gd name="connsiteX3" fmla="*/ 1042618 w 1042618"/>
              <a:gd name="connsiteY3" fmla="*/ 2825 h 41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618" h="411100">
                <a:moveTo>
                  <a:pt x="0" y="411100"/>
                </a:moveTo>
                <a:cubicBezTo>
                  <a:pt x="71139" y="302282"/>
                  <a:pt x="142278" y="193465"/>
                  <a:pt x="259811" y="127669"/>
                </a:cubicBezTo>
                <a:cubicBezTo>
                  <a:pt x="377344" y="61873"/>
                  <a:pt x="574733" y="37129"/>
                  <a:pt x="705201" y="16322"/>
                </a:cubicBezTo>
                <a:cubicBezTo>
                  <a:pt x="835669" y="-4485"/>
                  <a:pt x="939143" y="-830"/>
                  <a:pt x="1042618" y="2825"/>
                </a:cubicBezTo>
              </a:path>
            </a:pathLst>
          </a:custGeom>
          <a:ln w="19050">
            <a:solidFill>
              <a:schemeClr val="accent4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2A4B1-65EC-4181-1242-9A6B4C6F4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8308365" y="1356784"/>
            <a:ext cx="578080" cy="561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C0E6FC-1E3C-670F-1055-61636E91F9DF}"/>
              </a:ext>
            </a:extLst>
          </p:cNvPr>
          <p:cNvSpPr txBox="1"/>
          <p:nvPr/>
        </p:nvSpPr>
        <p:spPr>
          <a:xfrm>
            <a:off x="8411993" y="1422180"/>
            <a:ext cx="31451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solidFill>
                  <a:schemeClr val="bg2">
                    <a:lumMod val="50000"/>
                  </a:schemeClr>
                </a:solidFill>
              </a:rPr>
              <a:t>R</a:t>
            </a:r>
            <a:endParaRPr lang="en-SE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3BF32-E9B8-A752-A662-187F95B9C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8329007" y="2889840"/>
            <a:ext cx="578080" cy="5614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95E78A-0435-5D50-15DE-85E09038BFA0}"/>
              </a:ext>
            </a:extLst>
          </p:cNvPr>
          <p:cNvSpPr txBox="1"/>
          <p:nvPr/>
        </p:nvSpPr>
        <p:spPr>
          <a:xfrm>
            <a:off x="8432635" y="2955236"/>
            <a:ext cx="31451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solidFill>
                  <a:schemeClr val="bg2">
                    <a:lumMod val="50000"/>
                  </a:schemeClr>
                </a:solidFill>
              </a:rPr>
              <a:t>B</a:t>
            </a:r>
            <a:endParaRPr lang="en-SE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D55523-FFC5-A841-5D9E-CE446C281958}"/>
              </a:ext>
            </a:extLst>
          </p:cNvPr>
          <p:cNvCxnSpPr>
            <a:cxnSpLocks/>
          </p:cNvCxnSpPr>
          <p:nvPr/>
        </p:nvCxnSpPr>
        <p:spPr>
          <a:xfrm flipH="1" flipV="1">
            <a:off x="9464180" y="5563918"/>
            <a:ext cx="9704" cy="8617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51D365-68B5-2D8D-3BBF-D168316CA309}"/>
              </a:ext>
            </a:extLst>
          </p:cNvPr>
          <p:cNvCxnSpPr>
            <a:cxnSpLocks/>
          </p:cNvCxnSpPr>
          <p:nvPr/>
        </p:nvCxnSpPr>
        <p:spPr>
          <a:xfrm>
            <a:off x="9464181" y="6425692"/>
            <a:ext cx="15289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70">
            <a:extLst>
              <a:ext uri="{FF2B5EF4-FFF2-40B4-BE49-F238E27FC236}">
                <a16:creationId xmlns:a16="http://schemas.microsoft.com/office/drawing/2014/main" id="{30D02481-CFB0-DF3C-187A-382E5FD3496E}"/>
              </a:ext>
            </a:extLst>
          </p:cNvPr>
          <p:cNvSpPr/>
          <p:nvPr/>
        </p:nvSpPr>
        <p:spPr>
          <a:xfrm rot="4855907">
            <a:off x="9487420" y="5538798"/>
            <a:ext cx="1021248" cy="863788"/>
          </a:xfrm>
          <a:custGeom>
            <a:avLst/>
            <a:gdLst>
              <a:gd name="connsiteX0" fmla="*/ 0 w 765936"/>
              <a:gd name="connsiteY0" fmla="*/ 647841 h 647841"/>
              <a:gd name="connsiteX1" fmla="*/ 367784 w 765936"/>
              <a:gd name="connsiteY1" fmla="*/ 566861 h 647841"/>
              <a:gd name="connsiteX2" fmla="*/ 651215 w 765936"/>
              <a:gd name="connsiteY2" fmla="*/ 313798 h 647841"/>
              <a:gd name="connsiteX3" fmla="*/ 765936 w 765936"/>
              <a:gd name="connsiteY3" fmla="*/ 0 h 64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936" h="647841">
                <a:moveTo>
                  <a:pt x="0" y="647841"/>
                </a:moveTo>
                <a:cubicBezTo>
                  <a:pt x="129624" y="635188"/>
                  <a:pt x="259248" y="622535"/>
                  <a:pt x="367784" y="566861"/>
                </a:cubicBezTo>
                <a:cubicBezTo>
                  <a:pt x="476320" y="511187"/>
                  <a:pt x="584856" y="408275"/>
                  <a:pt x="651215" y="313798"/>
                </a:cubicBezTo>
                <a:cubicBezTo>
                  <a:pt x="717574" y="219321"/>
                  <a:pt x="741755" y="109660"/>
                  <a:pt x="765936" y="0"/>
                </a:cubicBezTo>
              </a:path>
            </a:pathLst>
          </a:cu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F38913-1C0C-B425-D131-D2B681288E71}"/>
              </a:ext>
            </a:extLst>
          </p:cNvPr>
          <p:cNvSpPr txBox="1"/>
          <p:nvPr/>
        </p:nvSpPr>
        <p:spPr>
          <a:xfrm>
            <a:off x="8380213" y="5653219"/>
            <a:ext cx="933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rgbClr val="C00000"/>
                </a:solidFill>
              </a:rPr>
              <a:t>for</a:t>
            </a:r>
          </a:p>
          <a:p>
            <a:r>
              <a:rPr lang="en-US" sz="1600" i="1" dirty="0">
                <a:solidFill>
                  <a:srgbClr val="C00000"/>
                </a:solidFill>
              </a:rPr>
              <a:t>example:</a:t>
            </a:r>
            <a:endParaRPr lang="en-SE" sz="1600" i="1" dirty="0">
              <a:solidFill>
                <a:srgbClr val="C00000"/>
              </a:solidFill>
            </a:endParaRPr>
          </a:p>
        </p:txBody>
      </p:sp>
      <p:sp>
        <p:nvSpPr>
          <p:cNvPr id="32" name="Freeform: Shape 70">
            <a:extLst>
              <a:ext uri="{FF2B5EF4-FFF2-40B4-BE49-F238E27FC236}">
                <a16:creationId xmlns:a16="http://schemas.microsoft.com/office/drawing/2014/main" id="{A4AF58B8-55A0-C8E7-C52F-AA9F45043295}"/>
              </a:ext>
            </a:extLst>
          </p:cNvPr>
          <p:cNvSpPr/>
          <p:nvPr/>
        </p:nvSpPr>
        <p:spPr>
          <a:xfrm rot="15497258">
            <a:off x="9553967" y="1401973"/>
            <a:ext cx="1021248" cy="863788"/>
          </a:xfrm>
          <a:custGeom>
            <a:avLst/>
            <a:gdLst>
              <a:gd name="connsiteX0" fmla="*/ 0 w 765936"/>
              <a:gd name="connsiteY0" fmla="*/ 647841 h 647841"/>
              <a:gd name="connsiteX1" fmla="*/ 367784 w 765936"/>
              <a:gd name="connsiteY1" fmla="*/ 566861 h 647841"/>
              <a:gd name="connsiteX2" fmla="*/ 651215 w 765936"/>
              <a:gd name="connsiteY2" fmla="*/ 313798 h 647841"/>
              <a:gd name="connsiteX3" fmla="*/ 765936 w 765936"/>
              <a:gd name="connsiteY3" fmla="*/ 0 h 64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936" h="647841">
                <a:moveTo>
                  <a:pt x="0" y="647841"/>
                </a:moveTo>
                <a:cubicBezTo>
                  <a:pt x="129624" y="635188"/>
                  <a:pt x="259248" y="622535"/>
                  <a:pt x="367784" y="566861"/>
                </a:cubicBezTo>
                <a:cubicBezTo>
                  <a:pt x="476320" y="511187"/>
                  <a:pt x="584856" y="408275"/>
                  <a:pt x="651215" y="313798"/>
                </a:cubicBezTo>
                <a:cubicBezTo>
                  <a:pt x="717574" y="219321"/>
                  <a:pt x="741755" y="109660"/>
                  <a:pt x="765936" y="0"/>
                </a:cubicBezTo>
              </a:path>
            </a:pathLst>
          </a:custGeom>
          <a:ln w="19050">
            <a:solidFill>
              <a:srgbClr val="00B0F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sp>
        <p:nvSpPr>
          <p:cNvPr id="33" name="Freeform: Shape 74">
            <a:extLst>
              <a:ext uri="{FF2B5EF4-FFF2-40B4-BE49-F238E27FC236}">
                <a16:creationId xmlns:a16="http://schemas.microsoft.com/office/drawing/2014/main" id="{056CA8A2-AFD3-CA97-9367-CB18AF1A66F1}"/>
              </a:ext>
            </a:extLst>
          </p:cNvPr>
          <p:cNvSpPr/>
          <p:nvPr/>
        </p:nvSpPr>
        <p:spPr>
          <a:xfrm flipV="1">
            <a:off x="9530663" y="2967437"/>
            <a:ext cx="1390157" cy="451800"/>
          </a:xfrm>
          <a:custGeom>
            <a:avLst/>
            <a:gdLst>
              <a:gd name="connsiteX0" fmla="*/ 0 w 1042618"/>
              <a:gd name="connsiteY0" fmla="*/ 411100 h 411100"/>
              <a:gd name="connsiteX1" fmla="*/ 259811 w 1042618"/>
              <a:gd name="connsiteY1" fmla="*/ 127669 h 411100"/>
              <a:gd name="connsiteX2" fmla="*/ 705201 w 1042618"/>
              <a:gd name="connsiteY2" fmla="*/ 16322 h 411100"/>
              <a:gd name="connsiteX3" fmla="*/ 1042618 w 1042618"/>
              <a:gd name="connsiteY3" fmla="*/ 2825 h 41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618" h="411100">
                <a:moveTo>
                  <a:pt x="0" y="411100"/>
                </a:moveTo>
                <a:cubicBezTo>
                  <a:pt x="71139" y="302282"/>
                  <a:pt x="142278" y="193465"/>
                  <a:pt x="259811" y="127669"/>
                </a:cubicBezTo>
                <a:cubicBezTo>
                  <a:pt x="377344" y="61873"/>
                  <a:pt x="574733" y="37129"/>
                  <a:pt x="705201" y="16322"/>
                </a:cubicBezTo>
                <a:cubicBezTo>
                  <a:pt x="835669" y="-4485"/>
                  <a:pt x="939143" y="-830"/>
                  <a:pt x="1042618" y="2825"/>
                </a:cubicBezTo>
              </a:path>
            </a:pathLst>
          </a:custGeom>
          <a:ln w="19050">
            <a:solidFill>
              <a:srgbClr val="00B0F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 sz="24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C135C2D-3B9D-F3D1-02BF-98CCD2914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587" y="4982408"/>
            <a:ext cx="423333" cy="89746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4518E084-D18E-DBC5-441B-011DA65D4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429665">
            <a:off x="4603803" y="4907865"/>
            <a:ext cx="423333" cy="847512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1BAC77E-344F-4456-2BBC-C03268BFD65E}"/>
              </a:ext>
            </a:extLst>
          </p:cNvPr>
          <p:cNvSpPr txBox="1"/>
          <p:nvPr/>
        </p:nvSpPr>
        <p:spPr>
          <a:xfrm>
            <a:off x="4604539" y="4636710"/>
            <a:ext cx="109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population</a:t>
            </a:r>
            <a:endParaRPr lang="en-SE" sz="1600" dirty="0">
              <a:solidFill>
                <a:srgbClr val="C0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61DE6A2-506E-A508-3815-D1A4AB059C9D}"/>
              </a:ext>
            </a:extLst>
          </p:cNvPr>
          <p:cNvSpPr txBox="1"/>
          <p:nvPr/>
        </p:nvSpPr>
        <p:spPr>
          <a:xfrm>
            <a:off x="4914764" y="5690960"/>
            <a:ext cx="667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births</a:t>
            </a:r>
            <a:endParaRPr lang="en-SE" sz="1600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026117-2933-86CE-4D12-ECD277564487}"/>
              </a:ext>
            </a:extLst>
          </p:cNvPr>
          <p:cNvSpPr txBox="1"/>
          <p:nvPr/>
        </p:nvSpPr>
        <p:spPr>
          <a:xfrm>
            <a:off x="4636666" y="49422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+</a:t>
            </a:r>
            <a:endParaRPr lang="en-SE" sz="2400" dirty="0">
              <a:solidFill>
                <a:srgbClr val="C0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5A71EA-14DE-C160-5C57-34F43168682E}"/>
              </a:ext>
            </a:extLst>
          </p:cNvPr>
          <p:cNvSpPr txBox="1"/>
          <p:nvPr/>
        </p:nvSpPr>
        <p:spPr>
          <a:xfrm>
            <a:off x="5379506" y="53553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+</a:t>
            </a:r>
            <a:endParaRPr lang="en-SE" sz="2400" dirty="0">
              <a:solidFill>
                <a:srgbClr val="C0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B60F45-2959-58A9-2F47-78B71D434FAC}"/>
              </a:ext>
            </a:extLst>
          </p:cNvPr>
          <p:cNvSpPr txBox="1"/>
          <p:nvPr/>
        </p:nvSpPr>
        <p:spPr>
          <a:xfrm>
            <a:off x="8639496" y="4588570"/>
            <a:ext cx="7019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inflow</a:t>
            </a:r>
            <a:endParaRPr lang="en-SE" sz="1600" dirty="0">
              <a:solidFill>
                <a:srgbClr val="C0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3CD045-86B2-3220-810B-98C84F27BB97}"/>
              </a:ext>
            </a:extLst>
          </p:cNvPr>
          <p:cNvSpPr txBox="1"/>
          <p:nvPr/>
        </p:nvSpPr>
        <p:spPr>
          <a:xfrm>
            <a:off x="10764668" y="4640647"/>
            <a:ext cx="8346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outflow</a:t>
            </a:r>
            <a:endParaRPr lang="en-SE" sz="16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FBC5D7-24CC-9927-683C-CBB37C1A3F64}"/>
              </a:ext>
            </a:extLst>
          </p:cNvPr>
          <p:cNvSpPr txBox="1"/>
          <p:nvPr/>
        </p:nvSpPr>
        <p:spPr>
          <a:xfrm>
            <a:off x="9344845" y="4404862"/>
            <a:ext cx="1466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stock over time</a:t>
            </a:r>
            <a:endParaRPr lang="en-SE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87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VID-19">
            <a:extLst>
              <a:ext uri="{FF2B5EF4-FFF2-40B4-BE49-F238E27FC236}">
                <a16:creationId xmlns:a16="http://schemas.microsoft.com/office/drawing/2014/main" id="{8EBE17B3-C418-B7D6-2FF9-2FBE45CB0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95" y="786148"/>
            <a:ext cx="8721410" cy="528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25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Top AI Use Cases in Pharmaceutical Industry">
            <a:extLst>
              <a:ext uri="{FF2B5EF4-FFF2-40B4-BE49-F238E27FC236}">
                <a16:creationId xmlns:a16="http://schemas.microsoft.com/office/drawing/2014/main" id="{368ADFD7-5A88-BD43-235F-334EE00705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524" y="1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What You Need to Know About Becoming a Computer Science Major">
            <a:extLst>
              <a:ext uri="{FF2B5EF4-FFF2-40B4-BE49-F238E27FC236}">
                <a16:creationId xmlns:a16="http://schemas.microsoft.com/office/drawing/2014/main" id="{9A373DFC-4672-49A3-5AB2-7971D36C1F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1" r="13587" b="1"/>
          <a:stretch/>
        </p:blipFill>
        <p:spPr bwMode="auto"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73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Meeting with solid fill">
            <a:extLst>
              <a:ext uri="{FF2B5EF4-FFF2-40B4-BE49-F238E27FC236}">
                <a16:creationId xmlns:a16="http://schemas.microsoft.com/office/drawing/2014/main" id="{25C02CB6-C4FB-2D15-434E-8A042C45A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242" y="1023282"/>
            <a:ext cx="1890712" cy="1890712"/>
          </a:xfrm>
          <a:prstGeom prst="rect">
            <a:avLst/>
          </a:prstGeom>
        </p:spPr>
      </p:pic>
      <p:pic>
        <p:nvPicPr>
          <p:cNvPr id="8" name="Graphic 7" descr="Meeting with solid fill">
            <a:extLst>
              <a:ext uri="{FF2B5EF4-FFF2-40B4-BE49-F238E27FC236}">
                <a16:creationId xmlns:a16="http://schemas.microsoft.com/office/drawing/2014/main" id="{289C71B0-2B1D-65D4-1F90-35677DF07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0147" y="2408016"/>
            <a:ext cx="1890712" cy="1890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531FB0-6F7F-CE4A-ECFF-0EE3165A9B8F}"/>
              </a:ext>
            </a:extLst>
          </p:cNvPr>
          <p:cNvSpPr txBox="1"/>
          <p:nvPr/>
        </p:nvSpPr>
        <p:spPr>
          <a:xfrm>
            <a:off x="1822805" y="2729328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disease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8C379F-61A2-5D5F-03D7-4757B91F92EE}"/>
              </a:ext>
            </a:extLst>
          </p:cNvPr>
          <p:cNvSpPr txBox="1"/>
          <p:nvPr/>
        </p:nvSpPr>
        <p:spPr>
          <a:xfrm>
            <a:off x="1723739" y="5093800"/>
            <a:ext cx="17572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pharmacological</a:t>
            </a:r>
            <a:br>
              <a:rPr lang="en-SE" dirty="0"/>
            </a:br>
            <a:r>
              <a:rPr lang="en-SE" dirty="0"/>
              <a:t>model (choice of</a:t>
            </a:r>
            <a:br>
              <a:rPr lang="en-SE" dirty="0"/>
            </a:br>
            <a:r>
              <a:rPr lang="en-SE" dirty="0"/>
              <a:t>two therapies)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7979256-E9D4-B2C8-DCF6-474F89604EA6}"/>
              </a:ext>
            </a:extLst>
          </p:cNvPr>
          <p:cNvSpPr/>
          <p:nvPr/>
        </p:nvSpPr>
        <p:spPr>
          <a:xfrm>
            <a:off x="3532954" y="2729328"/>
            <a:ext cx="1312315" cy="12646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4BEFEA64-50EF-B68D-D627-AB611A5E7A3B}"/>
              </a:ext>
            </a:extLst>
          </p:cNvPr>
          <p:cNvSpPr/>
          <p:nvPr/>
        </p:nvSpPr>
        <p:spPr>
          <a:xfrm>
            <a:off x="1218501" y="1192185"/>
            <a:ext cx="505238" cy="4599753"/>
          </a:xfrm>
          <a:prstGeom prst="leftBrace">
            <a:avLst>
              <a:gd name="adj1" fmla="val 95705"/>
              <a:gd name="adj2" fmla="val 5000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15" name="Graphic 14" descr="Chat with solid fill">
            <a:extLst>
              <a:ext uri="{FF2B5EF4-FFF2-40B4-BE49-F238E27FC236}">
                <a16:creationId xmlns:a16="http://schemas.microsoft.com/office/drawing/2014/main" id="{8267AC80-6344-341A-00A1-9BB0DA45FF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260" y="2520062"/>
            <a:ext cx="1673566" cy="1673566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6C7BA175-FCA1-54B4-2C60-21A6746C0A9B}"/>
              </a:ext>
            </a:extLst>
          </p:cNvPr>
          <p:cNvSpPr/>
          <p:nvPr/>
        </p:nvSpPr>
        <p:spPr>
          <a:xfrm>
            <a:off x="6659783" y="2724543"/>
            <a:ext cx="1312315" cy="12646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17" name="Graphic 16" descr="Meeting with solid fill">
            <a:extLst>
              <a:ext uri="{FF2B5EF4-FFF2-40B4-BE49-F238E27FC236}">
                <a16:creationId xmlns:a16="http://schemas.microsoft.com/office/drawing/2014/main" id="{2591B148-B7BD-B492-4E4D-2488A4833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2207" y="2408016"/>
            <a:ext cx="1890712" cy="1890712"/>
          </a:xfrm>
          <a:prstGeom prst="rect">
            <a:avLst/>
          </a:prstGeom>
        </p:spPr>
      </p:pic>
      <p:pic>
        <p:nvPicPr>
          <p:cNvPr id="18" name="Graphic 17" descr="Meeting with solid fill">
            <a:extLst>
              <a:ext uri="{FF2B5EF4-FFF2-40B4-BE49-F238E27FC236}">
                <a16:creationId xmlns:a16="http://schemas.microsoft.com/office/drawing/2014/main" id="{AF3A710F-9C61-246D-3FB6-A086F143F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2242" y="3439511"/>
            <a:ext cx="1890712" cy="18907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282EF8-731B-F155-D795-BF7F04467B63}"/>
              </a:ext>
            </a:extLst>
          </p:cNvPr>
          <p:cNvSpPr txBox="1"/>
          <p:nvPr/>
        </p:nvSpPr>
        <p:spPr>
          <a:xfrm>
            <a:off x="5083784" y="4061701"/>
            <a:ext cx="1326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discuss your</a:t>
            </a:r>
            <a:br>
              <a:rPr lang="en-SE" dirty="0"/>
            </a:br>
            <a:r>
              <a:rPr lang="en-SE" dirty="0"/>
              <a:t>findings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B09E1C-9A3D-B1BC-7DBD-B6C1D1217296}"/>
              </a:ext>
            </a:extLst>
          </p:cNvPr>
          <p:cNvSpPr txBox="1"/>
          <p:nvPr/>
        </p:nvSpPr>
        <p:spPr>
          <a:xfrm>
            <a:off x="8104458" y="4094246"/>
            <a:ext cx="2306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work on the combined</a:t>
            </a:r>
            <a:br>
              <a:rPr lang="en-SE" dirty="0"/>
            </a:br>
            <a:r>
              <a:rPr lang="en-SE" dirty="0"/>
              <a:t>model together</a:t>
            </a:r>
          </a:p>
        </p:txBody>
      </p:sp>
      <p:pic>
        <p:nvPicPr>
          <p:cNvPr id="22" name="Graphic 21" descr="Cheers outline">
            <a:extLst>
              <a:ext uri="{FF2B5EF4-FFF2-40B4-BE49-F238E27FC236}">
                <a16:creationId xmlns:a16="http://schemas.microsoft.com/office/drawing/2014/main" id="{EDA9ADB3-02AD-9115-FCE5-6AF31D85E1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8428" y="3034861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3A31279-6833-C592-585F-DCBB36FC3E1A}"/>
              </a:ext>
            </a:extLst>
          </p:cNvPr>
          <p:cNvSpPr txBox="1"/>
          <p:nvPr/>
        </p:nvSpPr>
        <p:spPr>
          <a:xfrm>
            <a:off x="306587" y="3870462"/>
            <a:ext cx="120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teams of</a:t>
            </a:r>
            <a:br>
              <a:rPr lang="en-SE" dirty="0"/>
            </a:br>
            <a:r>
              <a:rPr lang="en-SE" dirty="0"/>
              <a:t>up to 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C0DF04-29D0-E34E-3A64-C0DE609D82A5}"/>
              </a:ext>
            </a:extLst>
          </p:cNvPr>
          <p:cNvSpPr txBox="1"/>
          <p:nvPr/>
        </p:nvSpPr>
        <p:spPr>
          <a:xfrm>
            <a:off x="2348120" y="303188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4000" dirty="0"/>
              <a:t>+</a:t>
            </a:r>
          </a:p>
        </p:txBody>
      </p:sp>
      <p:pic>
        <p:nvPicPr>
          <p:cNvPr id="26" name="Graphic 25" descr="Group brainstorm with solid fill">
            <a:extLst>
              <a:ext uri="{FF2B5EF4-FFF2-40B4-BE49-F238E27FC236}">
                <a16:creationId xmlns:a16="http://schemas.microsoft.com/office/drawing/2014/main" id="{0ADDA528-70B2-A1F1-FAEA-71F8225BBB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10667" y="5093800"/>
            <a:ext cx="914400" cy="914400"/>
          </a:xfrm>
          <a:prstGeom prst="rect">
            <a:avLst/>
          </a:prstGeom>
        </p:spPr>
      </p:pic>
      <p:sp>
        <p:nvSpPr>
          <p:cNvPr id="27" name="Right Arrow 26">
            <a:extLst>
              <a:ext uri="{FF2B5EF4-FFF2-40B4-BE49-F238E27FC236}">
                <a16:creationId xmlns:a16="http://schemas.microsoft.com/office/drawing/2014/main" id="{646BD71A-57EF-F664-B4AB-567B94DC57E6}"/>
              </a:ext>
            </a:extLst>
          </p:cNvPr>
          <p:cNvSpPr/>
          <p:nvPr/>
        </p:nvSpPr>
        <p:spPr>
          <a:xfrm rot="3115994">
            <a:off x="8644382" y="4839779"/>
            <a:ext cx="1312315" cy="12646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B59E4B-2CE7-B717-956C-13A95CEAB383}"/>
              </a:ext>
            </a:extLst>
          </p:cNvPr>
          <p:cNvSpPr txBox="1"/>
          <p:nvPr/>
        </p:nvSpPr>
        <p:spPr>
          <a:xfrm>
            <a:off x="9621681" y="6008200"/>
            <a:ext cx="2570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short reflection/feedback</a:t>
            </a:r>
            <a:br>
              <a:rPr lang="en-SE" dirty="0"/>
            </a:br>
            <a:r>
              <a:rPr lang="en-SE" dirty="0"/>
              <a:t>together</a:t>
            </a:r>
          </a:p>
        </p:txBody>
      </p:sp>
    </p:spTree>
    <p:extLst>
      <p:ext uri="{BB962C8B-B14F-4D97-AF65-F5344CB8AC3E}">
        <p14:creationId xmlns:p14="http://schemas.microsoft.com/office/powerpoint/2010/main" val="3107464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8EFF-4EE9-46A2-8FCB-2B87149A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0828"/>
          </a:xfrm>
        </p:spPr>
        <p:txBody>
          <a:bodyPr>
            <a:normAutofit/>
          </a:bodyPr>
          <a:lstStyle/>
          <a:p>
            <a:r>
              <a:rPr lang="en-SE" sz="3200" b="1" dirty="0"/>
              <a:t>Model A: disease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59AF-3714-0438-FCB0-D2F20EE79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3172"/>
            <a:ext cx="10515600" cy="5493791"/>
          </a:xfrm>
        </p:spPr>
        <p:txBody>
          <a:bodyPr>
            <a:normAutofit/>
          </a:bodyPr>
          <a:lstStyle/>
          <a:p>
            <a:endParaRPr lang="en-SE" sz="2400" b="1" dirty="0"/>
          </a:p>
          <a:p>
            <a:r>
              <a:rPr lang="en-SE" sz="2400" b="1" dirty="0"/>
              <a:t>Problem statement</a:t>
            </a:r>
            <a:r>
              <a:rPr lang="en-SE" sz="2400" dirty="0"/>
              <a:t>: Considering the mechanism of SARS-CoV-2, what are the potential drug/vaccine targets?</a:t>
            </a:r>
          </a:p>
          <a:p>
            <a:r>
              <a:rPr lang="en-SE" sz="2400" b="1" dirty="0"/>
              <a:t>Task</a:t>
            </a:r>
            <a:r>
              <a:rPr lang="en-SE" sz="2400" dirty="0"/>
              <a:t>: Based on the available information, develop a conceptual SARS-CoV-2 disease model (causal loop diagram/stocks-and-flows).</a:t>
            </a:r>
          </a:p>
          <a:p>
            <a:r>
              <a:rPr lang="en-SE" sz="2400" b="1" dirty="0"/>
              <a:t>Question 1:</a:t>
            </a:r>
            <a:r>
              <a:rPr lang="en-SE" sz="2400" dirty="0"/>
              <a:t> Given the structure of the model, what can we say about the above question?</a:t>
            </a:r>
          </a:p>
          <a:p>
            <a:r>
              <a:rPr lang="en-SE" sz="2400" b="1" dirty="0"/>
              <a:t>Question 2: </a:t>
            </a:r>
            <a:r>
              <a:rPr lang="en-SE" sz="2400" dirty="0"/>
              <a:t>Does the model explain the emergence of severe disease? </a:t>
            </a:r>
          </a:p>
          <a:p>
            <a:r>
              <a:rPr lang="en-SE" sz="2400" b="1" dirty="0"/>
              <a:t>Question 3:</a:t>
            </a:r>
            <a:r>
              <a:rPr lang="en-SE" sz="2400" dirty="0"/>
              <a:t> How and why would we want to translate this into a quantitative simulation model?</a:t>
            </a:r>
          </a:p>
        </p:txBody>
      </p:sp>
    </p:spTree>
    <p:extLst>
      <p:ext uri="{BB962C8B-B14F-4D97-AF65-F5344CB8AC3E}">
        <p14:creationId xmlns:p14="http://schemas.microsoft.com/office/powerpoint/2010/main" val="2002956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8EFF-4EE9-46A2-8FCB-2B87149A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9"/>
            <a:ext cx="10515600" cy="881217"/>
          </a:xfrm>
        </p:spPr>
        <p:txBody>
          <a:bodyPr>
            <a:normAutofit/>
          </a:bodyPr>
          <a:lstStyle/>
          <a:p>
            <a:r>
              <a:rPr lang="en-SE" sz="3200" b="1" dirty="0"/>
              <a:t>Model A: Disease mechanism - immuno-response model</a:t>
            </a:r>
          </a:p>
        </p:txBody>
      </p:sp>
      <p:pic>
        <p:nvPicPr>
          <p:cNvPr id="9" name="Picture 2" descr="COVID-19">
            <a:extLst>
              <a:ext uri="{FF2B5EF4-FFF2-40B4-BE49-F238E27FC236}">
                <a16:creationId xmlns:a16="http://schemas.microsoft.com/office/drawing/2014/main" id="{AC287190-5B2F-E76B-E4F6-AA107D200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821" y="777766"/>
            <a:ext cx="9899477" cy="599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DFB2BE-EDB2-3F2D-0BC6-D205C23FF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35296"/>
              </p:ext>
            </p:extLst>
          </p:nvPr>
        </p:nvGraphicFramePr>
        <p:xfrm>
          <a:off x="261663" y="699494"/>
          <a:ext cx="8128000" cy="604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5518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Data Table. </a:t>
                      </a:r>
                      <a:r>
                        <a:rPr lang="en-SE" b="0" dirty="0"/>
                        <a:t>Disease mechanism of immuno-response.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79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SARS-CoV-2 infection leads to increase in systemic blood viral load.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Systemic blood viral load leads to infection of susceptible cells: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SE" sz="1600" i="1" dirty="0"/>
                        <a:t>SARS-CoV2 spike (S) proteins adhere to the membrane of cells (ACE-2 receptors) and fuse with the membrane.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SE" sz="1600" i="1" dirty="0"/>
                        <a:t>Viral RNA is translated into viral proteins in the rhibosomes. 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SE" sz="1600" i="1" dirty="0"/>
                        <a:t>This includes RNA-dependent RNA polymerase, that produces more viral RNA.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SE" sz="1600" i="1" dirty="0"/>
                        <a:t>Viral proteins form new viruses that can exit the cells.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SE" sz="1600" i="1" dirty="0"/>
                        <a:t>RNA is degraded in the cytoplasm.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Infection of susceptible (alveolar) cells leads to increased viral load.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Infection of susceptible cells leads to increase in pro-inflammation signaling (innate and adaptive immuno response – antibodies to recognise antigens).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Infection of susceptible cells leads to increase in tissue damage.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Tissue damage increases pro-inflammation.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Free viral load leads to increase in pro-inflammation signaling.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Pro-inflammation signaling reduces viral load.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Pro-inflammation signaling reduces infection of susceptible cells.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Pro-inflammation signaling increases tissue damage through induced cell death.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Pro-inflammation signaling increases anti-inflammatory signaling (T-cells, interleukins, TGF-Beta).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dirty="0"/>
                        <a:t>Anti-inflammatory signaling reduces pro-inflammatory signaling.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838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841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8EFF-4EE9-46A2-8FCB-2B87149A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Model B: pharmacological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59AF-3714-0438-FCB0-D2F20EE79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767"/>
            <a:ext cx="10515600" cy="4746196"/>
          </a:xfrm>
        </p:spPr>
        <p:txBody>
          <a:bodyPr/>
          <a:lstStyle/>
          <a:p>
            <a:r>
              <a:rPr lang="en-SE" b="1" dirty="0"/>
              <a:t>Problem statement</a:t>
            </a:r>
            <a:r>
              <a:rPr lang="en-SE" dirty="0"/>
              <a:t>: considering the pharmacological effect of infectisivir®/ Modern Phaser® vaccine. What formulation (drug delivery) effects and patient characterstics should be considered?</a:t>
            </a:r>
          </a:p>
          <a:p>
            <a:r>
              <a:rPr lang="en-SE" sz="2800" b="1" dirty="0"/>
              <a:t>Task</a:t>
            </a:r>
            <a:r>
              <a:rPr lang="en-SE" sz="2800" dirty="0"/>
              <a:t>: Based on the available information, develop a conceptual pharmacological model (causal loop diagram/stocks-and-flows).</a:t>
            </a:r>
          </a:p>
          <a:p>
            <a:r>
              <a:rPr lang="en-SE" b="1" dirty="0"/>
              <a:t>Question 1:</a:t>
            </a:r>
            <a:r>
              <a:rPr lang="en-SE" dirty="0"/>
              <a:t> Given the structure of the model, what can we say about the above question?</a:t>
            </a:r>
          </a:p>
          <a:p>
            <a:r>
              <a:rPr lang="en-SE" sz="2800" b="1" dirty="0"/>
              <a:t>Question 2: </a:t>
            </a:r>
            <a:r>
              <a:rPr lang="en-SE" sz="2800" dirty="0"/>
              <a:t>Are ther</a:t>
            </a:r>
            <a:r>
              <a:rPr lang="en-SE" dirty="0"/>
              <a:t>e any missing aspects in the data/model?</a:t>
            </a:r>
            <a:endParaRPr lang="en-SE" sz="2800" dirty="0"/>
          </a:p>
          <a:p>
            <a:r>
              <a:rPr lang="en-SE" sz="2800" b="1" dirty="0"/>
              <a:t>Question 2:</a:t>
            </a:r>
            <a:r>
              <a:rPr lang="en-SE" sz="2800" dirty="0"/>
              <a:t> Why would we want to translate this into a quantitative simulation model? How? (what technique)</a:t>
            </a:r>
          </a:p>
          <a:p>
            <a:pPr marL="0" indent="0">
              <a:buNone/>
            </a:pP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704570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88604-11C4-5714-2AF3-0CA6EFC2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089517" cy="818514"/>
          </a:xfrm>
        </p:spPr>
        <p:txBody>
          <a:bodyPr>
            <a:normAutofit/>
          </a:bodyPr>
          <a:lstStyle/>
          <a:p>
            <a:r>
              <a:rPr lang="en-SE" sz="2400" b="1" dirty="0"/>
              <a:t>Model B(i): pharmacological model - infectisivir</a:t>
            </a:r>
          </a:p>
        </p:txBody>
      </p:sp>
      <p:pic>
        <p:nvPicPr>
          <p:cNvPr id="4098" name="Picture 2" descr="Happy pill' anti-depressants really can help tackle chronic pain but don't  actually make you happy | Daily Mail Online">
            <a:extLst>
              <a:ext uri="{FF2B5EF4-FFF2-40B4-BE49-F238E27FC236}">
                <a16:creationId xmlns:a16="http://schemas.microsoft.com/office/drawing/2014/main" id="{66B6A3C7-1633-6845-CA85-464EADD04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7" r="6478" b="1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029C31A-D29E-5088-4D84-A2E40629B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365616"/>
              </p:ext>
            </p:extLst>
          </p:nvPr>
        </p:nvGraphicFramePr>
        <p:xfrm>
          <a:off x="203435" y="977188"/>
          <a:ext cx="8128000" cy="570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36339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Data Table.</a:t>
                      </a:r>
                      <a:r>
                        <a:rPr lang="en-SE" b="0" dirty="0"/>
                        <a:t> Pharmacological mechanism of the infectisivir drug therapy.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71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sz="1600" b="1" dirty="0"/>
                        <a:t>About the drug: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Infectisivir is an adenosine nucleotide analogue prodrug that is metabolically activated to GS-44992. The compound acts to reduce SARS-CoV-2 viral load. </a:t>
                      </a:r>
                    </a:p>
                    <a:p>
                      <a:r>
                        <a:rPr lang="en-SE" sz="1600" b="1" dirty="0"/>
                        <a:t>Drug disposition: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Infectisivir is administered to a person as an intravenous injection into systemic blood.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From systemic blood, Infectisivir is distributed into peripheral tissues and back into blood.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Infectisivir is distributed to the liver through blood flow and is metabolised by enzymes into GS-44992.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GS-44992 will is distributed back to systemic blood from the liver and into (and back from) peripheral tissues.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GS-44992 is eliminated from the kidneys into urine through passive filtration.</a:t>
                      </a:r>
                    </a:p>
                    <a:p>
                      <a:r>
                        <a:rPr lang="en-SE" sz="1600" b="1" dirty="0"/>
                        <a:t>Mechanism of action: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Inside SARS-CoV2 infected cells, GS-44992 binds to RNA-dependent RNA polymerase RDRP - a SARS-CoV-2 protein that produces more SARS-CoV-2 viral RNA (encoded in SARS-CoV2 and produced by the rhibosomes in human cells). </a:t>
                      </a:r>
                      <a:br>
                        <a:rPr lang="en-SE" sz="1600" dirty="0"/>
                      </a:br>
                      <a:r>
                        <a:rPr lang="en-SE" sz="1600" dirty="0"/>
                        <a:t>GS-44992 interferes with RDRP RNA production by acting as a adenine analogue, this eventually stops the production of viral RNA through RDRP.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As a counteracting effect, the viral protein exoribonuclease detects and fixes errors in viral RNA.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600" dirty="0"/>
                        <a:t>Infectisivir then reduces viral RNA and improves lung function.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9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294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685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88604-11C4-5714-2AF3-0CA6EFC2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16" y="1"/>
            <a:ext cx="6117021" cy="1471447"/>
          </a:xfrm>
        </p:spPr>
        <p:txBody>
          <a:bodyPr>
            <a:normAutofit/>
          </a:bodyPr>
          <a:lstStyle/>
          <a:p>
            <a:r>
              <a:rPr lang="en-SE" sz="2400" b="1" dirty="0"/>
              <a:t>Model B(ii) – The “Modern Phaser” Vaccine</a:t>
            </a:r>
          </a:p>
        </p:txBody>
      </p:sp>
      <p:pic>
        <p:nvPicPr>
          <p:cNvPr id="3074" name="Picture 2" descr="Bandai Original Series Star Trek Phaser | 10'' Star Trek Model Phaser With  Realistic Sounds And Display Stand | Star Trek Original Series Phaser Gun  Replica | Great Collectable Toys Or Star">
            <a:extLst>
              <a:ext uri="{FF2B5EF4-FFF2-40B4-BE49-F238E27FC236}">
                <a16:creationId xmlns:a16="http://schemas.microsoft.com/office/drawing/2014/main" id="{84EF41E2-7B0A-8D19-616C-A981D6FA40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6" r="18755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4D7AF8-0735-EC15-0FF8-908CDFE6A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771692"/>
              </p:ext>
            </p:extLst>
          </p:nvPr>
        </p:nvGraphicFramePr>
        <p:xfrm>
          <a:off x="220716" y="1085368"/>
          <a:ext cx="8128000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36339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Data Table.</a:t>
                      </a:r>
                      <a:r>
                        <a:rPr lang="en-SE" b="0" dirty="0"/>
                        <a:t> Pharmacological mechanism of the Modern Phaser Vaccine.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71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SE" sz="1800" b="1" dirty="0"/>
                        <a:t>About the vaccine</a:t>
                      </a:r>
                      <a:r>
                        <a:rPr lang="en-SE" sz="180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The “Modern Phaser” vaccine contains strands of RNA encoding for a SARS-CoV2 antigen, encased in lipid nanoparticles (LNP) to avoid elimination by the human immunesystem.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SE" sz="1800" b="1" dirty="0"/>
                        <a:t>Vaccine disposition</a:t>
                      </a:r>
                      <a:r>
                        <a:rPr lang="en-SE" sz="180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The vaccine is administered by intramuscular injection.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LNPs are distributed into the central blood flow, and from central blood flow.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LNPs are distributed from central blood into peripheral tissues, and back again.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LNPs can distribute into cells across the cellular membrane.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LNPs degrade over time in the body.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SE" sz="1800" b="1" dirty="0"/>
                        <a:t>Mechanism of action</a:t>
                      </a:r>
                      <a:r>
                        <a:rPr lang="en-SE" sz="180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LNPs release mRNA for producing spike proteins of SARS-CoV-2 (antigen), making use of the cellular functions for protein production.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mRNA is degraded in the cytoplasm.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Spike proteins are present on cell membrane.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The spike proteins trigger an immune response.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The innate immune system attempts to eliminate infected cells.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E" sz="1800" dirty="0"/>
                        <a:t>Over a longer duration of time, the adaptive immune systems builds up memory cells (antibodies) for recognising and eliminating SARS-CoV-2.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939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4017-EE28-4219-CE7C-C44CAF22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67" y="1"/>
            <a:ext cx="10907233" cy="1177158"/>
          </a:xfrm>
        </p:spPr>
        <p:txBody>
          <a:bodyPr>
            <a:normAutofit/>
          </a:bodyPr>
          <a:lstStyle/>
          <a:p>
            <a:r>
              <a:rPr lang="en-SE" sz="3200" b="1" dirty="0"/>
              <a:t>Model A&amp;B: The combined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96EBF-E7F4-FC22-4D84-4ED35A242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05" y="1177159"/>
            <a:ext cx="11493795" cy="4999804"/>
          </a:xfrm>
        </p:spPr>
        <p:txBody>
          <a:bodyPr/>
          <a:lstStyle/>
          <a:p>
            <a:r>
              <a:rPr lang="en-SE" dirty="0"/>
              <a:t>In the larger group, discuss how these models could be combined and where the links would be in the respective models.</a:t>
            </a:r>
          </a:p>
          <a:p>
            <a:r>
              <a:rPr lang="en-SE" dirty="0"/>
              <a:t>What is the added value of a combined model?</a:t>
            </a:r>
          </a:p>
          <a:p>
            <a:r>
              <a:rPr lang="en-SE" dirty="0"/>
              <a:t>What are the disadvantages?</a:t>
            </a:r>
          </a:p>
          <a:p>
            <a:r>
              <a:rPr lang="en-SE" dirty="0"/>
              <a:t>And finally, what is the added value of a systems modeller (</a:t>
            </a:r>
            <a:r>
              <a:rPr lang="en-SE" i="1" dirty="0"/>
              <a:t>e.g.</a:t>
            </a:r>
            <a:r>
              <a:rPr lang="en-SE" dirty="0"/>
              <a:t>, medical engineer) in pharmaceutical development?</a:t>
            </a:r>
          </a:p>
        </p:txBody>
      </p:sp>
    </p:spTree>
    <p:extLst>
      <p:ext uri="{BB962C8B-B14F-4D97-AF65-F5344CB8AC3E}">
        <p14:creationId xmlns:p14="http://schemas.microsoft.com/office/powerpoint/2010/main" val="2890616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13653</TotalTime>
  <Words>1091</Words>
  <Application>Microsoft Office PowerPoint</Application>
  <PresentationFormat>Widescreen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System dynamics workshop: the vaccine</vt:lpstr>
      <vt:lpstr>Quantitative Systems Pharmacology – System dynamic modelling</vt:lpstr>
      <vt:lpstr>Modelling in drug and vaccine research &amp; development</vt:lpstr>
      <vt:lpstr>The workshop</vt:lpstr>
      <vt:lpstr>Some basic nomenclature of causal loop diagrams and stock-and-flows models</vt:lpstr>
      <vt:lpstr>PowerPoint Presentation</vt:lpstr>
      <vt:lpstr>PowerPoint Presentation</vt:lpstr>
      <vt:lpstr>PowerPoint Presentation</vt:lpstr>
      <vt:lpstr>Model A: disease model</vt:lpstr>
      <vt:lpstr>Model A: Disease mechanism - immuno-response model</vt:lpstr>
      <vt:lpstr>Model B: pharmacological model</vt:lpstr>
      <vt:lpstr>Model B(i): pharmacological model - infectisivir</vt:lpstr>
      <vt:lpstr>Model B(ii) – The “Modern Phaser” Vaccine</vt:lpstr>
      <vt:lpstr>Model A&amp;B: The combined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dynamics: the vaccine</dc:title>
  <dc:creator>Adam Darwich</dc:creator>
  <cp:lastModifiedBy>Sahand Khodabandehloo</cp:lastModifiedBy>
  <cp:revision>22</cp:revision>
  <dcterms:created xsi:type="dcterms:W3CDTF">2023-03-23T08:41:17Z</dcterms:created>
  <dcterms:modified xsi:type="dcterms:W3CDTF">2025-03-26T10:46:31Z</dcterms:modified>
</cp:coreProperties>
</file>