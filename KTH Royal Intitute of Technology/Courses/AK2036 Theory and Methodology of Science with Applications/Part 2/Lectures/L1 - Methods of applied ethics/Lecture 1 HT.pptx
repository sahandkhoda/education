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7"/>
  </p:notesMasterIdLst>
  <p:handoutMasterIdLst>
    <p:handoutMasterId r:id="rId38"/>
  </p:handoutMasterIdLst>
  <p:sldIdLst>
    <p:sldId id="257" r:id="rId2"/>
    <p:sldId id="258" r:id="rId3"/>
    <p:sldId id="361" r:id="rId4"/>
    <p:sldId id="259" r:id="rId5"/>
    <p:sldId id="364" r:id="rId6"/>
    <p:sldId id="367" r:id="rId7"/>
    <p:sldId id="371" r:id="rId8"/>
    <p:sldId id="312" r:id="rId9"/>
    <p:sldId id="362" r:id="rId10"/>
    <p:sldId id="316" r:id="rId11"/>
    <p:sldId id="315" r:id="rId12"/>
    <p:sldId id="360" r:id="rId13"/>
    <p:sldId id="318" r:id="rId14"/>
    <p:sldId id="323" r:id="rId15"/>
    <p:sldId id="322" r:id="rId16"/>
    <p:sldId id="378" r:id="rId17"/>
    <p:sldId id="373" r:id="rId18"/>
    <p:sldId id="327" r:id="rId19"/>
    <p:sldId id="328" r:id="rId20"/>
    <p:sldId id="329" r:id="rId21"/>
    <p:sldId id="324" r:id="rId22"/>
    <p:sldId id="346" r:id="rId23"/>
    <p:sldId id="374" r:id="rId24"/>
    <p:sldId id="331" r:id="rId25"/>
    <p:sldId id="332" r:id="rId26"/>
    <p:sldId id="333" r:id="rId27"/>
    <p:sldId id="334" r:id="rId28"/>
    <p:sldId id="377" r:id="rId29"/>
    <p:sldId id="335" r:id="rId30"/>
    <p:sldId id="352" r:id="rId31"/>
    <p:sldId id="336" r:id="rId32"/>
    <p:sldId id="337" r:id="rId33"/>
    <p:sldId id="347" r:id="rId34"/>
    <p:sldId id="380" r:id="rId35"/>
    <p:sldId id="379" r:id="rId36"/>
  </p:sldIdLst>
  <p:sldSz cx="9144000" cy="6858000" type="screen4x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Inget format, inget rutnät">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Inget format, tabellrutnät">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461"/>
    <p:restoredTop sz="95768"/>
  </p:normalViewPr>
  <p:slideViewPr>
    <p:cSldViewPr snapToGrid="0" snapToObjects="1">
      <p:cViewPr varScale="1">
        <p:scale>
          <a:sx n="163" d="100"/>
          <a:sy n="163" d="100"/>
        </p:scale>
        <p:origin x="2358" y="150"/>
      </p:cViewPr>
      <p:guideLst/>
    </p:cSldViewPr>
  </p:slideViewPr>
  <p:outlineViewPr>
    <p:cViewPr>
      <p:scale>
        <a:sx n="33" d="100"/>
        <a:sy n="33" d="100"/>
      </p:scale>
      <p:origin x="0" y="-38656"/>
    </p:cViewPr>
  </p:outlineViewPr>
  <p:notesTextViewPr>
    <p:cViewPr>
      <p:scale>
        <a:sx n="60" d="100"/>
        <a:sy n="60" d="100"/>
      </p:scale>
      <p:origin x="0" y="0"/>
    </p:cViewPr>
  </p:notesTextViewPr>
  <p:sorterViewPr>
    <p:cViewPr>
      <p:scale>
        <a:sx n="80" d="100"/>
        <a:sy n="80" d="100"/>
      </p:scale>
      <p:origin x="0" y="0"/>
    </p:cViewPr>
  </p:sorterViewPr>
  <p:notesViewPr>
    <p:cSldViewPr snapToGrid="0" snapToObjects="1">
      <p:cViewPr varScale="1">
        <p:scale>
          <a:sx n="138" d="100"/>
          <a:sy n="138" d="100"/>
        </p:scale>
        <p:origin x="4712"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BEB1EBAE-5F26-4AC9-B4BD-9FA48D105E73}" type="datetimeFigureOut">
              <a:rPr lang="en-GB" smtClean="0"/>
              <a:t>02/12/2024</a:t>
            </a:fld>
            <a:endParaRPr lang="en-GB"/>
          </a:p>
        </p:txBody>
      </p:sp>
      <p:sp>
        <p:nvSpPr>
          <p:cNvPr id="4" name="Footer Placehold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C584FFA6-B3D4-4D85-A199-F293EC6EE7B6}" type="slidenum">
              <a:rPr lang="en-GB" smtClean="0"/>
              <a:t>‹#›</a:t>
            </a:fld>
            <a:endParaRPr lang="en-GB"/>
          </a:p>
        </p:txBody>
      </p:sp>
    </p:spTree>
    <p:extLst>
      <p:ext uri="{BB962C8B-B14F-4D97-AF65-F5344CB8AC3E}">
        <p14:creationId xmlns:p14="http://schemas.microsoft.com/office/powerpoint/2010/main" val="6956018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Platshållare för datum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7C8E12F3-82DE-5E4D-98E0-BD3ABF72F745}" type="datetimeFigureOut">
              <a:rPr lang="en-US" smtClean="0"/>
              <a:t>12/2/2024</a:t>
            </a:fld>
            <a:endParaRPr lang="en-US"/>
          </a:p>
        </p:txBody>
      </p:sp>
      <p:sp>
        <p:nvSpPr>
          <p:cNvPr id="4" name="Platshållare för bildobjekt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Platshållare för anteckninga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r>
              <a:rPr lang="sv-SE"/>
              <a:t>Redigera format för bakgrundstext
Nivå två
Nivå tre
Nivå fyra
Nivå fem</a:t>
            </a:r>
            <a:endParaRPr lang="en-US"/>
          </a:p>
        </p:txBody>
      </p:sp>
      <p:sp>
        <p:nvSpPr>
          <p:cNvPr id="6" name="Platshållare för sidfot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Platshållare för bildnumm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68978F02-2605-254B-90AF-76F3BE66C98B}" type="slidenum">
              <a:rPr lang="en-US" smtClean="0"/>
              <a:t>‹#›</a:t>
            </a:fld>
            <a:endParaRPr lang="en-US"/>
          </a:p>
        </p:txBody>
      </p:sp>
    </p:spTree>
    <p:extLst>
      <p:ext uri="{BB962C8B-B14F-4D97-AF65-F5344CB8AC3E}">
        <p14:creationId xmlns:p14="http://schemas.microsoft.com/office/powerpoint/2010/main" val="3566241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8978F02-2605-254B-90AF-76F3BE66C98B}" type="slidenum">
              <a:rPr lang="en-US" smtClean="0"/>
              <a:t>2</a:t>
            </a:fld>
            <a:endParaRPr lang="en-US"/>
          </a:p>
        </p:txBody>
      </p:sp>
    </p:spTree>
    <p:extLst>
      <p:ext uri="{BB962C8B-B14F-4D97-AF65-F5344CB8AC3E}">
        <p14:creationId xmlns:p14="http://schemas.microsoft.com/office/powerpoint/2010/main" val="897585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dirty="0"/>
          </a:p>
        </p:txBody>
      </p:sp>
      <p:sp>
        <p:nvSpPr>
          <p:cNvPr id="4" name="Platshållare för bildnummer 3"/>
          <p:cNvSpPr>
            <a:spLocks noGrp="1"/>
          </p:cNvSpPr>
          <p:nvPr>
            <p:ph type="sldNum" sz="quarter" idx="5"/>
          </p:nvPr>
        </p:nvSpPr>
        <p:spPr/>
        <p:txBody>
          <a:bodyPr/>
          <a:lstStyle/>
          <a:p>
            <a:fld id="{68978F02-2605-254B-90AF-76F3BE66C98B}" type="slidenum">
              <a:rPr lang="en-US" smtClean="0"/>
              <a:t>3</a:t>
            </a:fld>
            <a:endParaRPr lang="en-US"/>
          </a:p>
        </p:txBody>
      </p:sp>
    </p:spTree>
    <p:extLst>
      <p:ext uri="{BB962C8B-B14F-4D97-AF65-F5344CB8AC3E}">
        <p14:creationId xmlns:p14="http://schemas.microsoft.com/office/powerpoint/2010/main" val="3924285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indent="0" algn="l">
              <a:lnSpc>
                <a:spcPct val="250000"/>
              </a:lnSpc>
              <a:buNone/>
            </a:pPr>
            <a:r>
              <a:rPr lang="en" dirty="0"/>
              <a:t>”Quite heavy workload/ECTS-ratio, but the knowledge you gain is worth it.”</a:t>
            </a:r>
          </a:p>
          <a:p>
            <a:pPr marL="0" indent="0" algn="l">
              <a:lnSpc>
                <a:spcPct val="250000"/>
              </a:lnSpc>
              <a:buNone/>
            </a:pPr>
            <a:r>
              <a:rPr lang="en" dirty="0"/>
              <a:t>”The course can only teach you as much as you are willing to learn.”</a:t>
            </a:r>
          </a:p>
          <a:p>
            <a:pPr marL="0" indent="0" algn="l">
              <a:lnSpc>
                <a:spcPct val="250000"/>
              </a:lnSpc>
              <a:buNone/>
            </a:pPr>
            <a:r>
              <a:rPr lang="en" dirty="0"/>
              <a:t>”I found the material very easy to absorb by just following the module as it was structured.”</a:t>
            </a:r>
          </a:p>
          <a:p>
            <a:pPr marL="0" indent="0" algn="l">
              <a:lnSpc>
                <a:spcPct val="250000"/>
              </a:lnSpc>
              <a:buNone/>
            </a:pPr>
            <a:r>
              <a:rPr lang="en" dirty="0"/>
              <a:t>”It is more fun when you participate in the discussions!”</a:t>
            </a:r>
          </a:p>
          <a:p>
            <a:pPr marL="0" indent="0" algn="l">
              <a:lnSpc>
                <a:spcPct val="250000"/>
              </a:lnSpc>
              <a:buNone/>
            </a:pPr>
            <a:r>
              <a:rPr lang="en" dirty="0"/>
              <a:t>”Attend it/do not miss”</a:t>
            </a:r>
            <a:endParaRPr lang="en-US" dirty="0"/>
          </a:p>
        </p:txBody>
      </p:sp>
      <p:sp>
        <p:nvSpPr>
          <p:cNvPr id="4" name="Platshållare för bildnummer 3"/>
          <p:cNvSpPr>
            <a:spLocks noGrp="1"/>
          </p:cNvSpPr>
          <p:nvPr>
            <p:ph type="sldNum" sz="quarter" idx="5"/>
          </p:nvPr>
        </p:nvSpPr>
        <p:spPr/>
        <p:txBody>
          <a:bodyPr/>
          <a:lstStyle/>
          <a:p>
            <a:fld id="{68978F02-2605-254B-90AF-76F3BE66C98B}" type="slidenum">
              <a:rPr lang="en-US" smtClean="0"/>
              <a:t>4</a:t>
            </a:fld>
            <a:endParaRPr lang="en-US"/>
          </a:p>
        </p:txBody>
      </p:sp>
    </p:spTree>
    <p:extLst>
      <p:ext uri="{BB962C8B-B14F-4D97-AF65-F5344CB8AC3E}">
        <p14:creationId xmlns:p14="http://schemas.microsoft.com/office/powerpoint/2010/main" val="3106533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dirty="0"/>
          </a:p>
        </p:txBody>
      </p:sp>
      <p:sp>
        <p:nvSpPr>
          <p:cNvPr id="4" name="Platshållare för bildnummer 3"/>
          <p:cNvSpPr>
            <a:spLocks noGrp="1"/>
          </p:cNvSpPr>
          <p:nvPr>
            <p:ph type="sldNum" sz="quarter" idx="5"/>
          </p:nvPr>
        </p:nvSpPr>
        <p:spPr/>
        <p:txBody>
          <a:bodyPr/>
          <a:lstStyle/>
          <a:p>
            <a:fld id="{68978F02-2605-254B-90AF-76F3BE66C98B}" type="slidenum">
              <a:rPr lang="en-US" smtClean="0"/>
              <a:t>8</a:t>
            </a:fld>
            <a:endParaRPr lang="en-US"/>
          </a:p>
        </p:txBody>
      </p:sp>
    </p:spTree>
    <p:extLst>
      <p:ext uri="{BB962C8B-B14F-4D97-AF65-F5344CB8AC3E}">
        <p14:creationId xmlns:p14="http://schemas.microsoft.com/office/powerpoint/2010/main" val="328035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dirty="0"/>
          </a:p>
        </p:txBody>
      </p:sp>
      <p:sp>
        <p:nvSpPr>
          <p:cNvPr id="4" name="Platshållare för bildnummer 3"/>
          <p:cNvSpPr>
            <a:spLocks noGrp="1"/>
          </p:cNvSpPr>
          <p:nvPr>
            <p:ph type="sldNum" sz="quarter" idx="5"/>
          </p:nvPr>
        </p:nvSpPr>
        <p:spPr/>
        <p:txBody>
          <a:bodyPr/>
          <a:lstStyle/>
          <a:p>
            <a:fld id="{68978F02-2605-254B-90AF-76F3BE66C98B}" type="slidenum">
              <a:rPr lang="en-US" smtClean="0"/>
              <a:t>10</a:t>
            </a:fld>
            <a:endParaRPr lang="en-US"/>
          </a:p>
        </p:txBody>
      </p:sp>
    </p:spTree>
    <p:extLst>
      <p:ext uri="{BB962C8B-B14F-4D97-AF65-F5344CB8AC3E}">
        <p14:creationId xmlns:p14="http://schemas.microsoft.com/office/powerpoint/2010/main" val="2575058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“Are there any problems with any of these claims?”</a:t>
            </a:r>
          </a:p>
        </p:txBody>
      </p:sp>
      <p:sp>
        <p:nvSpPr>
          <p:cNvPr id="4" name="Platshållare för bildnummer 3"/>
          <p:cNvSpPr>
            <a:spLocks noGrp="1"/>
          </p:cNvSpPr>
          <p:nvPr>
            <p:ph type="sldNum" sz="quarter" idx="5"/>
          </p:nvPr>
        </p:nvSpPr>
        <p:spPr/>
        <p:txBody>
          <a:bodyPr/>
          <a:lstStyle/>
          <a:p>
            <a:fld id="{68978F02-2605-254B-90AF-76F3BE66C98B}" type="slidenum">
              <a:rPr lang="en-US" smtClean="0"/>
              <a:t>11</a:t>
            </a:fld>
            <a:endParaRPr lang="en-US"/>
          </a:p>
        </p:txBody>
      </p:sp>
    </p:spTree>
    <p:extLst>
      <p:ext uri="{BB962C8B-B14F-4D97-AF65-F5344CB8AC3E}">
        <p14:creationId xmlns:p14="http://schemas.microsoft.com/office/powerpoint/2010/main" val="676468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“Are there any problems with any of these claims?”</a:t>
            </a:r>
          </a:p>
        </p:txBody>
      </p:sp>
      <p:sp>
        <p:nvSpPr>
          <p:cNvPr id="4" name="Platshållare för bildnummer 3"/>
          <p:cNvSpPr>
            <a:spLocks noGrp="1"/>
          </p:cNvSpPr>
          <p:nvPr>
            <p:ph type="sldNum" sz="quarter" idx="5"/>
          </p:nvPr>
        </p:nvSpPr>
        <p:spPr/>
        <p:txBody>
          <a:bodyPr/>
          <a:lstStyle/>
          <a:p>
            <a:fld id="{68978F02-2605-254B-90AF-76F3BE66C98B}" type="slidenum">
              <a:rPr lang="en-US" smtClean="0"/>
              <a:t>12</a:t>
            </a:fld>
            <a:endParaRPr lang="en-US"/>
          </a:p>
        </p:txBody>
      </p:sp>
    </p:spTree>
    <p:extLst>
      <p:ext uri="{BB962C8B-B14F-4D97-AF65-F5344CB8AC3E}">
        <p14:creationId xmlns:p14="http://schemas.microsoft.com/office/powerpoint/2010/main" val="37123824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lvl="0"/>
            <a:endParaRPr lang="en-US" dirty="0"/>
          </a:p>
        </p:txBody>
      </p:sp>
      <p:sp>
        <p:nvSpPr>
          <p:cNvPr id="4" name="Platshållare för bildnummer 3"/>
          <p:cNvSpPr>
            <a:spLocks noGrp="1"/>
          </p:cNvSpPr>
          <p:nvPr>
            <p:ph type="sldNum" sz="quarter" idx="5"/>
          </p:nvPr>
        </p:nvSpPr>
        <p:spPr/>
        <p:txBody>
          <a:bodyPr/>
          <a:lstStyle/>
          <a:p>
            <a:fld id="{68978F02-2605-254B-90AF-76F3BE66C98B}" type="slidenum">
              <a:rPr lang="en-US" smtClean="0"/>
              <a:t>13</a:t>
            </a:fld>
            <a:endParaRPr lang="en-US"/>
          </a:p>
        </p:txBody>
      </p:sp>
    </p:spTree>
    <p:extLst>
      <p:ext uri="{BB962C8B-B14F-4D97-AF65-F5344CB8AC3E}">
        <p14:creationId xmlns:p14="http://schemas.microsoft.com/office/powerpoint/2010/main" val="15376745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8978F02-2605-254B-90AF-76F3BE66C98B}" type="slidenum">
              <a:rPr lang="en-US" smtClean="0"/>
              <a:t>14</a:t>
            </a:fld>
            <a:endParaRPr lang="en-US"/>
          </a:p>
        </p:txBody>
      </p:sp>
    </p:spTree>
    <p:extLst>
      <p:ext uri="{BB962C8B-B14F-4D97-AF65-F5344CB8AC3E}">
        <p14:creationId xmlns:p14="http://schemas.microsoft.com/office/powerpoint/2010/main" val="1937871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indent="0">
              <a:buNone/>
            </a:pPr>
            <a:r>
              <a:rPr lang="en-US" dirty="0"/>
              <a:t>“This module provides a conceptual apparatus that you can use for normative analysis.”</a:t>
            </a:r>
          </a:p>
          <a:p>
            <a:pPr marL="0" indent="0">
              <a:buNone/>
            </a:pPr>
            <a:endParaRPr lang="en-US" dirty="0"/>
          </a:p>
          <a:p>
            <a:pPr marL="228600" indent="-228600">
              <a:buAutoNum type="arabicPeriod"/>
            </a:pPr>
            <a:r>
              <a:rPr lang="en-US" dirty="0"/>
              <a:t>Autonomy and well-being</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Privacy and well-being</a:t>
            </a:r>
          </a:p>
          <a:p>
            <a:pPr marL="228600" indent="-228600">
              <a:buAutoNum type="arabicPeriod"/>
            </a:pPr>
            <a:r>
              <a:rPr lang="en-US" dirty="0"/>
              <a:t>Authenticity and well-being</a:t>
            </a:r>
          </a:p>
          <a:p>
            <a:pPr marL="0" indent="0">
              <a:buNone/>
            </a:pPr>
            <a:endParaRPr lang="en-US" dirty="0"/>
          </a:p>
          <a:p>
            <a:pPr marL="0" indent="0">
              <a:buNone/>
            </a:pPr>
            <a:r>
              <a:rPr lang="en-US" b="1" dirty="0"/>
              <a:t>“Identifying the values and value-conflicts is the first step in moral analysis.”</a:t>
            </a:r>
          </a:p>
          <a:p>
            <a:pPr marL="0" indent="0">
              <a:buNone/>
            </a:pPr>
            <a:endParaRPr lang="en-US" b="1" dirty="0"/>
          </a:p>
          <a:p>
            <a:pPr marL="0" indent="0">
              <a:buNone/>
            </a:pPr>
            <a:r>
              <a:rPr lang="en-US" b="1" dirty="0"/>
              <a:t>Three approaches: top-down, bottom-up, and mid-level</a:t>
            </a:r>
          </a:p>
        </p:txBody>
      </p:sp>
      <p:sp>
        <p:nvSpPr>
          <p:cNvPr id="4" name="Platshållare för bildnummer 3"/>
          <p:cNvSpPr>
            <a:spLocks noGrp="1"/>
          </p:cNvSpPr>
          <p:nvPr>
            <p:ph type="sldNum" sz="quarter" idx="5"/>
          </p:nvPr>
        </p:nvSpPr>
        <p:spPr/>
        <p:txBody>
          <a:bodyPr/>
          <a:lstStyle/>
          <a:p>
            <a:fld id="{68978F02-2605-254B-90AF-76F3BE66C98B}" type="slidenum">
              <a:rPr lang="en-US" smtClean="0"/>
              <a:t>15</a:t>
            </a:fld>
            <a:endParaRPr lang="en-US"/>
          </a:p>
        </p:txBody>
      </p:sp>
    </p:spTree>
    <p:extLst>
      <p:ext uri="{BB962C8B-B14F-4D97-AF65-F5344CB8AC3E}">
        <p14:creationId xmlns:p14="http://schemas.microsoft.com/office/powerpoint/2010/main" val="3584356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dirty="0"/>
          </a:p>
        </p:txBody>
      </p:sp>
      <p:sp>
        <p:nvSpPr>
          <p:cNvPr id="4" name="Platshållare för bildnummer 3"/>
          <p:cNvSpPr>
            <a:spLocks noGrp="1"/>
          </p:cNvSpPr>
          <p:nvPr>
            <p:ph type="sldNum" sz="quarter" idx="5"/>
          </p:nvPr>
        </p:nvSpPr>
        <p:spPr/>
        <p:txBody>
          <a:bodyPr/>
          <a:lstStyle/>
          <a:p>
            <a:fld id="{68978F02-2605-254B-90AF-76F3BE66C98B}" type="slidenum">
              <a:rPr lang="en-US" smtClean="0"/>
              <a:t>17</a:t>
            </a:fld>
            <a:endParaRPr lang="en-US"/>
          </a:p>
        </p:txBody>
      </p:sp>
    </p:spTree>
    <p:extLst>
      <p:ext uri="{BB962C8B-B14F-4D97-AF65-F5344CB8AC3E}">
        <p14:creationId xmlns:p14="http://schemas.microsoft.com/office/powerpoint/2010/main" val="37208608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“Coherent with all relevant reasons? This brings us to coherentism and foundationalism.”</a:t>
            </a:r>
          </a:p>
        </p:txBody>
      </p:sp>
      <p:sp>
        <p:nvSpPr>
          <p:cNvPr id="4" name="Platshållare för bildnummer 3"/>
          <p:cNvSpPr>
            <a:spLocks noGrp="1"/>
          </p:cNvSpPr>
          <p:nvPr>
            <p:ph type="sldNum" sz="quarter" idx="5"/>
          </p:nvPr>
        </p:nvSpPr>
        <p:spPr/>
        <p:txBody>
          <a:bodyPr/>
          <a:lstStyle/>
          <a:p>
            <a:fld id="{68978F02-2605-254B-90AF-76F3BE66C98B}" type="slidenum">
              <a:rPr lang="en-US" smtClean="0"/>
              <a:t>21</a:t>
            </a:fld>
            <a:endParaRPr lang="en-US"/>
          </a:p>
        </p:txBody>
      </p:sp>
    </p:spTree>
    <p:extLst>
      <p:ext uri="{BB962C8B-B14F-4D97-AF65-F5344CB8AC3E}">
        <p14:creationId xmlns:p14="http://schemas.microsoft.com/office/powerpoint/2010/main" val="18121047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Each individual proposition is justified to the extent that they are coherent with all other (relevant) propositions</a:t>
            </a:r>
          </a:p>
          <a:p>
            <a:r>
              <a:rPr lang="en-US" dirty="0"/>
              <a:t>Most propositions here are general. Now, we try to formulate a prescriptive claim in the particular case of Smith</a:t>
            </a:r>
          </a:p>
          <a:p>
            <a:r>
              <a:rPr lang="en-US" b="1" dirty="0"/>
              <a:t>Justice:</a:t>
            </a:r>
            <a:r>
              <a:rPr lang="en-US" dirty="0"/>
              <a:t> The exoskeleton should not be too expensive</a:t>
            </a:r>
          </a:p>
        </p:txBody>
      </p:sp>
      <p:sp>
        <p:nvSpPr>
          <p:cNvPr id="4" name="Platshållare för bildnummer 3"/>
          <p:cNvSpPr>
            <a:spLocks noGrp="1"/>
          </p:cNvSpPr>
          <p:nvPr>
            <p:ph type="sldNum" sz="quarter" idx="5"/>
          </p:nvPr>
        </p:nvSpPr>
        <p:spPr/>
        <p:txBody>
          <a:bodyPr/>
          <a:lstStyle/>
          <a:p>
            <a:fld id="{90448B85-114A-5B47-9C60-FA352B176227}" type="slidenum">
              <a:rPr lang="en-US" smtClean="0"/>
              <a:t>22</a:t>
            </a:fld>
            <a:endParaRPr lang="en-US"/>
          </a:p>
        </p:txBody>
      </p:sp>
    </p:spTree>
    <p:extLst>
      <p:ext uri="{BB962C8B-B14F-4D97-AF65-F5344CB8AC3E}">
        <p14:creationId xmlns:p14="http://schemas.microsoft.com/office/powerpoint/2010/main" val="2174161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8978F02-2605-254B-90AF-76F3BE66C98B}" type="slidenum">
              <a:rPr lang="en-US" smtClean="0"/>
              <a:t>23</a:t>
            </a:fld>
            <a:endParaRPr lang="en-US"/>
          </a:p>
        </p:txBody>
      </p:sp>
    </p:spTree>
    <p:extLst>
      <p:ext uri="{BB962C8B-B14F-4D97-AF65-F5344CB8AC3E}">
        <p14:creationId xmlns:p14="http://schemas.microsoft.com/office/powerpoint/2010/main" val="21989979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8978F02-2605-254B-90AF-76F3BE66C98B}" type="slidenum">
              <a:rPr lang="en-US" smtClean="0"/>
              <a:t>27</a:t>
            </a:fld>
            <a:endParaRPr lang="en-US"/>
          </a:p>
        </p:txBody>
      </p:sp>
    </p:spTree>
    <p:extLst>
      <p:ext uri="{BB962C8B-B14F-4D97-AF65-F5344CB8AC3E}">
        <p14:creationId xmlns:p14="http://schemas.microsoft.com/office/powerpoint/2010/main" val="2261339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8978F02-2605-254B-90AF-76F3BE66C98B}" type="slidenum">
              <a:rPr lang="en-US" smtClean="0"/>
              <a:t>29</a:t>
            </a:fld>
            <a:endParaRPr lang="en-US"/>
          </a:p>
        </p:txBody>
      </p:sp>
    </p:spTree>
    <p:extLst>
      <p:ext uri="{BB962C8B-B14F-4D97-AF65-F5344CB8AC3E}">
        <p14:creationId xmlns:p14="http://schemas.microsoft.com/office/powerpoint/2010/main" val="2889866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8978F02-2605-254B-90AF-76F3BE66C98B}" type="slidenum">
              <a:rPr lang="en-US" smtClean="0"/>
              <a:t>32</a:t>
            </a:fld>
            <a:endParaRPr lang="en-US"/>
          </a:p>
        </p:txBody>
      </p:sp>
    </p:spTree>
    <p:extLst>
      <p:ext uri="{BB962C8B-B14F-4D97-AF65-F5344CB8AC3E}">
        <p14:creationId xmlns:p14="http://schemas.microsoft.com/office/powerpoint/2010/main" val="35767940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Case: Should the PhD student recommend publication or rejection?</a:t>
            </a:r>
          </a:p>
        </p:txBody>
      </p:sp>
      <p:sp>
        <p:nvSpPr>
          <p:cNvPr id="4" name="Platshållare för bildnummer 3"/>
          <p:cNvSpPr>
            <a:spLocks noGrp="1"/>
          </p:cNvSpPr>
          <p:nvPr>
            <p:ph type="sldNum" sz="quarter" idx="5"/>
          </p:nvPr>
        </p:nvSpPr>
        <p:spPr/>
        <p:txBody>
          <a:bodyPr/>
          <a:lstStyle/>
          <a:p>
            <a:fld id="{90448B85-114A-5B47-9C60-FA352B176227}" type="slidenum">
              <a:rPr lang="en-US" smtClean="0"/>
              <a:t>34</a:t>
            </a:fld>
            <a:endParaRPr lang="en-US"/>
          </a:p>
        </p:txBody>
      </p:sp>
    </p:spTree>
    <p:extLst>
      <p:ext uri="{BB962C8B-B14F-4D97-AF65-F5344CB8AC3E}">
        <p14:creationId xmlns:p14="http://schemas.microsoft.com/office/powerpoint/2010/main" val="33424222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Case: Should the PhD student recommend publication or rejection?</a:t>
            </a:r>
          </a:p>
        </p:txBody>
      </p:sp>
      <p:sp>
        <p:nvSpPr>
          <p:cNvPr id="4" name="Platshållare för bildnummer 3"/>
          <p:cNvSpPr>
            <a:spLocks noGrp="1"/>
          </p:cNvSpPr>
          <p:nvPr>
            <p:ph type="sldNum" sz="quarter" idx="5"/>
          </p:nvPr>
        </p:nvSpPr>
        <p:spPr/>
        <p:txBody>
          <a:bodyPr/>
          <a:lstStyle/>
          <a:p>
            <a:fld id="{90448B85-114A-5B47-9C60-FA352B176227}" type="slidenum">
              <a:rPr lang="en-US" smtClean="0"/>
              <a:t>35</a:t>
            </a:fld>
            <a:endParaRPr lang="en-US"/>
          </a:p>
        </p:txBody>
      </p:sp>
    </p:spTree>
    <p:extLst>
      <p:ext uri="{BB962C8B-B14F-4D97-AF65-F5344CB8AC3E}">
        <p14:creationId xmlns:p14="http://schemas.microsoft.com/office/powerpoint/2010/main" val="3028966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CBAC2AB9-2E27-FC42-AC58-283DED2BA131}" type="datetimeFigureOut">
              <a:rPr lang="en-US" smtClean="0"/>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62BC0C-A961-7A49-9449-B67727EB81AD}" type="slidenum">
              <a:rPr lang="en-US" smtClean="0"/>
              <a:t>‹#›</a:t>
            </a:fld>
            <a:endParaRPr lang="en-US"/>
          </a:p>
        </p:txBody>
      </p:sp>
    </p:spTree>
    <p:extLst>
      <p:ext uri="{BB962C8B-B14F-4D97-AF65-F5344CB8AC3E}">
        <p14:creationId xmlns:p14="http://schemas.microsoft.com/office/powerpoint/2010/main" val="101124462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BAC2AB9-2E27-FC42-AC58-283DED2BA131}" type="datetimeFigureOut">
              <a:rPr lang="en-US" smtClean="0"/>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62BC0C-A961-7A49-9449-B67727EB81AD}" type="slidenum">
              <a:rPr lang="en-US" smtClean="0"/>
              <a:t>‹#›</a:t>
            </a:fld>
            <a:endParaRPr lang="en-US"/>
          </a:p>
        </p:txBody>
      </p:sp>
    </p:spTree>
    <p:extLst>
      <p:ext uri="{BB962C8B-B14F-4D97-AF65-F5344CB8AC3E}">
        <p14:creationId xmlns:p14="http://schemas.microsoft.com/office/powerpoint/2010/main" val="3124121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CBAC2AB9-2E27-FC42-AC58-283DED2BA131}" type="datetimeFigureOut">
              <a:rPr lang="en-US" smtClean="0"/>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62BC0C-A961-7A49-9449-B67727EB81AD}" type="slidenum">
              <a:rPr lang="en-US" smtClean="0"/>
              <a:t>‹#›</a:t>
            </a:fld>
            <a:endParaRPr lang="en-US"/>
          </a:p>
        </p:txBody>
      </p:sp>
    </p:spTree>
    <p:extLst>
      <p:ext uri="{BB962C8B-B14F-4D97-AF65-F5344CB8AC3E}">
        <p14:creationId xmlns:p14="http://schemas.microsoft.com/office/powerpoint/2010/main" val="185284785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CBAC2AB9-2E27-FC42-AC58-283DED2BA131}" type="datetimeFigureOut">
              <a:rPr lang="en-US" smtClean="0"/>
              <a:t>12/2/2024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862BC0C-A961-7A49-9449-B67727EB81AD}" type="slidenum">
              <a:rPr lang="en-US" smtClean="0"/>
              <a:t>‹#›</a:t>
            </a:fld>
            <a:endParaRPr lang="en-US"/>
          </a:p>
        </p:txBody>
      </p:sp>
    </p:spTree>
    <p:extLst>
      <p:ext uri="{BB962C8B-B14F-4D97-AF65-F5344CB8AC3E}">
        <p14:creationId xmlns:p14="http://schemas.microsoft.com/office/powerpoint/2010/main" val="807780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CBAC2AB9-2E27-FC42-AC58-283DED2BA131}" type="datetimeFigureOut">
              <a:rPr lang="en-US" smtClean="0"/>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62BC0C-A961-7A49-9449-B67727EB81AD}" type="slidenum">
              <a:rPr lang="en-US" smtClean="0"/>
              <a:t>‹#›</a:t>
            </a:fld>
            <a:endParaRPr lang="en-US"/>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761073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BAC2AB9-2E27-FC42-AC58-283DED2BA131}" type="datetimeFigureOut">
              <a:rPr lang="en-US" smtClean="0"/>
              <a:t>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62BC0C-A961-7A49-9449-B67727EB81AD}" type="slidenum">
              <a:rPr lang="en-US" smtClean="0"/>
              <a:t>‹#›</a:t>
            </a:fld>
            <a:endParaRPr lang="en-US"/>
          </a:p>
        </p:txBody>
      </p:sp>
    </p:spTree>
    <p:extLst>
      <p:ext uri="{BB962C8B-B14F-4D97-AF65-F5344CB8AC3E}">
        <p14:creationId xmlns:p14="http://schemas.microsoft.com/office/powerpoint/2010/main" val="90099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AC2AB9-2E27-FC42-AC58-283DED2BA131}" type="datetimeFigureOut">
              <a:rPr lang="en-US" smtClean="0"/>
              <a:t>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62BC0C-A961-7A49-9449-B67727EB81AD}" type="slidenum">
              <a:rPr lang="en-US" smtClean="0"/>
              <a:t>‹#›</a:t>
            </a:fld>
            <a:endParaRPr lang="en-US"/>
          </a:p>
        </p:txBody>
      </p:sp>
    </p:spTree>
    <p:extLst>
      <p:ext uri="{BB962C8B-B14F-4D97-AF65-F5344CB8AC3E}">
        <p14:creationId xmlns:p14="http://schemas.microsoft.com/office/powerpoint/2010/main" val="328077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CBAC2AB9-2E27-FC42-AC58-283DED2BA131}" type="datetimeFigureOut">
              <a:rPr lang="en-US" smtClean="0"/>
              <a:t>12/2/2024</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2862BC0C-A961-7A49-9449-B67727EB81AD}" type="slidenum">
              <a:rPr lang="en-US" smtClean="0"/>
              <a:t>‹#›</a:t>
            </a:fld>
            <a:endParaRPr lang="en-US"/>
          </a:p>
        </p:txBody>
      </p:sp>
    </p:spTree>
    <p:extLst>
      <p:ext uri="{BB962C8B-B14F-4D97-AF65-F5344CB8AC3E}">
        <p14:creationId xmlns:p14="http://schemas.microsoft.com/office/powerpoint/2010/main" val="1369433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CBAC2AB9-2E27-FC42-AC58-283DED2BA131}" type="datetimeFigureOut">
              <a:rPr lang="en-US" smtClean="0"/>
              <a:t>12/2/2024</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2862BC0C-A961-7A49-9449-B67727EB81AD}" type="slidenum">
              <a:rPr lang="en-US" smtClean="0"/>
              <a:t>‹#›</a:t>
            </a:fld>
            <a:endParaRPr lang="en-US"/>
          </a:p>
        </p:txBody>
      </p:sp>
    </p:spTree>
    <p:extLst>
      <p:ext uri="{BB962C8B-B14F-4D97-AF65-F5344CB8AC3E}">
        <p14:creationId xmlns:p14="http://schemas.microsoft.com/office/powerpoint/2010/main" val="1445420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BAC2AB9-2E27-FC42-AC58-283DED2BA131}"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62BC0C-A961-7A49-9449-B67727EB81AD}" type="slidenum">
              <a:rPr lang="en-US" smtClean="0"/>
              <a:t>‹#›</a:t>
            </a:fld>
            <a:endParaRPr lang="en-US"/>
          </a:p>
        </p:txBody>
      </p:sp>
    </p:spTree>
    <p:extLst>
      <p:ext uri="{BB962C8B-B14F-4D97-AF65-F5344CB8AC3E}">
        <p14:creationId xmlns:p14="http://schemas.microsoft.com/office/powerpoint/2010/main" val="1264395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BAC2AB9-2E27-FC42-AC58-283DED2BA131}"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62BC0C-A961-7A49-9449-B67727EB81AD}" type="slidenum">
              <a:rPr lang="en-US" smtClean="0"/>
              <a:t>‹#›</a:t>
            </a:fld>
            <a:endParaRPr lang="en-US"/>
          </a:p>
        </p:txBody>
      </p:sp>
    </p:spTree>
    <p:extLst>
      <p:ext uri="{BB962C8B-B14F-4D97-AF65-F5344CB8AC3E}">
        <p14:creationId xmlns:p14="http://schemas.microsoft.com/office/powerpoint/2010/main" val="37026955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Rubrikbild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1514474" y="1809869"/>
            <a:ext cx="7000876" cy="1655762"/>
          </a:xfrm>
        </p:spPr>
        <p:txBody>
          <a:bodyPr>
            <a:normAutofit/>
          </a:bodyPr>
          <a:lstStyle>
            <a:lvl1pPr marL="0" indent="0" algn="l">
              <a:lnSpc>
                <a:spcPct val="100000"/>
              </a:lnSpc>
              <a:buNone/>
              <a:defRPr sz="1800">
                <a:latin typeface="+mj-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Jesper Ahlin</a:t>
            </a:r>
          </a:p>
          <a:p>
            <a:r>
              <a:rPr lang="en-US" noProof="0" dirty="0"/>
              <a:t>2018-03-06</a:t>
            </a:r>
          </a:p>
        </p:txBody>
      </p:sp>
      <p:sp>
        <p:nvSpPr>
          <p:cNvPr id="16" name="Rektangel 15"/>
          <p:cNvSpPr/>
          <p:nvPr userDrawn="1"/>
        </p:nvSpPr>
        <p:spPr bwMode="gray">
          <a:xfrm>
            <a:off x="0" y="3613150"/>
            <a:ext cx="9144000" cy="32448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7" name="Freeform 7"/>
          <p:cNvSpPr>
            <a:spLocks/>
          </p:cNvSpPr>
          <p:nvPr userDrawn="1"/>
        </p:nvSpPr>
        <p:spPr bwMode="gray">
          <a:xfrm>
            <a:off x="-3235" y="4049403"/>
            <a:ext cx="9150869" cy="1215998"/>
          </a:xfrm>
          <a:custGeom>
            <a:avLst/>
            <a:gdLst>
              <a:gd name="T0" fmla="*/ 0 w 8479"/>
              <a:gd name="T1" fmla="*/ 356 h 535"/>
              <a:gd name="T2" fmla="*/ 597 w 8479"/>
              <a:gd name="T3" fmla="*/ 356 h 535"/>
              <a:gd name="T4" fmla="*/ 625 w 8479"/>
              <a:gd name="T5" fmla="*/ 328 h 535"/>
              <a:gd name="T6" fmla="*/ 625 w 8479"/>
              <a:gd name="T7" fmla="*/ 28 h 535"/>
              <a:gd name="T8" fmla="*/ 653 w 8479"/>
              <a:gd name="T9" fmla="*/ 0 h 535"/>
              <a:gd name="T10" fmla="*/ 954 w 8479"/>
              <a:gd name="T11" fmla="*/ 0 h 535"/>
              <a:gd name="T12" fmla="*/ 982 w 8479"/>
              <a:gd name="T13" fmla="*/ 28 h 535"/>
              <a:gd name="T14" fmla="*/ 982 w 8479"/>
              <a:gd name="T15" fmla="*/ 507 h 535"/>
              <a:gd name="T16" fmla="*/ 1010 w 8479"/>
              <a:gd name="T17" fmla="*/ 535 h 535"/>
              <a:gd name="T18" fmla="*/ 1545 w 8479"/>
              <a:gd name="T19" fmla="*/ 535 h 535"/>
              <a:gd name="T20" fmla="*/ 1573 w 8479"/>
              <a:gd name="T21" fmla="*/ 507 h 535"/>
              <a:gd name="T22" fmla="*/ 1573 w 8479"/>
              <a:gd name="T23" fmla="*/ 328 h 535"/>
              <a:gd name="T24" fmla="*/ 1601 w 8479"/>
              <a:gd name="T25" fmla="*/ 300 h 535"/>
              <a:gd name="T26" fmla="*/ 2497 w 8479"/>
              <a:gd name="T27" fmla="*/ 300 h 535"/>
              <a:gd name="T28" fmla="*/ 2524 w 8479"/>
              <a:gd name="T29" fmla="*/ 328 h 535"/>
              <a:gd name="T30" fmla="*/ 2524 w 8479"/>
              <a:gd name="T31" fmla="*/ 507 h 535"/>
              <a:gd name="T32" fmla="*/ 2552 w 8479"/>
              <a:gd name="T33" fmla="*/ 535 h 535"/>
              <a:gd name="T34" fmla="*/ 2797 w 8479"/>
              <a:gd name="T35" fmla="*/ 535 h 535"/>
              <a:gd name="T36" fmla="*/ 2825 w 8479"/>
              <a:gd name="T37" fmla="*/ 507 h 535"/>
              <a:gd name="T38" fmla="*/ 2825 w 8479"/>
              <a:gd name="T39" fmla="*/ 384 h 535"/>
              <a:gd name="T40" fmla="*/ 2852 w 8479"/>
              <a:gd name="T41" fmla="*/ 356 h 535"/>
              <a:gd name="T42" fmla="*/ 3153 w 8479"/>
              <a:gd name="T43" fmla="*/ 356 h 535"/>
              <a:gd name="T44" fmla="*/ 3181 w 8479"/>
              <a:gd name="T45" fmla="*/ 384 h 535"/>
              <a:gd name="T46" fmla="*/ 3181 w 8479"/>
              <a:gd name="T47" fmla="*/ 450 h 535"/>
              <a:gd name="T48" fmla="*/ 3209 w 8479"/>
              <a:gd name="T49" fmla="*/ 478 h 535"/>
              <a:gd name="T50" fmla="*/ 5290 w 8479"/>
              <a:gd name="T51" fmla="*/ 478 h 535"/>
              <a:gd name="T52" fmla="*/ 5317 w 8479"/>
              <a:gd name="T53" fmla="*/ 450 h 535"/>
              <a:gd name="T54" fmla="*/ 5317 w 8479"/>
              <a:gd name="T55" fmla="*/ 28 h 535"/>
              <a:gd name="T56" fmla="*/ 5345 w 8479"/>
              <a:gd name="T57" fmla="*/ 0 h 535"/>
              <a:gd name="T58" fmla="*/ 6031 w 8479"/>
              <a:gd name="T59" fmla="*/ 0 h 535"/>
              <a:gd name="T60" fmla="*/ 6059 w 8479"/>
              <a:gd name="T61" fmla="*/ 28 h 535"/>
              <a:gd name="T62" fmla="*/ 6059 w 8479"/>
              <a:gd name="T63" fmla="*/ 383 h 535"/>
              <a:gd name="T64" fmla="*/ 6087 w 8479"/>
              <a:gd name="T65" fmla="*/ 411 h 535"/>
              <a:gd name="T66" fmla="*/ 7130 w 8479"/>
              <a:gd name="T67" fmla="*/ 411 h 535"/>
              <a:gd name="T68" fmla="*/ 7158 w 8479"/>
              <a:gd name="T69" fmla="*/ 383 h 535"/>
              <a:gd name="T70" fmla="*/ 7158 w 8479"/>
              <a:gd name="T71" fmla="*/ 111 h 535"/>
              <a:gd name="T72" fmla="*/ 7186 w 8479"/>
              <a:gd name="T73" fmla="*/ 83 h 535"/>
              <a:gd name="T74" fmla="*/ 8479 w 8479"/>
              <a:gd name="T75" fmla="*/ 83 h 535"/>
              <a:gd name="connsiteX0" fmla="*/ 0 w 9296"/>
              <a:gd name="connsiteY0" fmla="*/ 6654 h 10000"/>
              <a:gd name="connsiteX1" fmla="*/ 33 w 9296"/>
              <a:gd name="connsiteY1" fmla="*/ 6131 h 10000"/>
              <a:gd name="connsiteX2" fmla="*/ 33 w 9296"/>
              <a:gd name="connsiteY2" fmla="*/ 523 h 10000"/>
              <a:gd name="connsiteX3" fmla="*/ 66 w 9296"/>
              <a:gd name="connsiteY3" fmla="*/ 0 h 10000"/>
              <a:gd name="connsiteX4" fmla="*/ 421 w 9296"/>
              <a:gd name="connsiteY4" fmla="*/ 0 h 10000"/>
              <a:gd name="connsiteX5" fmla="*/ 454 w 9296"/>
              <a:gd name="connsiteY5" fmla="*/ 523 h 10000"/>
              <a:gd name="connsiteX6" fmla="*/ 454 w 9296"/>
              <a:gd name="connsiteY6" fmla="*/ 9477 h 10000"/>
              <a:gd name="connsiteX7" fmla="*/ 487 w 9296"/>
              <a:gd name="connsiteY7" fmla="*/ 10000 h 10000"/>
              <a:gd name="connsiteX8" fmla="*/ 1118 w 9296"/>
              <a:gd name="connsiteY8" fmla="*/ 10000 h 10000"/>
              <a:gd name="connsiteX9" fmla="*/ 1151 w 9296"/>
              <a:gd name="connsiteY9" fmla="*/ 9477 h 10000"/>
              <a:gd name="connsiteX10" fmla="*/ 1151 w 9296"/>
              <a:gd name="connsiteY10" fmla="*/ 6131 h 10000"/>
              <a:gd name="connsiteX11" fmla="*/ 1184 w 9296"/>
              <a:gd name="connsiteY11" fmla="*/ 5607 h 10000"/>
              <a:gd name="connsiteX12" fmla="*/ 2241 w 9296"/>
              <a:gd name="connsiteY12" fmla="*/ 5607 h 10000"/>
              <a:gd name="connsiteX13" fmla="*/ 2273 w 9296"/>
              <a:gd name="connsiteY13" fmla="*/ 6131 h 10000"/>
              <a:gd name="connsiteX14" fmla="*/ 2273 w 9296"/>
              <a:gd name="connsiteY14" fmla="*/ 9477 h 10000"/>
              <a:gd name="connsiteX15" fmla="*/ 2306 w 9296"/>
              <a:gd name="connsiteY15" fmla="*/ 10000 h 10000"/>
              <a:gd name="connsiteX16" fmla="*/ 2595 w 9296"/>
              <a:gd name="connsiteY16" fmla="*/ 10000 h 10000"/>
              <a:gd name="connsiteX17" fmla="*/ 2628 w 9296"/>
              <a:gd name="connsiteY17" fmla="*/ 9477 h 10000"/>
              <a:gd name="connsiteX18" fmla="*/ 2628 w 9296"/>
              <a:gd name="connsiteY18" fmla="*/ 7178 h 10000"/>
              <a:gd name="connsiteX19" fmla="*/ 2660 w 9296"/>
              <a:gd name="connsiteY19" fmla="*/ 6654 h 10000"/>
              <a:gd name="connsiteX20" fmla="*/ 3015 w 9296"/>
              <a:gd name="connsiteY20" fmla="*/ 6654 h 10000"/>
              <a:gd name="connsiteX21" fmla="*/ 3048 w 9296"/>
              <a:gd name="connsiteY21" fmla="*/ 7178 h 10000"/>
              <a:gd name="connsiteX22" fmla="*/ 3048 w 9296"/>
              <a:gd name="connsiteY22" fmla="*/ 8411 h 10000"/>
              <a:gd name="connsiteX23" fmla="*/ 3081 w 9296"/>
              <a:gd name="connsiteY23" fmla="*/ 8935 h 10000"/>
              <a:gd name="connsiteX24" fmla="*/ 5535 w 9296"/>
              <a:gd name="connsiteY24" fmla="*/ 8935 h 10000"/>
              <a:gd name="connsiteX25" fmla="*/ 5567 w 9296"/>
              <a:gd name="connsiteY25" fmla="*/ 8411 h 10000"/>
              <a:gd name="connsiteX26" fmla="*/ 5567 w 9296"/>
              <a:gd name="connsiteY26" fmla="*/ 523 h 10000"/>
              <a:gd name="connsiteX27" fmla="*/ 5600 w 9296"/>
              <a:gd name="connsiteY27" fmla="*/ 0 h 10000"/>
              <a:gd name="connsiteX28" fmla="*/ 6409 w 9296"/>
              <a:gd name="connsiteY28" fmla="*/ 0 h 10000"/>
              <a:gd name="connsiteX29" fmla="*/ 6442 w 9296"/>
              <a:gd name="connsiteY29" fmla="*/ 523 h 10000"/>
              <a:gd name="connsiteX30" fmla="*/ 6442 w 9296"/>
              <a:gd name="connsiteY30" fmla="*/ 7159 h 10000"/>
              <a:gd name="connsiteX31" fmla="*/ 6475 w 9296"/>
              <a:gd name="connsiteY31" fmla="*/ 7682 h 10000"/>
              <a:gd name="connsiteX32" fmla="*/ 7705 w 9296"/>
              <a:gd name="connsiteY32" fmla="*/ 7682 h 10000"/>
              <a:gd name="connsiteX33" fmla="*/ 7738 w 9296"/>
              <a:gd name="connsiteY33" fmla="*/ 7159 h 10000"/>
              <a:gd name="connsiteX34" fmla="*/ 7738 w 9296"/>
              <a:gd name="connsiteY34" fmla="*/ 2075 h 10000"/>
              <a:gd name="connsiteX35" fmla="*/ 7771 w 9296"/>
              <a:gd name="connsiteY35" fmla="*/ 1551 h 10000"/>
              <a:gd name="connsiteX36" fmla="*/ 9296 w 9296"/>
              <a:gd name="connsiteY36" fmla="*/ 1551 h 10000"/>
              <a:gd name="connsiteX0" fmla="*/ 0 w 9965"/>
              <a:gd name="connsiteY0" fmla="*/ 6131 h 10000"/>
              <a:gd name="connsiteX1" fmla="*/ 0 w 9965"/>
              <a:gd name="connsiteY1" fmla="*/ 523 h 10000"/>
              <a:gd name="connsiteX2" fmla="*/ 36 w 9965"/>
              <a:gd name="connsiteY2" fmla="*/ 0 h 10000"/>
              <a:gd name="connsiteX3" fmla="*/ 418 w 9965"/>
              <a:gd name="connsiteY3" fmla="*/ 0 h 10000"/>
              <a:gd name="connsiteX4" fmla="*/ 453 w 9965"/>
              <a:gd name="connsiteY4" fmla="*/ 523 h 10000"/>
              <a:gd name="connsiteX5" fmla="*/ 453 w 9965"/>
              <a:gd name="connsiteY5" fmla="*/ 9477 h 10000"/>
              <a:gd name="connsiteX6" fmla="*/ 489 w 9965"/>
              <a:gd name="connsiteY6" fmla="*/ 10000 h 10000"/>
              <a:gd name="connsiteX7" fmla="*/ 1168 w 9965"/>
              <a:gd name="connsiteY7" fmla="*/ 10000 h 10000"/>
              <a:gd name="connsiteX8" fmla="*/ 1203 w 9965"/>
              <a:gd name="connsiteY8" fmla="*/ 9477 h 10000"/>
              <a:gd name="connsiteX9" fmla="*/ 1203 w 9965"/>
              <a:gd name="connsiteY9" fmla="*/ 6131 h 10000"/>
              <a:gd name="connsiteX10" fmla="*/ 1239 w 9965"/>
              <a:gd name="connsiteY10" fmla="*/ 5607 h 10000"/>
              <a:gd name="connsiteX11" fmla="*/ 2376 w 9965"/>
              <a:gd name="connsiteY11" fmla="*/ 5607 h 10000"/>
              <a:gd name="connsiteX12" fmla="*/ 2410 w 9965"/>
              <a:gd name="connsiteY12" fmla="*/ 6131 h 10000"/>
              <a:gd name="connsiteX13" fmla="*/ 2410 w 9965"/>
              <a:gd name="connsiteY13" fmla="*/ 9477 h 10000"/>
              <a:gd name="connsiteX14" fmla="*/ 2446 w 9965"/>
              <a:gd name="connsiteY14" fmla="*/ 10000 h 10000"/>
              <a:gd name="connsiteX15" fmla="*/ 2757 w 9965"/>
              <a:gd name="connsiteY15" fmla="*/ 10000 h 10000"/>
              <a:gd name="connsiteX16" fmla="*/ 2792 w 9965"/>
              <a:gd name="connsiteY16" fmla="*/ 9477 h 10000"/>
              <a:gd name="connsiteX17" fmla="*/ 2792 w 9965"/>
              <a:gd name="connsiteY17" fmla="*/ 7178 h 10000"/>
              <a:gd name="connsiteX18" fmla="*/ 2826 w 9965"/>
              <a:gd name="connsiteY18" fmla="*/ 6654 h 10000"/>
              <a:gd name="connsiteX19" fmla="*/ 3208 w 9965"/>
              <a:gd name="connsiteY19" fmla="*/ 6654 h 10000"/>
              <a:gd name="connsiteX20" fmla="*/ 3244 w 9965"/>
              <a:gd name="connsiteY20" fmla="*/ 7178 h 10000"/>
              <a:gd name="connsiteX21" fmla="*/ 3244 w 9965"/>
              <a:gd name="connsiteY21" fmla="*/ 8411 h 10000"/>
              <a:gd name="connsiteX22" fmla="*/ 3279 w 9965"/>
              <a:gd name="connsiteY22" fmla="*/ 8935 h 10000"/>
              <a:gd name="connsiteX23" fmla="*/ 5919 w 9965"/>
              <a:gd name="connsiteY23" fmla="*/ 8935 h 10000"/>
              <a:gd name="connsiteX24" fmla="*/ 5954 w 9965"/>
              <a:gd name="connsiteY24" fmla="*/ 8411 h 10000"/>
              <a:gd name="connsiteX25" fmla="*/ 5954 w 9965"/>
              <a:gd name="connsiteY25" fmla="*/ 523 h 10000"/>
              <a:gd name="connsiteX26" fmla="*/ 5989 w 9965"/>
              <a:gd name="connsiteY26" fmla="*/ 0 h 10000"/>
              <a:gd name="connsiteX27" fmla="*/ 6859 w 9965"/>
              <a:gd name="connsiteY27" fmla="*/ 0 h 10000"/>
              <a:gd name="connsiteX28" fmla="*/ 6895 w 9965"/>
              <a:gd name="connsiteY28" fmla="*/ 523 h 10000"/>
              <a:gd name="connsiteX29" fmla="*/ 6895 w 9965"/>
              <a:gd name="connsiteY29" fmla="*/ 7159 h 10000"/>
              <a:gd name="connsiteX30" fmla="*/ 6930 w 9965"/>
              <a:gd name="connsiteY30" fmla="*/ 7682 h 10000"/>
              <a:gd name="connsiteX31" fmla="*/ 8254 w 9965"/>
              <a:gd name="connsiteY31" fmla="*/ 7682 h 10000"/>
              <a:gd name="connsiteX32" fmla="*/ 8289 w 9965"/>
              <a:gd name="connsiteY32" fmla="*/ 7159 h 10000"/>
              <a:gd name="connsiteX33" fmla="*/ 8289 w 9965"/>
              <a:gd name="connsiteY33" fmla="*/ 2075 h 10000"/>
              <a:gd name="connsiteX34" fmla="*/ 8325 w 9965"/>
              <a:gd name="connsiteY34" fmla="*/ 1551 h 10000"/>
              <a:gd name="connsiteX35" fmla="*/ 9965 w 9965"/>
              <a:gd name="connsiteY35" fmla="*/ 1551 h 10000"/>
              <a:gd name="connsiteX0" fmla="*/ 0 w 10000"/>
              <a:gd name="connsiteY0" fmla="*/ 523 h 10000"/>
              <a:gd name="connsiteX1" fmla="*/ 36 w 10000"/>
              <a:gd name="connsiteY1" fmla="*/ 0 h 10000"/>
              <a:gd name="connsiteX2" fmla="*/ 419 w 10000"/>
              <a:gd name="connsiteY2" fmla="*/ 0 h 10000"/>
              <a:gd name="connsiteX3" fmla="*/ 455 w 10000"/>
              <a:gd name="connsiteY3" fmla="*/ 523 h 10000"/>
              <a:gd name="connsiteX4" fmla="*/ 455 w 10000"/>
              <a:gd name="connsiteY4" fmla="*/ 9477 h 10000"/>
              <a:gd name="connsiteX5" fmla="*/ 491 w 10000"/>
              <a:gd name="connsiteY5" fmla="*/ 10000 h 10000"/>
              <a:gd name="connsiteX6" fmla="*/ 1172 w 10000"/>
              <a:gd name="connsiteY6" fmla="*/ 10000 h 10000"/>
              <a:gd name="connsiteX7" fmla="*/ 1207 w 10000"/>
              <a:gd name="connsiteY7" fmla="*/ 9477 h 10000"/>
              <a:gd name="connsiteX8" fmla="*/ 1207 w 10000"/>
              <a:gd name="connsiteY8" fmla="*/ 6131 h 10000"/>
              <a:gd name="connsiteX9" fmla="*/ 1243 w 10000"/>
              <a:gd name="connsiteY9" fmla="*/ 5607 h 10000"/>
              <a:gd name="connsiteX10" fmla="*/ 2384 w 10000"/>
              <a:gd name="connsiteY10" fmla="*/ 5607 h 10000"/>
              <a:gd name="connsiteX11" fmla="*/ 2418 w 10000"/>
              <a:gd name="connsiteY11" fmla="*/ 6131 h 10000"/>
              <a:gd name="connsiteX12" fmla="*/ 2418 w 10000"/>
              <a:gd name="connsiteY12" fmla="*/ 9477 h 10000"/>
              <a:gd name="connsiteX13" fmla="*/ 2455 w 10000"/>
              <a:gd name="connsiteY13" fmla="*/ 10000 h 10000"/>
              <a:gd name="connsiteX14" fmla="*/ 2767 w 10000"/>
              <a:gd name="connsiteY14" fmla="*/ 10000 h 10000"/>
              <a:gd name="connsiteX15" fmla="*/ 2802 w 10000"/>
              <a:gd name="connsiteY15" fmla="*/ 9477 h 10000"/>
              <a:gd name="connsiteX16" fmla="*/ 2802 w 10000"/>
              <a:gd name="connsiteY16" fmla="*/ 7178 h 10000"/>
              <a:gd name="connsiteX17" fmla="*/ 2836 w 10000"/>
              <a:gd name="connsiteY17" fmla="*/ 6654 h 10000"/>
              <a:gd name="connsiteX18" fmla="*/ 3219 w 10000"/>
              <a:gd name="connsiteY18" fmla="*/ 6654 h 10000"/>
              <a:gd name="connsiteX19" fmla="*/ 3255 w 10000"/>
              <a:gd name="connsiteY19" fmla="*/ 7178 h 10000"/>
              <a:gd name="connsiteX20" fmla="*/ 3255 w 10000"/>
              <a:gd name="connsiteY20" fmla="*/ 8411 h 10000"/>
              <a:gd name="connsiteX21" fmla="*/ 3291 w 10000"/>
              <a:gd name="connsiteY21" fmla="*/ 8935 h 10000"/>
              <a:gd name="connsiteX22" fmla="*/ 5940 w 10000"/>
              <a:gd name="connsiteY22" fmla="*/ 8935 h 10000"/>
              <a:gd name="connsiteX23" fmla="*/ 5975 w 10000"/>
              <a:gd name="connsiteY23" fmla="*/ 8411 h 10000"/>
              <a:gd name="connsiteX24" fmla="*/ 5975 w 10000"/>
              <a:gd name="connsiteY24" fmla="*/ 523 h 10000"/>
              <a:gd name="connsiteX25" fmla="*/ 6010 w 10000"/>
              <a:gd name="connsiteY25" fmla="*/ 0 h 10000"/>
              <a:gd name="connsiteX26" fmla="*/ 6883 w 10000"/>
              <a:gd name="connsiteY26" fmla="*/ 0 h 10000"/>
              <a:gd name="connsiteX27" fmla="*/ 6919 w 10000"/>
              <a:gd name="connsiteY27" fmla="*/ 523 h 10000"/>
              <a:gd name="connsiteX28" fmla="*/ 6919 w 10000"/>
              <a:gd name="connsiteY28" fmla="*/ 7159 h 10000"/>
              <a:gd name="connsiteX29" fmla="*/ 6954 w 10000"/>
              <a:gd name="connsiteY29" fmla="*/ 7682 h 10000"/>
              <a:gd name="connsiteX30" fmla="*/ 8283 w 10000"/>
              <a:gd name="connsiteY30" fmla="*/ 7682 h 10000"/>
              <a:gd name="connsiteX31" fmla="*/ 8318 w 10000"/>
              <a:gd name="connsiteY31" fmla="*/ 7159 h 10000"/>
              <a:gd name="connsiteX32" fmla="*/ 8318 w 10000"/>
              <a:gd name="connsiteY32" fmla="*/ 2075 h 10000"/>
              <a:gd name="connsiteX33" fmla="*/ 8354 w 10000"/>
              <a:gd name="connsiteY33" fmla="*/ 1551 h 10000"/>
              <a:gd name="connsiteX34" fmla="*/ 10000 w 10000"/>
              <a:gd name="connsiteY34" fmla="*/ 1551 h 10000"/>
              <a:gd name="connsiteX0" fmla="*/ 0 w 9964"/>
              <a:gd name="connsiteY0" fmla="*/ 0 h 10000"/>
              <a:gd name="connsiteX1" fmla="*/ 383 w 9964"/>
              <a:gd name="connsiteY1" fmla="*/ 0 h 10000"/>
              <a:gd name="connsiteX2" fmla="*/ 419 w 9964"/>
              <a:gd name="connsiteY2" fmla="*/ 523 h 10000"/>
              <a:gd name="connsiteX3" fmla="*/ 419 w 9964"/>
              <a:gd name="connsiteY3" fmla="*/ 9477 h 10000"/>
              <a:gd name="connsiteX4" fmla="*/ 455 w 9964"/>
              <a:gd name="connsiteY4" fmla="*/ 10000 h 10000"/>
              <a:gd name="connsiteX5" fmla="*/ 1136 w 9964"/>
              <a:gd name="connsiteY5" fmla="*/ 10000 h 10000"/>
              <a:gd name="connsiteX6" fmla="*/ 1171 w 9964"/>
              <a:gd name="connsiteY6" fmla="*/ 9477 h 10000"/>
              <a:gd name="connsiteX7" fmla="*/ 1171 w 9964"/>
              <a:gd name="connsiteY7" fmla="*/ 6131 h 10000"/>
              <a:gd name="connsiteX8" fmla="*/ 1207 w 9964"/>
              <a:gd name="connsiteY8" fmla="*/ 5607 h 10000"/>
              <a:gd name="connsiteX9" fmla="*/ 2348 w 9964"/>
              <a:gd name="connsiteY9" fmla="*/ 5607 h 10000"/>
              <a:gd name="connsiteX10" fmla="*/ 2382 w 9964"/>
              <a:gd name="connsiteY10" fmla="*/ 6131 h 10000"/>
              <a:gd name="connsiteX11" fmla="*/ 2382 w 9964"/>
              <a:gd name="connsiteY11" fmla="*/ 9477 h 10000"/>
              <a:gd name="connsiteX12" fmla="*/ 2419 w 9964"/>
              <a:gd name="connsiteY12" fmla="*/ 10000 h 10000"/>
              <a:gd name="connsiteX13" fmla="*/ 2731 w 9964"/>
              <a:gd name="connsiteY13" fmla="*/ 10000 h 10000"/>
              <a:gd name="connsiteX14" fmla="*/ 2766 w 9964"/>
              <a:gd name="connsiteY14" fmla="*/ 9477 h 10000"/>
              <a:gd name="connsiteX15" fmla="*/ 2766 w 9964"/>
              <a:gd name="connsiteY15" fmla="*/ 7178 h 10000"/>
              <a:gd name="connsiteX16" fmla="*/ 2800 w 9964"/>
              <a:gd name="connsiteY16" fmla="*/ 6654 h 10000"/>
              <a:gd name="connsiteX17" fmla="*/ 3183 w 9964"/>
              <a:gd name="connsiteY17" fmla="*/ 6654 h 10000"/>
              <a:gd name="connsiteX18" fmla="*/ 3219 w 9964"/>
              <a:gd name="connsiteY18" fmla="*/ 7178 h 10000"/>
              <a:gd name="connsiteX19" fmla="*/ 3219 w 9964"/>
              <a:gd name="connsiteY19" fmla="*/ 8411 h 10000"/>
              <a:gd name="connsiteX20" fmla="*/ 3255 w 9964"/>
              <a:gd name="connsiteY20" fmla="*/ 8935 h 10000"/>
              <a:gd name="connsiteX21" fmla="*/ 5904 w 9964"/>
              <a:gd name="connsiteY21" fmla="*/ 8935 h 10000"/>
              <a:gd name="connsiteX22" fmla="*/ 5939 w 9964"/>
              <a:gd name="connsiteY22" fmla="*/ 8411 h 10000"/>
              <a:gd name="connsiteX23" fmla="*/ 5939 w 9964"/>
              <a:gd name="connsiteY23" fmla="*/ 523 h 10000"/>
              <a:gd name="connsiteX24" fmla="*/ 5974 w 9964"/>
              <a:gd name="connsiteY24" fmla="*/ 0 h 10000"/>
              <a:gd name="connsiteX25" fmla="*/ 6847 w 9964"/>
              <a:gd name="connsiteY25" fmla="*/ 0 h 10000"/>
              <a:gd name="connsiteX26" fmla="*/ 6883 w 9964"/>
              <a:gd name="connsiteY26" fmla="*/ 523 h 10000"/>
              <a:gd name="connsiteX27" fmla="*/ 6883 w 9964"/>
              <a:gd name="connsiteY27" fmla="*/ 7159 h 10000"/>
              <a:gd name="connsiteX28" fmla="*/ 6918 w 9964"/>
              <a:gd name="connsiteY28" fmla="*/ 7682 h 10000"/>
              <a:gd name="connsiteX29" fmla="*/ 8247 w 9964"/>
              <a:gd name="connsiteY29" fmla="*/ 7682 h 10000"/>
              <a:gd name="connsiteX30" fmla="*/ 8282 w 9964"/>
              <a:gd name="connsiteY30" fmla="*/ 7159 h 10000"/>
              <a:gd name="connsiteX31" fmla="*/ 8282 w 9964"/>
              <a:gd name="connsiteY31" fmla="*/ 2075 h 10000"/>
              <a:gd name="connsiteX32" fmla="*/ 8318 w 9964"/>
              <a:gd name="connsiteY32" fmla="*/ 1551 h 10000"/>
              <a:gd name="connsiteX33" fmla="*/ 9964 w 9964"/>
              <a:gd name="connsiteY33" fmla="*/ 1551 h 10000"/>
              <a:gd name="connsiteX0" fmla="*/ 0 w 9616"/>
              <a:gd name="connsiteY0" fmla="*/ 0 h 10000"/>
              <a:gd name="connsiteX1" fmla="*/ 37 w 9616"/>
              <a:gd name="connsiteY1" fmla="*/ 523 h 10000"/>
              <a:gd name="connsiteX2" fmla="*/ 37 w 9616"/>
              <a:gd name="connsiteY2" fmla="*/ 9477 h 10000"/>
              <a:gd name="connsiteX3" fmla="*/ 73 w 9616"/>
              <a:gd name="connsiteY3" fmla="*/ 10000 h 10000"/>
              <a:gd name="connsiteX4" fmla="*/ 756 w 9616"/>
              <a:gd name="connsiteY4" fmla="*/ 10000 h 10000"/>
              <a:gd name="connsiteX5" fmla="*/ 791 w 9616"/>
              <a:gd name="connsiteY5" fmla="*/ 9477 h 10000"/>
              <a:gd name="connsiteX6" fmla="*/ 791 w 9616"/>
              <a:gd name="connsiteY6" fmla="*/ 6131 h 10000"/>
              <a:gd name="connsiteX7" fmla="*/ 827 w 9616"/>
              <a:gd name="connsiteY7" fmla="*/ 5607 h 10000"/>
              <a:gd name="connsiteX8" fmla="*/ 1972 w 9616"/>
              <a:gd name="connsiteY8" fmla="*/ 5607 h 10000"/>
              <a:gd name="connsiteX9" fmla="*/ 2007 w 9616"/>
              <a:gd name="connsiteY9" fmla="*/ 6131 h 10000"/>
              <a:gd name="connsiteX10" fmla="*/ 2007 w 9616"/>
              <a:gd name="connsiteY10" fmla="*/ 9477 h 10000"/>
              <a:gd name="connsiteX11" fmla="*/ 2044 w 9616"/>
              <a:gd name="connsiteY11" fmla="*/ 10000 h 10000"/>
              <a:gd name="connsiteX12" fmla="*/ 2357 w 9616"/>
              <a:gd name="connsiteY12" fmla="*/ 10000 h 10000"/>
              <a:gd name="connsiteX13" fmla="*/ 2392 w 9616"/>
              <a:gd name="connsiteY13" fmla="*/ 9477 h 10000"/>
              <a:gd name="connsiteX14" fmla="*/ 2392 w 9616"/>
              <a:gd name="connsiteY14" fmla="*/ 7178 h 10000"/>
              <a:gd name="connsiteX15" fmla="*/ 2426 w 9616"/>
              <a:gd name="connsiteY15" fmla="*/ 6654 h 10000"/>
              <a:gd name="connsiteX16" fmla="*/ 2811 w 9616"/>
              <a:gd name="connsiteY16" fmla="*/ 6654 h 10000"/>
              <a:gd name="connsiteX17" fmla="*/ 2847 w 9616"/>
              <a:gd name="connsiteY17" fmla="*/ 7178 h 10000"/>
              <a:gd name="connsiteX18" fmla="*/ 2847 w 9616"/>
              <a:gd name="connsiteY18" fmla="*/ 8411 h 10000"/>
              <a:gd name="connsiteX19" fmla="*/ 2883 w 9616"/>
              <a:gd name="connsiteY19" fmla="*/ 8935 h 10000"/>
              <a:gd name="connsiteX20" fmla="*/ 5541 w 9616"/>
              <a:gd name="connsiteY20" fmla="*/ 8935 h 10000"/>
              <a:gd name="connsiteX21" fmla="*/ 5576 w 9616"/>
              <a:gd name="connsiteY21" fmla="*/ 8411 h 10000"/>
              <a:gd name="connsiteX22" fmla="*/ 5576 w 9616"/>
              <a:gd name="connsiteY22" fmla="*/ 523 h 10000"/>
              <a:gd name="connsiteX23" fmla="*/ 5612 w 9616"/>
              <a:gd name="connsiteY23" fmla="*/ 0 h 10000"/>
              <a:gd name="connsiteX24" fmla="*/ 6488 w 9616"/>
              <a:gd name="connsiteY24" fmla="*/ 0 h 10000"/>
              <a:gd name="connsiteX25" fmla="*/ 6524 w 9616"/>
              <a:gd name="connsiteY25" fmla="*/ 523 h 10000"/>
              <a:gd name="connsiteX26" fmla="*/ 6524 w 9616"/>
              <a:gd name="connsiteY26" fmla="*/ 7159 h 10000"/>
              <a:gd name="connsiteX27" fmla="*/ 6559 w 9616"/>
              <a:gd name="connsiteY27" fmla="*/ 7682 h 10000"/>
              <a:gd name="connsiteX28" fmla="*/ 7893 w 9616"/>
              <a:gd name="connsiteY28" fmla="*/ 7682 h 10000"/>
              <a:gd name="connsiteX29" fmla="*/ 7928 w 9616"/>
              <a:gd name="connsiteY29" fmla="*/ 7159 h 10000"/>
              <a:gd name="connsiteX30" fmla="*/ 7928 w 9616"/>
              <a:gd name="connsiteY30" fmla="*/ 2075 h 10000"/>
              <a:gd name="connsiteX31" fmla="*/ 7964 w 9616"/>
              <a:gd name="connsiteY31" fmla="*/ 1551 h 10000"/>
              <a:gd name="connsiteX32" fmla="*/ 9616 w 9616"/>
              <a:gd name="connsiteY32" fmla="*/ 1551 h 10000"/>
              <a:gd name="connsiteX0" fmla="*/ 0 w 9962"/>
              <a:gd name="connsiteY0" fmla="*/ 523 h 10000"/>
              <a:gd name="connsiteX1" fmla="*/ 0 w 9962"/>
              <a:gd name="connsiteY1" fmla="*/ 9477 h 10000"/>
              <a:gd name="connsiteX2" fmla="*/ 38 w 9962"/>
              <a:gd name="connsiteY2" fmla="*/ 10000 h 10000"/>
              <a:gd name="connsiteX3" fmla="*/ 748 w 9962"/>
              <a:gd name="connsiteY3" fmla="*/ 10000 h 10000"/>
              <a:gd name="connsiteX4" fmla="*/ 785 w 9962"/>
              <a:gd name="connsiteY4" fmla="*/ 9477 h 10000"/>
              <a:gd name="connsiteX5" fmla="*/ 785 w 9962"/>
              <a:gd name="connsiteY5" fmla="*/ 6131 h 10000"/>
              <a:gd name="connsiteX6" fmla="*/ 822 w 9962"/>
              <a:gd name="connsiteY6" fmla="*/ 5607 h 10000"/>
              <a:gd name="connsiteX7" fmla="*/ 2013 w 9962"/>
              <a:gd name="connsiteY7" fmla="*/ 5607 h 10000"/>
              <a:gd name="connsiteX8" fmla="*/ 2049 w 9962"/>
              <a:gd name="connsiteY8" fmla="*/ 6131 h 10000"/>
              <a:gd name="connsiteX9" fmla="*/ 2049 w 9962"/>
              <a:gd name="connsiteY9" fmla="*/ 9477 h 10000"/>
              <a:gd name="connsiteX10" fmla="*/ 2088 w 9962"/>
              <a:gd name="connsiteY10" fmla="*/ 10000 h 10000"/>
              <a:gd name="connsiteX11" fmla="*/ 2413 w 9962"/>
              <a:gd name="connsiteY11" fmla="*/ 10000 h 10000"/>
              <a:gd name="connsiteX12" fmla="*/ 2450 w 9962"/>
              <a:gd name="connsiteY12" fmla="*/ 9477 h 10000"/>
              <a:gd name="connsiteX13" fmla="*/ 2450 w 9962"/>
              <a:gd name="connsiteY13" fmla="*/ 7178 h 10000"/>
              <a:gd name="connsiteX14" fmla="*/ 2485 w 9962"/>
              <a:gd name="connsiteY14" fmla="*/ 6654 h 10000"/>
              <a:gd name="connsiteX15" fmla="*/ 2885 w 9962"/>
              <a:gd name="connsiteY15" fmla="*/ 6654 h 10000"/>
              <a:gd name="connsiteX16" fmla="*/ 2923 w 9962"/>
              <a:gd name="connsiteY16" fmla="*/ 7178 h 10000"/>
              <a:gd name="connsiteX17" fmla="*/ 2923 w 9962"/>
              <a:gd name="connsiteY17" fmla="*/ 8411 h 10000"/>
              <a:gd name="connsiteX18" fmla="*/ 2960 w 9962"/>
              <a:gd name="connsiteY18" fmla="*/ 8935 h 10000"/>
              <a:gd name="connsiteX19" fmla="*/ 5724 w 9962"/>
              <a:gd name="connsiteY19" fmla="*/ 8935 h 10000"/>
              <a:gd name="connsiteX20" fmla="*/ 5761 w 9962"/>
              <a:gd name="connsiteY20" fmla="*/ 8411 h 10000"/>
              <a:gd name="connsiteX21" fmla="*/ 5761 w 9962"/>
              <a:gd name="connsiteY21" fmla="*/ 523 h 10000"/>
              <a:gd name="connsiteX22" fmla="*/ 5798 w 9962"/>
              <a:gd name="connsiteY22" fmla="*/ 0 h 10000"/>
              <a:gd name="connsiteX23" fmla="*/ 6709 w 9962"/>
              <a:gd name="connsiteY23" fmla="*/ 0 h 10000"/>
              <a:gd name="connsiteX24" fmla="*/ 6747 w 9962"/>
              <a:gd name="connsiteY24" fmla="*/ 523 h 10000"/>
              <a:gd name="connsiteX25" fmla="*/ 6747 w 9962"/>
              <a:gd name="connsiteY25" fmla="*/ 7159 h 10000"/>
              <a:gd name="connsiteX26" fmla="*/ 6783 w 9962"/>
              <a:gd name="connsiteY26" fmla="*/ 7682 h 10000"/>
              <a:gd name="connsiteX27" fmla="*/ 8170 w 9962"/>
              <a:gd name="connsiteY27" fmla="*/ 7682 h 10000"/>
              <a:gd name="connsiteX28" fmla="*/ 8207 w 9962"/>
              <a:gd name="connsiteY28" fmla="*/ 7159 h 10000"/>
              <a:gd name="connsiteX29" fmla="*/ 8207 w 9962"/>
              <a:gd name="connsiteY29" fmla="*/ 2075 h 10000"/>
              <a:gd name="connsiteX30" fmla="*/ 8244 w 9962"/>
              <a:gd name="connsiteY30" fmla="*/ 1551 h 10000"/>
              <a:gd name="connsiteX31" fmla="*/ 9962 w 9962"/>
              <a:gd name="connsiteY31" fmla="*/ 1551 h 10000"/>
              <a:gd name="connsiteX0" fmla="*/ 0 w 10000"/>
              <a:gd name="connsiteY0" fmla="*/ 9477 h 10000"/>
              <a:gd name="connsiteX1" fmla="*/ 38 w 10000"/>
              <a:gd name="connsiteY1" fmla="*/ 10000 h 10000"/>
              <a:gd name="connsiteX2" fmla="*/ 751 w 10000"/>
              <a:gd name="connsiteY2" fmla="*/ 10000 h 10000"/>
              <a:gd name="connsiteX3" fmla="*/ 788 w 10000"/>
              <a:gd name="connsiteY3" fmla="*/ 9477 h 10000"/>
              <a:gd name="connsiteX4" fmla="*/ 788 w 10000"/>
              <a:gd name="connsiteY4" fmla="*/ 6131 h 10000"/>
              <a:gd name="connsiteX5" fmla="*/ 825 w 10000"/>
              <a:gd name="connsiteY5" fmla="*/ 5607 h 10000"/>
              <a:gd name="connsiteX6" fmla="*/ 2021 w 10000"/>
              <a:gd name="connsiteY6" fmla="*/ 5607 h 10000"/>
              <a:gd name="connsiteX7" fmla="*/ 2057 w 10000"/>
              <a:gd name="connsiteY7" fmla="*/ 6131 h 10000"/>
              <a:gd name="connsiteX8" fmla="*/ 2057 w 10000"/>
              <a:gd name="connsiteY8" fmla="*/ 9477 h 10000"/>
              <a:gd name="connsiteX9" fmla="*/ 2096 w 10000"/>
              <a:gd name="connsiteY9" fmla="*/ 10000 h 10000"/>
              <a:gd name="connsiteX10" fmla="*/ 2422 w 10000"/>
              <a:gd name="connsiteY10" fmla="*/ 10000 h 10000"/>
              <a:gd name="connsiteX11" fmla="*/ 2459 w 10000"/>
              <a:gd name="connsiteY11" fmla="*/ 9477 h 10000"/>
              <a:gd name="connsiteX12" fmla="*/ 2459 w 10000"/>
              <a:gd name="connsiteY12" fmla="*/ 7178 h 10000"/>
              <a:gd name="connsiteX13" fmla="*/ 2494 w 10000"/>
              <a:gd name="connsiteY13" fmla="*/ 6654 h 10000"/>
              <a:gd name="connsiteX14" fmla="*/ 2896 w 10000"/>
              <a:gd name="connsiteY14" fmla="*/ 6654 h 10000"/>
              <a:gd name="connsiteX15" fmla="*/ 2934 w 10000"/>
              <a:gd name="connsiteY15" fmla="*/ 7178 h 10000"/>
              <a:gd name="connsiteX16" fmla="*/ 2934 w 10000"/>
              <a:gd name="connsiteY16" fmla="*/ 8411 h 10000"/>
              <a:gd name="connsiteX17" fmla="*/ 2971 w 10000"/>
              <a:gd name="connsiteY17" fmla="*/ 8935 h 10000"/>
              <a:gd name="connsiteX18" fmla="*/ 5746 w 10000"/>
              <a:gd name="connsiteY18" fmla="*/ 8935 h 10000"/>
              <a:gd name="connsiteX19" fmla="*/ 5783 w 10000"/>
              <a:gd name="connsiteY19" fmla="*/ 8411 h 10000"/>
              <a:gd name="connsiteX20" fmla="*/ 5783 w 10000"/>
              <a:gd name="connsiteY20" fmla="*/ 523 h 10000"/>
              <a:gd name="connsiteX21" fmla="*/ 5820 w 10000"/>
              <a:gd name="connsiteY21" fmla="*/ 0 h 10000"/>
              <a:gd name="connsiteX22" fmla="*/ 6735 w 10000"/>
              <a:gd name="connsiteY22" fmla="*/ 0 h 10000"/>
              <a:gd name="connsiteX23" fmla="*/ 6773 w 10000"/>
              <a:gd name="connsiteY23" fmla="*/ 523 h 10000"/>
              <a:gd name="connsiteX24" fmla="*/ 6773 w 10000"/>
              <a:gd name="connsiteY24" fmla="*/ 7159 h 10000"/>
              <a:gd name="connsiteX25" fmla="*/ 6809 w 10000"/>
              <a:gd name="connsiteY25" fmla="*/ 7682 h 10000"/>
              <a:gd name="connsiteX26" fmla="*/ 8201 w 10000"/>
              <a:gd name="connsiteY26" fmla="*/ 7682 h 10000"/>
              <a:gd name="connsiteX27" fmla="*/ 8238 w 10000"/>
              <a:gd name="connsiteY27" fmla="*/ 7159 h 10000"/>
              <a:gd name="connsiteX28" fmla="*/ 8238 w 10000"/>
              <a:gd name="connsiteY28" fmla="*/ 2075 h 10000"/>
              <a:gd name="connsiteX29" fmla="*/ 8275 w 10000"/>
              <a:gd name="connsiteY29" fmla="*/ 1551 h 10000"/>
              <a:gd name="connsiteX30" fmla="*/ 10000 w 10000"/>
              <a:gd name="connsiteY30" fmla="*/ 1551 h 10000"/>
              <a:gd name="connsiteX0" fmla="*/ 0 w 9962"/>
              <a:gd name="connsiteY0" fmla="*/ 10000 h 10000"/>
              <a:gd name="connsiteX1" fmla="*/ 713 w 9962"/>
              <a:gd name="connsiteY1" fmla="*/ 10000 h 10000"/>
              <a:gd name="connsiteX2" fmla="*/ 750 w 9962"/>
              <a:gd name="connsiteY2" fmla="*/ 9477 h 10000"/>
              <a:gd name="connsiteX3" fmla="*/ 750 w 9962"/>
              <a:gd name="connsiteY3" fmla="*/ 6131 h 10000"/>
              <a:gd name="connsiteX4" fmla="*/ 787 w 9962"/>
              <a:gd name="connsiteY4" fmla="*/ 5607 h 10000"/>
              <a:gd name="connsiteX5" fmla="*/ 1983 w 9962"/>
              <a:gd name="connsiteY5" fmla="*/ 5607 h 10000"/>
              <a:gd name="connsiteX6" fmla="*/ 2019 w 9962"/>
              <a:gd name="connsiteY6" fmla="*/ 6131 h 10000"/>
              <a:gd name="connsiteX7" fmla="*/ 2019 w 9962"/>
              <a:gd name="connsiteY7" fmla="*/ 9477 h 10000"/>
              <a:gd name="connsiteX8" fmla="*/ 2058 w 9962"/>
              <a:gd name="connsiteY8" fmla="*/ 10000 h 10000"/>
              <a:gd name="connsiteX9" fmla="*/ 2384 w 9962"/>
              <a:gd name="connsiteY9" fmla="*/ 10000 h 10000"/>
              <a:gd name="connsiteX10" fmla="*/ 2421 w 9962"/>
              <a:gd name="connsiteY10" fmla="*/ 9477 h 10000"/>
              <a:gd name="connsiteX11" fmla="*/ 2421 w 9962"/>
              <a:gd name="connsiteY11" fmla="*/ 7178 h 10000"/>
              <a:gd name="connsiteX12" fmla="*/ 2456 w 9962"/>
              <a:gd name="connsiteY12" fmla="*/ 6654 h 10000"/>
              <a:gd name="connsiteX13" fmla="*/ 2858 w 9962"/>
              <a:gd name="connsiteY13" fmla="*/ 6654 h 10000"/>
              <a:gd name="connsiteX14" fmla="*/ 2896 w 9962"/>
              <a:gd name="connsiteY14" fmla="*/ 7178 h 10000"/>
              <a:gd name="connsiteX15" fmla="*/ 2896 w 9962"/>
              <a:gd name="connsiteY15" fmla="*/ 8411 h 10000"/>
              <a:gd name="connsiteX16" fmla="*/ 2933 w 9962"/>
              <a:gd name="connsiteY16" fmla="*/ 8935 h 10000"/>
              <a:gd name="connsiteX17" fmla="*/ 5708 w 9962"/>
              <a:gd name="connsiteY17" fmla="*/ 8935 h 10000"/>
              <a:gd name="connsiteX18" fmla="*/ 5745 w 9962"/>
              <a:gd name="connsiteY18" fmla="*/ 8411 h 10000"/>
              <a:gd name="connsiteX19" fmla="*/ 5745 w 9962"/>
              <a:gd name="connsiteY19" fmla="*/ 523 h 10000"/>
              <a:gd name="connsiteX20" fmla="*/ 5782 w 9962"/>
              <a:gd name="connsiteY20" fmla="*/ 0 h 10000"/>
              <a:gd name="connsiteX21" fmla="*/ 6697 w 9962"/>
              <a:gd name="connsiteY21" fmla="*/ 0 h 10000"/>
              <a:gd name="connsiteX22" fmla="*/ 6735 w 9962"/>
              <a:gd name="connsiteY22" fmla="*/ 523 h 10000"/>
              <a:gd name="connsiteX23" fmla="*/ 6735 w 9962"/>
              <a:gd name="connsiteY23" fmla="*/ 7159 h 10000"/>
              <a:gd name="connsiteX24" fmla="*/ 6771 w 9962"/>
              <a:gd name="connsiteY24" fmla="*/ 7682 h 10000"/>
              <a:gd name="connsiteX25" fmla="*/ 8163 w 9962"/>
              <a:gd name="connsiteY25" fmla="*/ 7682 h 10000"/>
              <a:gd name="connsiteX26" fmla="*/ 8200 w 9962"/>
              <a:gd name="connsiteY26" fmla="*/ 7159 h 10000"/>
              <a:gd name="connsiteX27" fmla="*/ 8200 w 9962"/>
              <a:gd name="connsiteY27" fmla="*/ 2075 h 10000"/>
              <a:gd name="connsiteX28" fmla="*/ 8237 w 9962"/>
              <a:gd name="connsiteY28" fmla="*/ 1551 h 10000"/>
              <a:gd name="connsiteX29" fmla="*/ 9962 w 9962"/>
              <a:gd name="connsiteY29" fmla="*/ 1551 h 10000"/>
              <a:gd name="connsiteX0" fmla="*/ 0 w 9284"/>
              <a:gd name="connsiteY0" fmla="*/ 10000 h 10000"/>
              <a:gd name="connsiteX1" fmla="*/ 37 w 9284"/>
              <a:gd name="connsiteY1" fmla="*/ 9477 h 10000"/>
              <a:gd name="connsiteX2" fmla="*/ 37 w 9284"/>
              <a:gd name="connsiteY2" fmla="*/ 6131 h 10000"/>
              <a:gd name="connsiteX3" fmla="*/ 74 w 9284"/>
              <a:gd name="connsiteY3" fmla="*/ 5607 h 10000"/>
              <a:gd name="connsiteX4" fmla="*/ 1275 w 9284"/>
              <a:gd name="connsiteY4" fmla="*/ 5607 h 10000"/>
              <a:gd name="connsiteX5" fmla="*/ 1311 w 9284"/>
              <a:gd name="connsiteY5" fmla="*/ 6131 h 10000"/>
              <a:gd name="connsiteX6" fmla="*/ 1311 w 9284"/>
              <a:gd name="connsiteY6" fmla="*/ 9477 h 10000"/>
              <a:gd name="connsiteX7" fmla="*/ 1350 w 9284"/>
              <a:gd name="connsiteY7" fmla="*/ 10000 h 10000"/>
              <a:gd name="connsiteX8" fmla="*/ 1677 w 9284"/>
              <a:gd name="connsiteY8" fmla="*/ 10000 h 10000"/>
              <a:gd name="connsiteX9" fmla="*/ 1714 w 9284"/>
              <a:gd name="connsiteY9" fmla="*/ 9477 h 10000"/>
              <a:gd name="connsiteX10" fmla="*/ 1714 w 9284"/>
              <a:gd name="connsiteY10" fmla="*/ 7178 h 10000"/>
              <a:gd name="connsiteX11" fmla="*/ 1749 w 9284"/>
              <a:gd name="connsiteY11" fmla="*/ 6654 h 10000"/>
              <a:gd name="connsiteX12" fmla="*/ 2153 w 9284"/>
              <a:gd name="connsiteY12" fmla="*/ 6654 h 10000"/>
              <a:gd name="connsiteX13" fmla="*/ 2191 w 9284"/>
              <a:gd name="connsiteY13" fmla="*/ 7178 h 10000"/>
              <a:gd name="connsiteX14" fmla="*/ 2191 w 9284"/>
              <a:gd name="connsiteY14" fmla="*/ 8411 h 10000"/>
              <a:gd name="connsiteX15" fmla="*/ 2228 w 9284"/>
              <a:gd name="connsiteY15" fmla="*/ 8935 h 10000"/>
              <a:gd name="connsiteX16" fmla="*/ 5014 w 9284"/>
              <a:gd name="connsiteY16" fmla="*/ 8935 h 10000"/>
              <a:gd name="connsiteX17" fmla="*/ 5051 w 9284"/>
              <a:gd name="connsiteY17" fmla="*/ 8411 h 10000"/>
              <a:gd name="connsiteX18" fmla="*/ 5051 w 9284"/>
              <a:gd name="connsiteY18" fmla="*/ 523 h 10000"/>
              <a:gd name="connsiteX19" fmla="*/ 5088 w 9284"/>
              <a:gd name="connsiteY19" fmla="*/ 0 h 10000"/>
              <a:gd name="connsiteX20" fmla="*/ 6007 w 9284"/>
              <a:gd name="connsiteY20" fmla="*/ 0 h 10000"/>
              <a:gd name="connsiteX21" fmla="*/ 6045 w 9284"/>
              <a:gd name="connsiteY21" fmla="*/ 523 h 10000"/>
              <a:gd name="connsiteX22" fmla="*/ 6045 w 9284"/>
              <a:gd name="connsiteY22" fmla="*/ 7159 h 10000"/>
              <a:gd name="connsiteX23" fmla="*/ 6081 w 9284"/>
              <a:gd name="connsiteY23" fmla="*/ 7682 h 10000"/>
              <a:gd name="connsiteX24" fmla="*/ 7478 w 9284"/>
              <a:gd name="connsiteY24" fmla="*/ 7682 h 10000"/>
              <a:gd name="connsiteX25" fmla="*/ 7515 w 9284"/>
              <a:gd name="connsiteY25" fmla="*/ 7159 h 10000"/>
              <a:gd name="connsiteX26" fmla="*/ 7515 w 9284"/>
              <a:gd name="connsiteY26" fmla="*/ 2075 h 10000"/>
              <a:gd name="connsiteX27" fmla="*/ 7552 w 9284"/>
              <a:gd name="connsiteY27" fmla="*/ 1551 h 10000"/>
              <a:gd name="connsiteX28" fmla="*/ 9284 w 9284"/>
              <a:gd name="connsiteY28" fmla="*/ 1551 h 10000"/>
              <a:gd name="connsiteX0" fmla="*/ 0 w 9960"/>
              <a:gd name="connsiteY0" fmla="*/ 9477 h 10000"/>
              <a:gd name="connsiteX1" fmla="*/ 0 w 9960"/>
              <a:gd name="connsiteY1" fmla="*/ 6131 h 10000"/>
              <a:gd name="connsiteX2" fmla="*/ 40 w 9960"/>
              <a:gd name="connsiteY2" fmla="*/ 5607 h 10000"/>
              <a:gd name="connsiteX3" fmla="*/ 1333 w 9960"/>
              <a:gd name="connsiteY3" fmla="*/ 5607 h 10000"/>
              <a:gd name="connsiteX4" fmla="*/ 1372 w 9960"/>
              <a:gd name="connsiteY4" fmla="*/ 6131 h 10000"/>
              <a:gd name="connsiteX5" fmla="*/ 1372 w 9960"/>
              <a:gd name="connsiteY5" fmla="*/ 9477 h 10000"/>
              <a:gd name="connsiteX6" fmla="*/ 1414 w 9960"/>
              <a:gd name="connsiteY6" fmla="*/ 10000 h 10000"/>
              <a:gd name="connsiteX7" fmla="*/ 1766 w 9960"/>
              <a:gd name="connsiteY7" fmla="*/ 10000 h 10000"/>
              <a:gd name="connsiteX8" fmla="*/ 1806 w 9960"/>
              <a:gd name="connsiteY8" fmla="*/ 9477 h 10000"/>
              <a:gd name="connsiteX9" fmla="*/ 1806 w 9960"/>
              <a:gd name="connsiteY9" fmla="*/ 7178 h 10000"/>
              <a:gd name="connsiteX10" fmla="*/ 1844 w 9960"/>
              <a:gd name="connsiteY10" fmla="*/ 6654 h 10000"/>
              <a:gd name="connsiteX11" fmla="*/ 2279 w 9960"/>
              <a:gd name="connsiteY11" fmla="*/ 6654 h 10000"/>
              <a:gd name="connsiteX12" fmla="*/ 2320 w 9960"/>
              <a:gd name="connsiteY12" fmla="*/ 7178 h 10000"/>
              <a:gd name="connsiteX13" fmla="*/ 2320 w 9960"/>
              <a:gd name="connsiteY13" fmla="*/ 8411 h 10000"/>
              <a:gd name="connsiteX14" fmla="*/ 2360 w 9960"/>
              <a:gd name="connsiteY14" fmla="*/ 8935 h 10000"/>
              <a:gd name="connsiteX15" fmla="*/ 5361 w 9960"/>
              <a:gd name="connsiteY15" fmla="*/ 8935 h 10000"/>
              <a:gd name="connsiteX16" fmla="*/ 5401 w 9960"/>
              <a:gd name="connsiteY16" fmla="*/ 8411 h 10000"/>
              <a:gd name="connsiteX17" fmla="*/ 5401 w 9960"/>
              <a:gd name="connsiteY17" fmla="*/ 523 h 10000"/>
              <a:gd name="connsiteX18" fmla="*/ 5440 w 9960"/>
              <a:gd name="connsiteY18" fmla="*/ 0 h 10000"/>
              <a:gd name="connsiteX19" fmla="*/ 6430 w 9960"/>
              <a:gd name="connsiteY19" fmla="*/ 0 h 10000"/>
              <a:gd name="connsiteX20" fmla="*/ 6471 w 9960"/>
              <a:gd name="connsiteY20" fmla="*/ 523 h 10000"/>
              <a:gd name="connsiteX21" fmla="*/ 6471 w 9960"/>
              <a:gd name="connsiteY21" fmla="*/ 7159 h 10000"/>
              <a:gd name="connsiteX22" fmla="*/ 6510 w 9960"/>
              <a:gd name="connsiteY22" fmla="*/ 7682 h 10000"/>
              <a:gd name="connsiteX23" fmla="*/ 8015 w 9960"/>
              <a:gd name="connsiteY23" fmla="*/ 7682 h 10000"/>
              <a:gd name="connsiteX24" fmla="*/ 8055 w 9960"/>
              <a:gd name="connsiteY24" fmla="*/ 7159 h 10000"/>
              <a:gd name="connsiteX25" fmla="*/ 8055 w 9960"/>
              <a:gd name="connsiteY25" fmla="*/ 2075 h 10000"/>
              <a:gd name="connsiteX26" fmla="*/ 8094 w 9960"/>
              <a:gd name="connsiteY26" fmla="*/ 1551 h 10000"/>
              <a:gd name="connsiteX27" fmla="*/ 9960 w 9960"/>
              <a:gd name="connsiteY27" fmla="*/ 1551 h 10000"/>
              <a:gd name="connsiteX0" fmla="*/ 0 w 10000"/>
              <a:gd name="connsiteY0" fmla="*/ 6131 h 10000"/>
              <a:gd name="connsiteX1" fmla="*/ 40 w 10000"/>
              <a:gd name="connsiteY1" fmla="*/ 5607 h 10000"/>
              <a:gd name="connsiteX2" fmla="*/ 1338 w 10000"/>
              <a:gd name="connsiteY2" fmla="*/ 5607 h 10000"/>
              <a:gd name="connsiteX3" fmla="*/ 1378 w 10000"/>
              <a:gd name="connsiteY3" fmla="*/ 6131 h 10000"/>
              <a:gd name="connsiteX4" fmla="*/ 1378 w 10000"/>
              <a:gd name="connsiteY4" fmla="*/ 9477 h 10000"/>
              <a:gd name="connsiteX5" fmla="*/ 1420 w 10000"/>
              <a:gd name="connsiteY5" fmla="*/ 10000 h 10000"/>
              <a:gd name="connsiteX6" fmla="*/ 1773 w 10000"/>
              <a:gd name="connsiteY6" fmla="*/ 10000 h 10000"/>
              <a:gd name="connsiteX7" fmla="*/ 1813 w 10000"/>
              <a:gd name="connsiteY7" fmla="*/ 9477 h 10000"/>
              <a:gd name="connsiteX8" fmla="*/ 1813 w 10000"/>
              <a:gd name="connsiteY8" fmla="*/ 7178 h 10000"/>
              <a:gd name="connsiteX9" fmla="*/ 1851 w 10000"/>
              <a:gd name="connsiteY9" fmla="*/ 6654 h 10000"/>
              <a:gd name="connsiteX10" fmla="*/ 2288 w 10000"/>
              <a:gd name="connsiteY10" fmla="*/ 6654 h 10000"/>
              <a:gd name="connsiteX11" fmla="*/ 2329 w 10000"/>
              <a:gd name="connsiteY11" fmla="*/ 7178 h 10000"/>
              <a:gd name="connsiteX12" fmla="*/ 2329 w 10000"/>
              <a:gd name="connsiteY12" fmla="*/ 8411 h 10000"/>
              <a:gd name="connsiteX13" fmla="*/ 2369 w 10000"/>
              <a:gd name="connsiteY13" fmla="*/ 8935 h 10000"/>
              <a:gd name="connsiteX14" fmla="*/ 5383 w 10000"/>
              <a:gd name="connsiteY14" fmla="*/ 8935 h 10000"/>
              <a:gd name="connsiteX15" fmla="*/ 5423 w 10000"/>
              <a:gd name="connsiteY15" fmla="*/ 8411 h 10000"/>
              <a:gd name="connsiteX16" fmla="*/ 5423 w 10000"/>
              <a:gd name="connsiteY16" fmla="*/ 523 h 10000"/>
              <a:gd name="connsiteX17" fmla="*/ 5462 w 10000"/>
              <a:gd name="connsiteY17" fmla="*/ 0 h 10000"/>
              <a:gd name="connsiteX18" fmla="*/ 6456 w 10000"/>
              <a:gd name="connsiteY18" fmla="*/ 0 h 10000"/>
              <a:gd name="connsiteX19" fmla="*/ 6497 w 10000"/>
              <a:gd name="connsiteY19" fmla="*/ 523 h 10000"/>
              <a:gd name="connsiteX20" fmla="*/ 6497 w 10000"/>
              <a:gd name="connsiteY20" fmla="*/ 7159 h 10000"/>
              <a:gd name="connsiteX21" fmla="*/ 6536 w 10000"/>
              <a:gd name="connsiteY21" fmla="*/ 7682 h 10000"/>
              <a:gd name="connsiteX22" fmla="*/ 8047 w 10000"/>
              <a:gd name="connsiteY22" fmla="*/ 7682 h 10000"/>
              <a:gd name="connsiteX23" fmla="*/ 8087 w 10000"/>
              <a:gd name="connsiteY23" fmla="*/ 7159 h 10000"/>
              <a:gd name="connsiteX24" fmla="*/ 8087 w 10000"/>
              <a:gd name="connsiteY24" fmla="*/ 2075 h 10000"/>
              <a:gd name="connsiteX25" fmla="*/ 8127 w 10000"/>
              <a:gd name="connsiteY25" fmla="*/ 1551 h 10000"/>
              <a:gd name="connsiteX26" fmla="*/ 10000 w 10000"/>
              <a:gd name="connsiteY26" fmla="*/ 1551 h 10000"/>
              <a:gd name="connsiteX0" fmla="*/ 0 w 8127"/>
              <a:gd name="connsiteY0" fmla="*/ 6131 h 10000"/>
              <a:gd name="connsiteX1" fmla="*/ 40 w 8127"/>
              <a:gd name="connsiteY1" fmla="*/ 5607 h 10000"/>
              <a:gd name="connsiteX2" fmla="*/ 1338 w 8127"/>
              <a:gd name="connsiteY2" fmla="*/ 5607 h 10000"/>
              <a:gd name="connsiteX3" fmla="*/ 1378 w 8127"/>
              <a:gd name="connsiteY3" fmla="*/ 6131 h 10000"/>
              <a:gd name="connsiteX4" fmla="*/ 1378 w 8127"/>
              <a:gd name="connsiteY4" fmla="*/ 9477 h 10000"/>
              <a:gd name="connsiteX5" fmla="*/ 1420 w 8127"/>
              <a:gd name="connsiteY5" fmla="*/ 10000 h 10000"/>
              <a:gd name="connsiteX6" fmla="*/ 1773 w 8127"/>
              <a:gd name="connsiteY6" fmla="*/ 10000 h 10000"/>
              <a:gd name="connsiteX7" fmla="*/ 1813 w 8127"/>
              <a:gd name="connsiteY7" fmla="*/ 9477 h 10000"/>
              <a:gd name="connsiteX8" fmla="*/ 1813 w 8127"/>
              <a:gd name="connsiteY8" fmla="*/ 7178 h 10000"/>
              <a:gd name="connsiteX9" fmla="*/ 1851 w 8127"/>
              <a:gd name="connsiteY9" fmla="*/ 6654 h 10000"/>
              <a:gd name="connsiteX10" fmla="*/ 2288 w 8127"/>
              <a:gd name="connsiteY10" fmla="*/ 6654 h 10000"/>
              <a:gd name="connsiteX11" fmla="*/ 2329 w 8127"/>
              <a:gd name="connsiteY11" fmla="*/ 7178 h 10000"/>
              <a:gd name="connsiteX12" fmla="*/ 2329 w 8127"/>
              <a:gd name="connsiteY12" fmla="*/ 8411 h 10000"/>
              <a:gd name="connsiteX13" fmla="*/ 2369 w 8127"/>
              <a:gd name="connsiteY13" fmla="*/ 8935 h 10000"/>
              <a:gd name="connsiteX14" fmla="*/ 5383 w 8127"/>
              <a:gd name="connsiteY14" fmla="*/ 8935 h 10000"/>
              <a:gd name="connsiteX15" fmla="*/ 5423 w 8127"/>
              <a:gd name="connsiteY15" fmla="*/ 8411 h 10000"/>
              <a:gd name="connsiteX16" fmla="*/ 5423 w 8127"/>
              <a:gd name="connsiteY16" fmla="*/ 523 h 10000"/>
              <a:gd name="connsiteX17" fmla="*/ 5462 w 8127"/>
              <a:gd name="connsiteY17" fmla="*/ 0 h 10000"/>
              <a:gd name="connsiteX18" fmla="*/ 6456 w 8127"/>
              <a:gd name="connsiteY18" fmla="*/ 0 h 10000"/>
              <a:gd name="connsiteX19" fmla="*/ 6497 w 8127"/>
              <a:gd name="connsiteY19" fmla="*/ 523 h 10000"/>
              <a:gd name="connsiteX20" fmla="*/ 6497 w 8127"/>
              <a:gd name="connsiteY20" fmla="*/ 7159 h 10000"/>
              <a:gd name="connsiteX21" fmla="*/ 6536 w 8127"/>
              <a:gd name="connsiteY21" fmla="*/ 7682 h 10000"/>
              <a:gd name="connsiteX22" fmla="*/ 8047 w 8127"/>
              <a:gd name="connsiteY22" fmla="*/ 7682 h 10000"/>
              <a:gd name="connsiteX23" fmla="*/ 8087 w 8127"/>
              <a:gd name="connsiteY23" fmla="*/ 7159 h 10000"/>
              <a:gd name="connsiteX24" fmla="*/ 8087 w 8127"/>
              <a:gd name="connsiteY24" fmla="*/ 2075 h 10000"/>
              <a:gd name="connsiteX25" fmla="*/ 8127 w 8127"/>
              <a:gd name="connsiteY25" fmla="*/ 1551 h 10000"/>
              <a:gd name="connsiteX0" fmla="*/ 0 w 9951"/>
              <a:gd name="connsiteY0" fmla="*/ 6131 h 10000"/>
              <a:gd name="connsiteX1" fmla="*/ 49 w 9951"/>
              <a:gd name="connsiteY1" fmla="*/ 5607 h 10000"/>
              <a:gd name="connsiteX2" fmla="*/ 1646 w 9951"/>
              <a:gd name="connsiteY2" fmla="*/ 5607 h 10000"/>
              <a:gd name="connsiteX3" fmla="*/ 1696 w 9951"/>
              <a:gd name="connsiteY3" fmla="*/ 6131 h 10000"/>
              <a:gd name="connsiteX4" fmla="*/ 1696 w 9951"/>
              <a:gd name="connsiteY4" fmla="*/ 9477 h 10000"/>
              <a:gd name="connsiteX5" fmla="*/ 1747 w 9951"/>
              <a:gd name="connsiteY5" fmla="*/ 10000 h 10000"/>
              <a:gd name="connsiteX6" fmla="*/ 2182 w 9951"/>
              <a:gd name="connsiteY6" fmla="*/ 10000 h 10000"/>
              <a:gd name="connsiteX7" fmla="*/ 2231 w 9951"/>
              <a:gd name="connsiteY7" fmla="*/ 9477 h 10000"/>
              <a:gd name="connsiteX8" fmla="*/ 2231 w 9951"/>
              <a:gd name="connsiteY8" fmla="*/ 7178 h 10000"/>
              <a:gd name="connsiteX9" fmla="*/ 2278 w 9951"/>
              <a:gd name="connsiteY9" fmla="*/ 6654 h 10000"/>
              <a:gd name="connsiteX10" fmla="*/ 2815 w 9951"/>
              <a:gd name="connsiteY10" fmla="*/ 6654 h 10000"/>
              <a:gd name="connsiteX11" fmla="*/ 2866 w 9951"/>
              <a:gd name="connsiteY11" fmla="*/ 7178 h 10000"/>
              <a:gd name="connsiteX12" fmla="*/ 2866 w 9951"/>
              <a:gd name="connsiteY12" fmla="*/ 8411 h 10000"/>
              <a:gd name="connsiteX13" fmla="*/ 2915 w 9951"/>
              <a:gd name="connsiteY13" fmla="*/ 8935 h 10000"/>
              <a:gd name="connsiteX14" fmla="*/ 6624 w 9951"/>
              <a:gd name="connsiteY14" fmla="*/ 8935 h 10000"/>
              <a:gd name="connsiteX15" fmla="*/ 6673 w 9951"/>
              <a:gd name="connsiteY15" fmla="*/ 8411 h 10000"/>
              <a:gd name="connsiteX16" fmla="*/ 6673 w 9951"/>
              <a:gd name="connsiteY16" fmla="*/ 523 h 10000"/>
              <a:gd name="connsiteX17" fmla="*/ 6721 w 9951"/>
              <a:gd name="connsiteY17" fmla="*/ 0 h 10000"/>
              <a:gd name="connsiteX18" fmla="*/ 7944 w 9951"/>
              <a:gd name="connsiteY18" fmla="*/ 0 h 10000"/>
              <a:gd name="connsiteX19" fmla="*/ 7994 w 9951"/>
              <a:gd name="connsiteY19" fmla="*/ 523 h 10000"/>
              <a:gd name="connsiteX20" fmla="*/ 7994 w 9951"/>
              <a:gd name="connsiteY20" fmla="*/ 7159 h 10000"/>
              <a:gd name="connsiteX21" fmla="*/ 8042 w 9951"/>
              <a:gd name="connsiteY21" fmla="*/ 7682 h 10000"/>
              <a:gd name="connsiteX22" fmla="*/ 9902 w 9951"/>
              <a:gd name="connsiteY22" fmla="*/ 7682 h 10000"/>
              <a:gd name="connsiteX23" fmla="*/ 9951 w 9951"/>
              <a:gd name="connsiteY23" fmla="*/ 7159 h 10000"/>
              <a:gd name="connsiteX24" fmla="*/ 9951 w 9951"/>
              <a:gd name="connsiteY24" fmla="*/ 2075 h 10000"/>
              <a:gd name="connsiteX0" fmla="*/ 0 w 10000"/>
              <a:gd name="connsiteY0" fmla="*/ 6131 h 10000"/>
              <a:gd name="connsiteX1" fmla="*/ 49 w 10000"/>
              <a:gd name="connsiteY1" fmla="*/ 5607 h 10000"/>
              <a:gd name="connsiteX2" fmla="*/ 1654 w 10000"/>
              <a:gd name="connsiteY2" fmla="*/ 5607 h 10000"/>
              <a:gd name="connsiteX3" fmla="*/ 1704 w 10000"/>
              <a:gd name="connsiteY3" fmla="*/ 6131 h 10000"/>
              <a:gd name="connsiteX4" fmla="*/ 1704 w 10000"/>
              <a:gd name="connsiteY4" fmla="*/ 9477 h 10000"/>
              <a:gd name="connsiteX5" fmla="*/ 1756 w 10000"/>
              <a:gd name="connsiteY5" fmla="*/ 10000 h 10000"/>
              <a:gd name="connsiteX6" fmla="*/ 2193 w 10000"/>
              <a:gd name="connsiteY6" fmla="*/ 10000 h 10000"/>
              <a:gd name="connsiteX7" fmla="*/ 2242 w 10000"/>
              <a:gd name="connsiteY7" fmla="*/ 9477 h 10000"/>
              <a:gd name="connsiteX8" fmla="*/ 2242 w 10000"/>
              <a:gd name="connsiteY8" fmla="*/ 7178 h 10000"/>
              <a:gd name="connsiteX9" fmla="*/ 2289 w 10000"/>
              <a:gd name="connsiteY9" fmla="*/ 6654 h 10000"/>
              <a:gd name="connsiteX10" fmla="*/ 2829 w 10000"/>
              <a:gd name="connsiteY10" fmla="*/ 6654 h 10000"/>
              <a:gd name="connsiteX11" fmla="*/ 2880 w 10000"/>
              <a:gd name="connsiteY11" fmla="*/ 7178 h 10000"/>
              <a:gd name="connsiteX12" fmla="*/ 2880 w 10000"/>
              <a:gd name="connsiteY12" fmla="*/ 8411 h 10000"/>
              <a:gd name="connsiteX13" fmla="*/ 2929 w 10000"/>
              <a:gd name="connsiteY13" fmla="*/ 8935 h 10000"/>
              <a:gd name="connsiteX14" fmla="*/ 6657 w 10000"/>
              <a:gd name="connsiteY14" fmla="*/ 8935 h 10000"/>
              <a:gd name="connsiteX15" fmla="*/ 6706 w 10000"/>
              <a:gd name="connsiteY15" fmla="*/ 8411 h 10000"/>
              <a:gd name="connsiteX16" fmla="*/ 6706 w 10000"/>
              <a:gd name="connsiteY16" fmla="*/ 523 h 10000"/>
              <a:gd name="connsiteX17" fmla="*/ 6754 w 10000"/>
              <a:gd name="connsiteY17" fmla="*/ 0 h 10000"/>
              <a:gd name="connsiteX18" fmla="*/ 7983 w 10000"/>
              <a:gd name="connsiteY18" fmla="*/ 0 h 10000"/>
              <a:gd name="connsiteX19" fmla="*/ 8033 w 10000"/>
              <a:gd name="connsiteY19" fmla="*/ 523 h 10000"/>
              <a:gd name="connsiteX20" fmla="*/ 8033 w 10000"/>
              <a:gd name="connsiteY20" fmla="*/ 7159 h 10000"/>
              <a:gd name="connsiteX21" fmla="*/ 8082 w 10000"/>
              <a:gd name="connsiteY21" fmla="*/ 7682 h 10000"/>
              <a:gd name="connsiteX22" fmla="*/ 9951 w 10000"/>
              <a:gd name="connsiteY22" fmla="*/ 7682 h 10000"/>
              <a:gd name="connsiteX23" fmla="*/ 10000 w 10000"/>
              <a:gd name="connsiteY23" fmla="*/ 7159 h 10000"/>
              <a:gd name="connsiteX0" fmla="*/ 0 w 9951"/>
              <a:gd name="connsiteY0" fmla="*/ 6131 h 10000"/>
              <a:gd name="connsiteX1" fmla="*/ 49 w 9951"/>
              <a:gd name="connsiteY1" fmla="*/ 5607 h 10000"/>
              <a:gd name="connsiteX2" fmla="*/ 1654 w 9951"/>
              <a:gd name="connsiteY2" fmla="*/ 5607 h 10000"/>
              <a:gd name="connsiteX3" fmla="*/ 1704 w 9951"/>
              <a:gd name="connsiteY3" fmla="*/ 6131 h 10000"/>
              <a:gd name="connsiteX4" fmla="*/ 1704 w 9951"/>
              <a:gd name="connsiteY4" fmla="*/ 9477 h 10000"/>
              <a:gd name="connsiteX5" fmla="*/ 1756 w 9951"/>
              <a:gd name="connsiteY5" fmla="*/ 10000 h 10000"/>
              <a:gd name="connsiteX6" fmla="*/ 2193 w 9951"/>
              <a:gd name="connsiteY6" fmla="*/ 10000 h 10000"/>
              <a:gd name="connsiteX7" fmla="*/ 2242 w 9951"/>
              <a:gd name="connsiteY7" fmla="*/ 9477 h 10000"/>
              <a:gd name="connsiteX8" fmla="*/ 2242 w 9951"/>
              <a:gd name="connsiteY8" fmla="*/ 7178 h 10000"/>
              <a:gd name="connsiteX9" fmla="*/ 2289 w 9951"/>
              <a:gd name="connsiteY9" fmla="*/ 6654 h 10000"/>
              <a:gd name="connsiteX10" fmla="*/ 2829 w 9951"/>
              <a:gd name="connsiteY10" fmla="*/ 6654 h 10000"/>
              <a:gd name="connsiteX11" fmla="*/ 2880 w 9951"/>
              <a:gd name="connsiteY11" fmla="*/ 7178 h 10000"/>
              <a:gd name="connsiteX12" fmla="*/ 2880 w 9951"/>
              <a:gd name="connsiteY12" fmla="*/ 8411 h 10000"/>
              <a:gd name="connsiteX13" fmla="*/ 2929 w 9951"/>
              <a:gd name="connsiteY13" fmla="*/ 8935 h 10000"/>
              <a:gd name="connsiteX14" fmla="*/ 6657 w 9951"/>
              <a:gd name="connsiteY14" fmla="*/ 8935 h 10000"/>
              <a:gd name="connsiteX15" fmla="*/ 6706 w 9951"/>
              <a:gd name="connsiteY15" fmla="*/ 8411 h 10000"/>
              <a:gd name="connsiteX16" fmla="*/ 6706 w 9951"/>
              <a:gd name="connsiteY16" fmla="*/ 523 h 10000"/>
              <a:gd name="connsiteX17" fmla="*/ 6754 w 9951"/>
              <a:gd name="connsiteY17" fmla="*/ 0 h 10000"/>
              <a:gd name="connsiteX18" fmla="*/ 7983 w 9951"/>
              <a:gd name="connsiteY18" fmla="*/ 0 h 10000"/>
              <a:gd name="connsiteX19" fmla="*/ 8033 w 9951"/>
              <a:gd name="connsiteY19" fmla="*/ 523 h 10000"/>
              <a:gd name="connsiteX20" fmla="*/ 8033 w 9951"/>
              <a:gd name="connsiteY20" fmla="*/ 7159 h 10000"/>
              <a:gd name="connsiteX21" fmla="*/ 8082 w 9951"/>
              <a:gd name="connsiteY21" fmla="*/ 7682 h 10000"/>
              <a:gd name="connsiteX22" fmla="*/ 9951 w 9951"/>
              <a:gd name="connsiteY22" fmla="*/ 7682 h 10000"/>
              <a:gd name="connsiteX0" fmla="*/ 0 w 10000"/>
              <a:gd name="connsiteY0" fmla="*/ 6131 h 10000"/>
              <a:gd name="connsiteX1" fmla="*/ 1662 w 10000"/>
              <a:gd name="connsiteY1" fmla="*/ 5607 h 10000"/>
              <a:gd name="connsiteX2" fmla="*/ 1712 w 10000"/>
              <a:gd name="connsiteY2" fmla="*/ 6131 h 10000"/>
              <a:gd name="connsiteX3" fmla="*/ 1712 w 10000"/>
              <a:gd name="connsiteY3" fmla="*/ 9477 h 10000"/>
              <a:gd name="connsiteX4" fmla="*/ 1765 w 10000"/>
              <a:gd name="connsiteY4" fmla="*/ 10000 h 10000"/>
              <a:gd name="connsiteX5" fmla="*/ 2204 w 10000"/>
              <a:gd name="connsiteY5" fmla="*/ 10000 h 10000"/>
              <a:gd name="connsiteX6" fmla="*/ 2253 w 10000"/>
              <a:gd name="connsiteY6" fmla="*/ 9477 h 10000"/>
              <a:gd name="connsiteX7" fmla="*/ 2253 w 10000"/>
              <a:gd name="connsiteY7" fmla="*/ 7178 h 10000"/>
              <a:gd name="connsiteX8" fmla="*/ 2300 w 10000"/>
              <a:gd name="connsiteY8" fmla="*/ 6654 h 10000"/>
              <a:gd name="connsiteX9" fmla="*/ 2843 w 10000"/>
              <a:gd name="connsiteY9" fmla="*/ 6654 h 10000"/>
              <a:gd name="connsiteX10" fmla="*/ 2894 w 10000"/>
              <a:gd name="connsiteY10" fmla="*/ 7178 h 10000"/>
              <a:gd name="connsiteX11" fmla="*/ 2894 w 10000"/>
              <a:gd name="connsiteY11" fmla="*/ 8411 h 10000"/>
              <a:gd name="connsiteX12" fmla="*/ 2943 w 10000"/>
              <a:gd name="connsiteY12" fmla="*/ 8935 h 10000"/>
              <a:gd name="connsiteX13" fmla="*/ 6690 w 10000"/>
              <a:gd name="connsiteY13" fmla="*/ 8935 h 10000"/>
              <a:gd name="connsiteX14" fmla="*/ 6739 w 10000"/>
              <a:gd name="connsiteY14" fmla="*/ 8411 h 10000"/>
              <a:gd name="connsiteX15" fmla="*/ 6739 w 10000"/>
              <a:gd name="connsiteY15" fmla="*/ 523 h 10000"/>
              <a:gd name="connsiteX16" fmla="*/ 6787 w 10000"/>
              <a:gd name="connsiteY16" fmla="*/ 0 h 10000"/>
              <a:gd name="connsiteX17" fmla="*/ 8022 w 10000"/>
              <a:gd name="connsiteY17" fmla="*/ 0 h 10000"/>
              <a:gd name="connsiteX18" fmla="*/ 8073 w 10000"/>
              <a:gd name="connsiteY18" fmla="*/ 523 h 10000"/>
              <a:gd name="connsiteX19" fmla="*/ 8073 w 10000"/>
              <a:gd name="connsiteY19" fmla="*/ 7159 h 10000"/>
              <a:gd name="connsiteX20" fmla="*/ 8122 w 10000"/>
              <a:gd name="connsiteY20" fmla="*/ 7682 h 10000"/>
              <a:gd name="connsiteX21" fmla="*/ 10000 w 10000"/>
              <a:gd name="connsiteY21" fmla="*/ 7682 h 10000"/>
              <a:gd name="connsiteX0" fmla="*/ 0 w 8657"/>
              <a:gd name="connsiteY0" fmla="*/ 5687 h 10000"/>
              <a:gd name="connsiteX1" fmla="*/ 319 w 8657"/>
              <a:gd name="connsiteY1" fmla="*/ 5607 h 10000"/>
              <a:gd name="connsiteX2" fmla="*/ 369 w 8657"/>
              <a:gd name="connsiteY2" fmla="*/ 6131 h 10000"/>
              <a:gd name="connsiteX3" fmla="*/ 369 w 8657"/>
              <a:gd name="connsiteY3" fmla="*/ 9477 h 10000"/>
              <a:gd name="connsiteX4" fmla="*/ 422 w 8657"/>
              <a:gd name="connsiteY4" fmla="*/ 10000 h 10000"/>
              <a:gd name="connsiteX5" fmla="*/ 861 w 8657"/>
              <a:gd name="connsiteY5" fmla="*/ 10000 h 10000"/>
              <a:gd name="connsiteX6" fmla="*/ 910 w 8657"/>
              <a:gd name="connsiteY6" fmla="*/ 9477 h 10000"/>
              <a:gd name="connsiteX7" fmla="*/ 910 w 8657"/>
              <a:gd name="connsiteY7" fmla="*/ 7178 h 10000"/>
              <a:gd name="connsiteX8" fmla="*/ 957 w 8657"/>
              <a:gd name="connsiteY8" fmla="*/ 6654 h 10000"/>
              <a:gd name="connsiteX9" fmla="*/ 1500 w 8657"/>
              <a:gd name="connsiteY9" fmla="*/ 6654 h 10000"/>
              <a:gd name="connsiteX10" fmla="*/ 1551 w 8657"/>
              <a:gd name="connsiteY10" fmla="*/ 7178 h 10000"/>
              <a:gd name="connsiteX11" fmla="*/ 1551 w 8657"/>
              <a:gd name="connsiteY11" fmla="*/ 8411 h 10000"/>
              <a:gd name="connsiteX12" fmla="*/ 1600 w 8657"/>
              <a:gd name="connsiteY12" fmla="*/ 8935 h 10000"/>
              <a:gd name="connsiteX13" fmla="*/ 5347 w 8657"/>
              <a:gd name="connsiteY13" fmla="*/ 8935 h 10000"/>
              <a:gd name="connsiteX14" fmla="*/ 5396 w 8657"/>
              <a:gd name="connsiteY14" fmla="*/ 8411 h 10000"/>
              <a:gd name="connsiteX15" fmla="*/ 5396 w 8657"/>
              <a:gd name="connsiteY15" fmla="*/ 523 h 10000"/>
              <a:gd name="connsiteX16" fmla="*/ 5444 w 8657"/>
              <a:gd name="connsiteY16" fmla="*/ 0 h 10000"/>
              <a:gd name="connsiteX17" fmla="*/ 6679 w 8657"/>
              <a:gd name="connsiteY17" fmla="*/ 0 h 10000"/>
              <a:gd name="connsiteX18" fmla="*/ 6730 w 8657"/>
              <a:gd name="connsiteY18" fmla="*/ 523 h 10000"/>
              <a:gd name="connsiteX19" fmla="*/ 6730 w 8657"/>
              <a:gd name="connsiteY19" fmla="*/ 7159 h 10000"/>
              <a:gd name="connsiteX20" fmla="*/ 6779 w 8657"/>
              <a:gd name="connsiteY20" fmla="*/ 7682 h 10000"/>
              <a:gd name="connsiteX21" fmla="*/ 8657 w 8657"/>
              <a:gd name="connsiteY21" fmla="*/ 7682 h 10000"/>
              <a:gd name="connsiteX0" fmla="*/ 0 w 10000"/>
              <a:gd name="connsiteY0" fmla="*/ 5583 h 10000"/>
              <a:gd name="connsiteX1" fmla="*/ 368 w 10000"/>
              <a:gd name="connsiteY1" fmla="*/ 5607 h 10000"/>
              <a:gd name="connsiteX2" fmla="*/ 426 w 10000"/>
              <a:gd name="connsiteY2" fmla="*/ 6131 h 10000"/>
              <a:gd name="connsiteX3" fmla="*/ 426 w 10000"/>
              <a:gd name="connsiteY3" fmla="*/ 9477 h 10000"/>
              <a:gd name="connsiteX4" fmla="*/ 487 w 10000"/>
              <a:gd name="connsiteY4" fmla="*/ 10000 h 10000"/>
              <a:gd name="connsiteX5" fmla="*/ 995 w 10000"/>
              <a:gd name="connsiteY5" fmla="*/ 10000 h 10000"/>
              <a:gd name="connsiteX6" fmla="*/ 1051 w 10000"/>
              <a:gd name="connsiteY6" fmla="*/ 9477 h 10000"/>
              <a:gd name="connsiteX7" fmla="*/ 1051 w 10000"/>
              <a:gd name="connsiteY7" fmla="*/ 7178 h 10000"/>
              <a:gd name="connsiteX8" fmla="*/ 1105 w 10000"/>
              <a:gd name="connsiteY8" fmla="*/ 6654 h 10000"/>
              <a:gd name="connsiteX9" fmla="*/ 1733 w 10000"/>
              <a:gd name="connsiteY9" fmla="*/ 6654 h 10000"/>
              <a:gd name="connsiteX10" fmla="*/ 1792 w 10000"/>
              <a:gd name="connsiteY10" fmla="*/ 7178 h 10000"/>
              <a:gd name="connsiteX11" fmla="*/ 1792 w 10000"/>
              <a:gd name="connsiteY11" fmla="*/ 8411 h 10000"/>
              <a:gd name="connsiteX12" fmla="*/ 1848 w 10000"/>
              <a:gd name="connsiteY12" fmla="*/ 8935 h 10000"/>
              <a:gd name="connsiteX13" fmla="*/ 6177 w 10000"/>
              <a:gd name="connsiteY13" fmla="*/ 8935 h 10000"/>
              <a:gd name="connsiteX14" fmla="*/ 6233 w 10000"/>
              <a:gd name="connsiteY14" fmla="*/ 8411 h 10000"/>
              <a:gd name="connsiteX15" fmla="*/ 6233 w 10000"/>
              <a:gd name="connsiteY15" fmla="*/ 523 h 10000"/>
              <a:gd name="connsiteX16" fmla="*/ 6289 w 10000"/>
              <a:gd name="connsiteY16" fmla="*/ 0 h 10000"/>
              <a:gd name="connsiteX17" fmla="*/ 7715 w 10000"/>
              <a:gd name="connsiteY17" fmla="*/ 0 h 10000"/>
              <a:gd name="connsiteX18" fmla="*/ 7774 w 10000"/>
              <a:gd name="connsiteY18" fmla="*/ 523 h 10000"/>
              <a:gd name="connsiteX19" fmla="*/ 7774 w 10000"/>
              <a:gd name="connsiteY19" fmla="*/ 7159 h 10000"/>
              <a:gd name="connsiteX20" fmla="*/ 7831 w 10000"/>
              <a:gd name="connsiteY20" fmla="*/ 7682 h 10000"/>
              <a:gd name="connsiteX21" fmla="*/ 10000 w 10000"/>
              <a:gd name="connsiteY21" fmla="*/ 7682 h 10000"/>
              <a:gd name="connsiteX0" fmla="*/ 0 w 10000"/>
              <a:gd name="connsiteY0" fmla="*/ 5583 h 10000"/>
              <a:gd name="connsiteX1" fmla="*/ 368 w 10000"/>
              <a:gd name="connsiteY1" fmla="*/ 5607 h 10000"/>
              <a:gd name="connsiteX2" fmla="*/ 426 w 10000"/>
              <a:gd name="connsiteY2" fmla="*/ 6131 h 10000"/>
              <a:gd name="connsiteX3" fmla="*/ 426 w 10000"/>
              <a:gd name="connsiteY3" fmla="*/ 9477 h 10000"/>
              <a:gd name="connsiteX4" fmla="*/ 487 w 10000"/>
              <a:gd name="connsiteY4" fmla="*/ 10000 h 10000"/>
              <a:gd name="connsiteX5" fmla="*/ 995 w 10000"/>
              <a:gd name="connsiteY5" fmla="*/ 10000 h 10000"/>
              <a:gd name="connsiteX6" fmla="*/ 1051 w 10000"/>
              <a:gd name="connsiteY6" fmla="*/ 9477 h 10000"/>
              <a:gd name="connsiteX7" fmla="*/ 1051 w 10000"/>
              <a:gd name="connsiteY7" fmla="*/ 7178 h 10000"/>
              <a:gd name="connsiteX8" fmla="*/ 1105 w 10000"/>
              <a:gd name="connsiteY8" fmla="*/ 6654 h 10000"/>
              <a:gd name="connsiteX9" fmla="*/ 1733 w 10000"/>
              <a:gd name="connsiteY9" fmla="*/ 6654 h 10000"/>
              <a:gd name="connsiteX10" fmla="*/ 1792 w 10000"/>
              <a:gd name="connsiteY10" fmla="*/ 7178 h 10000"/>
              <a:gd name="connsiteX11" fmla="*/ 1792 w 10000"/>
              <a:gd name="connsiteY11" fmla="*/ 8411 h 10000"/>
              <a:gd name="connsiteX12" fmla="*/ 1848 w 10000"/>
              <a:gd name="connsiteY12" fmla="*/ 8935 h 10000"/>
              <a:gd name="connsiteX13" fmla="*/ 6177 w 10000"/>
              <a:gd name="connsiteY13" fmla="*/ 8935 h 10000"/>
              <a:gd name="connsiteX14" fmla="*/ 6233 w 10000"/>
              <a:gd name="connsiteY14" fmla="*/ 8411 h 10000"/>
              <a:gd name="connsiteX15" fmla="*/ 6233 w 10000"/>
              <a:gd name="connsiteY15" fmla="*/ 523 h 10000"/>
              <a:gd name="connsiteX16" fmla="*/ 6289 w 10000"/>
              <a:gd name="connsiteY16" fmla="*/ 0 h 10000"/>
              <a:gd name="connsiteX17" fmla="*/ 7715 w 10000"/>
              <a:gd name="connsiteY17" fmla="*/ 0 h 10000"/>
              <a:gd name="connsiteX18" fmla="*/ 7774 w 10000"/>
              <a:gd name="connsiteY18" fmla="*/ 523 h 10000"/>
              <a:gd name="connsiteX19" fmla="*/ 7774 w 10000"/>
              <a:gd name="connsiteY19" fmla="*/ 7159 h 10000"/>
              <a:gd name="connsiteX20" fmla="*/ 7831 w 10000"/>
              <a:gd name="connsiteY20" fmla="*/ 7682 h 10000"/>
              <a:gd name="connsiteX21" fmla="*/ 10000 w 10000"/>
              <a:gd name="connsiteY21" fmla="*/ 7682 h 10000"/>
              <a:gd name="connsiteX0" fmla="*/ 0 w 10000"/>
              <a:gd name="connsiteY0" fmla="*/ 5609 h 10000"/>
              <a:gd name="connsiteX1" fmla="*/ 368 w 10000"/>
              <a:gd name="connsiteY1" fmla="*/ 5607 h 10000"/>
              <a:gd name="connsiteX2" fmla="*/ 426 w 10000"/>
              <a:gd name="connsiteY2" fmla="*/ 6131 h 10000"/>
              <a:gd name="connsiteX3" fmla="*/ 426 w 10000"/>
              <a:gd name="connsiteY3" fmla="*/ 9477 h 10000"/>
              <a:gd name="connsiteX4" fmla="*/ 487 w 10000"/>
              <a:gd name="connsiteY4" fmla="*/ 10000 h 10000"/>
              <a:gd name="connsiteX5" fmla="*/ 995 w 10000"/>
              <a:gd name="connsiteY5" fmla="*/ 10000 h 10000"/>
              <a:gd name="connsiteX6" fmla="*/ 1051 w 10000"/>
              <a:gd name="connsiteY6" fmla="*/ 9477 h 10000"/>
              <a:gd name="connsiteX7" fmla="*/ 1051 w 10000"/>
              <a:gd name="connsiteY7" fmla="*/ 7178 h 10000"/>
              <a:gd name="connsiteX8" fmla="*/ 1105 w 10000"/>
              <a:gd name="connsiteY8" fmla="*/ 6654 h 10000"/>
              <a:gd name="connsiteX9" fmla="*/ 1733 w 10000"/>
              <a:gd name="connsiteY9" fmla="*/ 6654 h 10000"/>
              <a:gd name="connsiteX10" fmla="*/ 1792 w 10000"/>
              <a:gd name="connsiteY10" fmla="*/ 7178 h 10000"/>
              <a:gd name="connsiteX11" fmla="*/ 1792 w 10000"/>
              <a:gd name="connsiteY11" fmla="*/ 8411 h 10000"/>
              <a:gd name="connsiteX12" fmla="*/ 1848 w 10000"/>
              <a:gd name="connsiteY12" fmla="*/ 8935 h 10000"/>
              <a:gd name="connsiteX13" fmla="*/ 6177 w 10000"/>
              <a:gd name="connsiteY13" fmla="*/ 8935 h 10000"/>
              <a:gd name="connsiteX14" fmla="*/ 6233 w 10000"/>
              <a:gd name="connsiteY14" fmla="*/ 8411 h 10000"/>
              <a:gd name="connsiteX15" fmla="*/ 6233 w 10000"/>
              <a:gd name="connsiteY15" fmla="*/ 523 h 10000"/>
              <a:gd name="connsiteX16" fmla="*/ 6289 w 10000"/>
              <a:gd name="connsiteY16" fmla="*/ 0 h 10000"/>
              <a:gd name="connsiteX17" fmla="*/ 7715 w 10000"/>
              <a:gd name="connsiteY17" fmla="*/ 0 h 10000"/>
              <a:gd name="connsiteX18" fmla="*/ 7774 w 10000"/>
              <a:gd name="connsiteY18" fmla="*/ 523 h 10000"/>
              <a:gd name="connsiteX19" fmla="*/ 7774 w 10000"/>
              <a:gd name="connsiteY19" fmla="*/ 7159 h 10000"/>
              <a:gd name="connsiteX20" fmla="*/ 7831 w 10000"/>
              <a:gd name="connsiteY20" fmla="*/ 7682 h 10000"/>
              <a:gd name="connsiteX21" fmla="*/ 10000 w 10000"/>
              <a:gd name="connsiteY21" fmla="*/ 7682 h 10000"/>
              <a:gd name="connsiteX0" fmla="*/ 0 w 8282"/>
              <a:gd name="connsiteY0" fmla="*/ 5609 h 10000"/>
              <a:gd name="connsiteX1" fmla="*/ 368 w 8282"/>
              <a:gd name="connsiteY1" fmla="*/ 5607 h 10000"/>
              <a:gd name="connsiteX2" fmla="*/ 426 w 8282"/>
              <a:gd name="connsiteY2" fmla="*/ 6131 h 10000"/>
              <a:gd name="connsiteX3" fmla="*/ 426 w 8282"/>
              <a:gd name="connsiteY3" fmla="*/ 9477 h 10000"/>
              <a:gd name="connsiteX4" fmla="*/ 487 w 8282"/>
              <a:gd name="connsiteY4" fmla="*/ 10000 h 10000"/>
              <a:gd name="connsiteX5" fmla="*/ 995 w 8282"/>
              <a:gd name="connsiteY5" fmla="*/ 10000 h 10000"/>
              <a:gd name="connsiteX6" fmla="*/ 1051 w 8282"/>
              <a:gd name="connsiteY6" fmla="*/ 9477 h 10000"/>
              <a:gd name="connsiteX7" fmla="*/ 1051 w 8282"/>
              <a:gd name="connsiteY7" fmla="*/ 7178 h 10000"/>
              <a:gd name="connsiteX8" fmla="*/ 1105 w 8282"/>
              <a:gd name="connsiteY8" fmla="*/ 6654 h 10000"/>
              <a:gd name="connsiteX9" fmla="*/ 1733 w 8282"/>
              <a:gd name="connsiteY9" fmla="*/ 6654 h 10000"/>
              <a:gd name="connsiteX10" fmla="*/ 1792 w 8282"/>
              <a:gd name="connsiteY10" fmla="*/ 7178 h 10000"/>
              <a:gd name="connsiteX11" fmla="*/ 1792 w 8282"/>
              <a:gd name="connsiteY11" fmla="*/ 8411 h 10000"/>
              <a:gd name="connsiteX12" fmla="*/ 1848 w 8282"/>
              <a:gd name="connsiteY12" fmla="*/ 8935 h 10000"/>
              <a:gd name="connsiteX13" fmla="*/ 6177 w 8282"/>
              <a:gd name="connsiteY13" fmla="*/ 8935 h 10000"/>
              <a:gd name="connsiteX14" fmla="*/ 6233 w 8282"/>
              <a:gd name="connsiteY14" fmla="*/ 8411 h 10000"/>
              <a:gd name="connsiteX15" fmla="*/ 6233 w 8282"/>
              <a:gd name="connsiteY15" fmla="*/ 523 h 10000"/>
              <a:gd name="connsiteX16" fmla="*/ 6289 w 8282"/>
              <a:gd name="connsiteY16" fmla="*/ 0 h 10000"/>
              <a:gd name="connsiteX17" fmla="*/ 7715 w 8282"/>
              <a:gd name="connsiteY17" fmla="*/ 0 h 10000"/>
              <a:gd name="connsiteX18" fmla="*/ 7774 w 8282"/>
              <a:gd name="connsiteY18" fmla="*/ 523 h 10000"/>
              <a:gd name="connsiteX19" fmla="*/ 7774 w 8282"/>
              <a:gd name="connsiteY19" fmla="*/ 7159 h 10000"/>
              <a:gd name="connsiteX20" fmla="*/ 7831 w 8282"/>
              <a:gd name="connsiteY20" fmla="*/ 7682 h 10000"/>
              <a:gd name="connsiteX21" fmla="*/ 8282 w 8282"/>
              <a:gd name="connsiteY21" fmla="*/ 7682 h 10000"/>
              <a:gd name="connsiteX0" fmla="*/ 0 w 10017"/>
              <a:gd name="connsiteY0" fmla="*/ 5609 h 10000"/>
              <a:gd name="connsiteX1" fmla="*/ 444 w 10017"/>
              <a:gd name="connsiteY1" fmla="*/ 5607 h 10000"/>
              <a:gd name="connsiteX2" fmla="*/ 514 w 10017"/>
              <a:gd name="connsiteY2" fmla="*/ 6131 h 10000"/>
              <a:gd name="connsiteX3" fmla="*/ 514 w 10017"/>
              <a:gd name="connsiteY3" fmla="*/ 9477 h 10000"/>
              <a:gd name="connsiteX4" fmla="*/ 588 w 10017"/>
              <a:gd name="connsiteY4" fmla="*/ 10000 h 10000"/>
              <a:gd name="connsiteX5" fmla="*/ 1201 w 10017"/>
              <a:gd name="connsiteY5" fmla="*/ 10000 h 10000"/>
              <a:gd name="connsiteX6" fmla="*/ 1269 w 10017"/>
              <a:gd name="connsiteY6" fmla="*/ 9477 h 10000"/>
              <a:gd name="connsiteX7" fmla="*/ 1269 w 10017"/>
              <a:gd name="connsiteY7" fmla="*/ 7178 h 10000"/>
              <a:gd name="connsiteX8" fmla="*/ 1334 w 10017"/>
              <a:gd name="connsiteY8" fmla="*/ 6654 h 10000"/>
              <a:gd name="connsiteX9" fmla="*/ 2092 w 10017"/>
              <a:gd name="connsiteY9" fmla="*/ 6654 h 10000"/>
              <a:gd name="connsiteX10" fmla="*/ 2164 w 10017"/>
              <a:gd name="connsiteY10" fmla="*/ 7178 h 10000"/>
              <a:gd name="connsiteX11" fmla="*/ 2164 w 10017"/>
              <a:gd name="connsiteY11" fmla="*/ 8411 h 10000"/>
              <a:gd name="connsiteX12" fmla="*/ 2231 w 10017"/>
              <a:gd name="connsiteY12" fmla="*/ 8935 h 10000"/>
              <a:gd name="connsiteX13" fmla="*/ 7458 w 10017"/>
              <a:gd name="connsiteY13" fmla="*/ 8935 h 10000"/>
              <a:gd name="connsiteX14" fmla="*/ 7526 w 10017"/>
              <a:gd name="connsiteY14" fmla="*/ 8411 h 10000"/>
              <a:gd name="connsiteX15" fmla="*/ 7526 w 10017"/>
              <a:gd name="connsiteY15" fmla="*/ 523 h 10000"/>
              <a:gd name="connsiteX16" fmla="*/ 7594 w 10017"/>
              <a:gd name="connsiteY16" fmla="*/ 0 h 10000"/>
              <a:gd name="connsiteX17" fmla="*/ 9315 w 10017"/>
              <a:gd name="connsiteY17" fmla="*/ 0 h 10000"/>
              <a:gd name="connsiteX18" fmla="*/ 9387 w 10017"/>
              <a:gd name="connsiteY18" fmla="*/ 523 h 10000"/>
              <a:gd name="connsiteX19" fmla="*/ 9387 w 10017"/>
              <a:gd name="connsiteY19" fmla="*/ 7159 h 10000"/>
              <a:gd name="connsiteX20" fmla="*/ 9455 w 10017"/>
              <a:gd name="connsiteY20" fmla="*/ 7682 h 10000"/>
              <a:gd name="connsiteX21" fmla="*/ 10017 w 10017"/>
              <a:gd name="connsiteY21" fmla="*/ 7682 h 10000"/>
              <a:gd name="connsiteX0" fmla="*/ 0 w 10017"/>
              <a:gd name="connsiteY0" fmla="*/ 5609 h 10000"/>
              <a:gd name="connsiteX1" fmla="*/ 444 w 10017"/>
              <a:gd name="connsiteY1" fmla="*/ 5607 h 10000"/>
              <a:gd name="connsiteX2" fmla="*/ 514 w 10017"/>
              <a:gd name="connsiteY2" fmla="*/ 6131 h 10000"/>
              <a:gd name="connsiteX3" fmla="*/ 514 w 10017"/>
              <a:gd name="connsiteY3" fmla="*/ 9477 h 10000"/>
              <a:gd name="connsiteX4" fmla="*/ 588 w 10017"/>
              <a:gd name="connsiteY4" fmla="*/ 10000 h 10000"/>
              <a:gd name="connsiteX5" fmla="*/ 1201 w 10017"/>
              <a:gd name="connsiteY5" fmla="*/ 10000 h 10000"/>
              <a:gd name="connsiteX6" fmla="*/ 1269 w 10017"/>
              <a:gd name="connsiteY6" fmla="*/ 9477 h 10000"/>
              <a:gd name="connsiteX7" fmla="*/ 1269 w 10017"/>
              <a:gd name="connsiteY7" fmla="*/ 7178 h 10000"/>
              <a:gd name="connsiteX8" fmla="*/ 1334 w 10017"/>
              <a:gd name="connsiteY8" fmla="*/ 6654 h 10000"/>
              <a:gd name="connsiteX9" fmla="*/ 2092 w 10017"/>
              <a:gd name="connsiteY9" fmla="*/ 6654 h 10000"/>
              <a:gd name="connsiteX10" fmla="*/ 2164 w 10017"/>
              <a:gd name="connsiteY10" fmla="*/ 7178 h 10000"/>
              <a:gd name="connsiteX11" fmla="*/ 2164 w 10017"/>
              <a:gd name="connsiteY11" fmla="*/ 8411 h 10000"/>
              <a:gd name="connsiteX12" fmla="*/ 2231 w 10017"/>
              <a:gd name="connsiteY12" fmla="*/ 8935 h 10000"/>
              <a:gd name="connsiteX13" fmla="*/ 7458 w 10017"/>
              <a:gd name="connsiteY13" fmla="*/ 8935 h 10000"/>
              <a:gd name="connsiteX14" fmla="*/ 7526 w 10017"/>
              <a:gd name="connsiteY14" fmla="*/ 8411 h 10000"/>
              <a:gd name="connsiteX15" fmla="*/ 7526 w 10017"/>
              <a:gd name="connsiteY15" fmla="*/ 523 h 10000"/>
              <a:gd name="connsiteX16" fmla="*/ 7594 w 10017"/>
              <a:gd name="connsiteY16" fmla="*/ 0 h 10000"/>
              <a:gd name="connsiteX17" fmla="*/ 9315 w 10017"/>
              <a:gd name="connsiteY17" fmla="*/ 0 h 10000"/>
              <a:gd name="connsiteX18" fmla="*/ 9387 w 10017"/>
              <a:gd name="connsiteY18" fmla="*/ 523 h 10000"/>
              <a:gd name="connsiteX19" fmla="*/ 9387 w 10017"/>
              <a:gd name="connsiteY19" fmla="*/ 7159 h 10000"/>
              <a:gd name="connsiteX20" fmla="*/ 9455 w 10017"/>
              <a:gd name="connsiteY20" fmla="*/ 7682 h 10000"/>
              <a:gd name="connsiteX21" fmla="*/ 10017 w 10017"/>
              <a:gd name="connsiteY21" fmla="*/ 7682 h 10000"/>
              <a:gd name="connsiteX0" fmla="*/ 0 w 10017"/>
              <a:gd name="connsiteY0" fmla="*/ 5609 h 10000"/>
              <a:gd name="connsiteX1" fmla="*/ 444 w 10017"/>
              <a:gd name="connsiteY1" fmla="*/ 5607 h 10000"/>
              <a:gd name="connsiteX2" fmla="*/ 514 w 10017"/>
              <a:gd name="connsiteY2" fmla="*/ 6131 h 10000"/>
              <a:gd name="connsiteX3" fmla="*/ 514 w 10017"/>
              <a:gd name="connsiteY3" fmla="*/ 9477 h 10000"/>
              <a:gd name="connsiteX4" fmla="*/ 588 w 10017"/>
              <a:gd name="connsiteY4" fmla="*/ 10000 h 10000"/>
              <a:gd name="connsiteX5" fmla="*/ 1201 w 10017"/>
              <a:gd name="connsiteY5" fmla="*/ 10000 h 10000"/>
              <a:gd name="connsiteX6" fmla="*/ 1269 w 10017"/>
              <a:gd name="connsiteY6" fmla="*/ 9477 h 10000"/>
              <a:gd name="connsiteX7" fmla="*/ 1269 w 10017"/>
              <a:gd name="connsiteY7" fmla="*/ 7178 h 10000"/>
              <a:gd name="connsiteX8" fmla="*/ 1334 w 10017"/>
              <a:gd name="connsiteY8" fmla="*/ 6654 h 10000"/>
              <a:gd name="connsiteX9" fmla="*/ 2092 w 10017"/>
              <a:gd name="connsiteY9" fmla="*/ 6654 h 10000"/>
              <a:gd name="connsiteX10" fmla="*/ 2164 w 10017"/>
              <a:gd name="connsiteY10" fmla="*/ 7178 h 10000"/>
              <a:gd name="connsiteX11" fmla="*/ 2164 w 10017"/>
              <a:gd name="connsiteY11" fmla="*/ 8411 h 10000"/>
              <a:gd name="connsiteX12" fmla="*/ 2231 w 10017"/>
              <a:gd name="connsiteY12" fmla="*/ 8935 h 10000"/>
              <a:gd name="connsiteX13" fmla="*/ 7458 w 10017"/>
              <a:gd name="connsiteY13" fmla="*/ 8935 h 10000"/>
              <a:gd name="connsiteX14" fmla="*/ 7526 w 10017"/>
              <a:gd name="connsiteY14" fmla="*/ 8411 h 10000"/>
              <a:gd name="connsiteX15" fmla="*/ 7526 w 10017"/>
              <a:gd name="connsiteY15" fmla="*/ 523 h 10000"/>
              <a:gd name="connsiteX16" fmla="*/ 7594 w 10017"/>
              <a:gd name="connsiteY16" fmla="*/ 0 h 10000"/>
              <a:gd name="connsiteX17" fmla="*/ 9315 w 10017"/>
              <a:gd name="connsiteY17" fmla="*/ 0 h 10000"/>
              <a:gd name="connsiteX18" fmla="*/ 9387 w 10017"/>
              <a:gd name="connsiteY18" fmla="*/ 523 h 10000"/>
              <a:gd name="connsiteX19" fmla="*/ 9387 w 10017"/>
              <a:gd name="connsiteY19" fmla="*/ 7159 h 10000"/>
              <a:gd name="connsiteX20" fmla="*/ 9455 w 10017"/>
              <a:gd name="connsiteY20" fmla="*/ 7682 h 10000"/>
              <a:gd name="connsiteX21" fmla="*/ 10017 w 10017"/>
              <a:gd name="connsiteY21" fmla="*/ 7682 h 10000"/>
              <a:gd name="connsiteX0" fmla="*/ 0 w 10017"/>
              <a:gd name="connsiteY0" fmla="*/ 5609 h 10000"/>
              <a:gd name="connsiteX1" fmla="*/ 444 w 10017"/>
              <a:gd name="connsiteY1" fmla="*/ 5607 h 10000"/>
              <a:gd name="connsiteX2" fmla="*/ 514 w 10017"/>
              <a:gd name="connsiteY2" fmla="*/ 6131 h 10000"/>
              <a:gd name="connsiteX3" fmla="*/ 514 w 10017"/>
              <a:gd name="connsiteY3" fmla="*/ 9477 h 10000"/>
              <a:gd name="connsiteX4" fmla="*/ 588 w 10017"/>
              <a:gd name="connsiteY4" fmla="*/ 10000 h 10000"/>
              <a:gd name="connsiteX5" fmla="*/ 1201 w 10017"/>
              <a:gd name="connsiteY5" fmla="*/ 10000 h 10000"/>
              <a:gd name="connsiteX6" fmla="*/ 1269 w 10017"/>
              <a:gd name="connsiteY6" fmla="*/ 9477 h 10000"/>
              <a:gd name="connsiteX7" fmla="*/ 1269 w 10017"/>
              <a:gd name="connsiteY7" fmla="*/ 7178 h 10000"/>
              <a:gd name="connsiteX8" fmla="*/ 1334 w 10017"/>
              <a:gd name="connsiteY8" fmla="*/ 6654 h 10000"/>
              <a:gd name="connsiteX9" fmla="*/ 2092 w 10017"/>
              <a:gd name="connsiteY9" fmla="*/ 6654 h 10000"/>
              <a:gd name="connsiteX10" fmla="*/ 2164 w 10017"/>
              <a:gd name="connsiteY10" fmla="*/ 7178 h 10000"/>
              <a:gd name="connsiteX11" fmla="*/ 2164 w 10017"/>
              <a:gd name="connsiteY11" fmla="*/ 8411 h 10000"/>
              <a:gd name="connsiteX12" fmla="*/ 2231 w 10017"/>
              <a:gd name="connsiteY12" fmla="*/ 8935 h 10000"/>
              <a:gd name="connsiteX13" fmla="*/ 7458 w 10017"/>
              <a:gd name="connsiteY13" fmla="*/ 8935 h 10000"/>
              <a:gd name="connsiteX14" fmla="*/ 7526 w 10017"/>
              <a:gd name="connsiteY14" fmla="*/ 8411 h 10000"/>
              <a:gd name="connsiteX15" fmla="*/ 7526 w 10017"/>
              <a:gd name="connsiteY15" fmla="*/ 523 h 10000"/>
              <a:gd name="connsiteX16" fmla="*/ 7594 w 10017"/>
              <a:gd name="connsiteY16" fmla="*/ 0 h 10000"/>
              <a:gd name="connsiteX17" fmla="*/ 9315 w 10017"/>
              <a:gd name="connsiteY17" fmla="*/ 0 h 10000"/>
              <a:gd name="connsiteX18" fmla="*/ 9387 w 10017"/>
              <a:gd name="connsiteY18" fmla="*/ 523 h 10000"/>
              <a:gd name="connsiteX19" fmla="*/ 9387 w 10017"/>
              <a:gd name="connsiteY19" fmla="*/ 7159 h 10000"/>
              <a:gd name="connsiteX20" fmla="*/ 9455 w 10017"/>
              <a:gd name="connsiteY20" fmla="*/ 7682 h 10000"/>
              <a:gd name="connsiteX21" fmla="*/ 10017 w 10017"/>
              <a:gd name="connsiteY21" fmla="*/ 7682 h 10000"/>
              <a:gd name="connsiteX0" fmla="*/ 0 w 10017"/>
              <a:gd name="connsiteY0" fmla="*/ 5609 h 10000"/>
              <a:gd name="connsiteX1" fmla="*/ 444 w 10017"/>
              <a:gd name="connsiteY1" fmla="*/ 5607 h 10000"/>
              <a:gd name="connsiteX2" fmla="*/ 514 w 10017"/>
              <a:gd name="connsiteY2" fmla="*/ 6131 h 10000"/>
              <a:gd name="connsiteX3" fmla="*/ 514 w 10017"/>
              <a:gd name="connsiteY3" fmla="*/ 9477 h 10000"/>
              <a:gd name="connsiteX4" fmla="*/ 588 w 10017"/>
              <a:gd name="connsiteY4" fmla="*/ 10000 h 10000"/>
              <a:gd name="connsiteX5" fmla="*/ 1201 w 10017"/>
              <a:gd name="connsiteY5" fmla="*/ 10000 h 10000"/>
              <a:gd name="connsiteX6" fmla="*/ 1269 w 10017"/>
              <a:gd name="connsiteY6" fmla="*/ 9477 h 10000"/>
              <a:gd name="connsiteX7" fmla="*/ 1269 w 10017"/>
              <a:gd name="connsiteY7" fmla="*/ 7178 h 10000"/>
              <a:gd name="connsiteX8" fmla="*/ 1334 w 10017"/>
              <a:gd name="connsiteY8" fmla="*/ 6654 h 10000"/>
              <a:gd name="connsiteX9" fmla="*/ 2092 w 10017"/>
              <a:gd name="connsiteY9" fmla="*/ 6654 h 10000"/>
              <a:gd name="connsiteX10" fmla="*/ 2164 w 10017"/>
              <a:gd name="connsiteY10" fmla="*/ 7178 h 10000"/>
              <a:gd name="connsiteX11" fmla="*/ 2164 w 10017"/>
              <a:gd name="connsiteY11" fmla="*/ 8411 h 10000"/>
              <a:gd name="connsiteX12" fmla="*/ 2231 w 10017"/>
              <a:gd name="connsiteY12" fmla="*/ 8935 h 10000"/>
              <a:gd name="connsiteX13" fmla="*/ 7458 w 10017"/>
              <a:gd name="connsiteY13" fmla="*/ 8935 h 10000"/>
              <a:gd name="connsiteX14" fmla="*/ 7526 w 10017"/>
              <a:gd name="connsiteY14" fmla="*/ 8411 h 10000"/>
              <a:gd name="connsiteX15" fmla="*/ 7526 w 10017"/>
              <a:gd name="connsiteY15" fmla="*/ 523 h 10000"/>
              <a:gd name="connsiteX16" fmla="*/ 7594 w 10017"/>
              <a:gd name="connsiteY16" fmla="*/ 0 h 10000"/>
              <a:gd name="connsiteX17" fmla="*/ 9315 w 10017"/>
              <a:gd name="connsiteY17" fmla="*/ 0 h 10000"/>
              <a:gd name="connsiteX18" fmla="*/ 9387 w 10017"/>
              <a:gd name="connsiteY18" fmla="*/ 523 h 10000"/>
              <a:gd name="connsiteX19" fmla="*/ 9387 w 10017"/>
              <a:gd name="connsiteY19" fmla="*/ 7159 h 10000"/>
              <a:gd name="connsiteX20" fmla="*/ 9455 w 10017"/>
              <a:gd name="connsiteY20" fmla="*/ 7682 h 10000"/>
              <a:gd name="connsiteX21" fmla="*/ 10017 w 10017"/>
              <a:gd name="connsiteY21" fmla="*/ 7682 h 10000"/>
              <a:gd name="connsiteX0" fmla="*/ 0 w 10017"/>
              <a:gd name="connsiteY0" fmla="*/ 5609 h 10000"/>
              <a:gd name="connsiteX1" fmla="*/ 436 w 10017"/>
              <a:gd name="connsiteY1" fmla="*/ 5607 h 10000"/>
              <a:gd name="connsiteX2" fmla="*/ 514 w 10017"/>
              <a:gd name="connsiteY2" fmla="*/ 6131 h 10000"/>
              <a:gd name="connsiteX3" fmla="*/ 514 w 10017"/>
              <a:gd name="connsiteY3" fmla="*/ 9477 h 10000"/>
              <a:gd name="connsiteX4" fmla="*/ 588 w 10017"/>
              <a:gd name="connsiteY4" fmla="*/ 10000 h 10000"/>
              <a:gd name="connsiteX5" fmla="*/ 1201 w 10017"/>
              <a:gd name="connsiteY5" fmla="*/ 10000 h 10000"/>
              <a:gd name="connsiteX6" fmla="*/ 1269 w 10017"/>
              <a:gd name="connsiteY6" fmla="*/ 9477 h 10000"/>
              <a:gd name="connsiteX7" fmla="*/ 1269 w 10017"/>
              <a:gd name="connsiteY7" fmla="*/ 7178 h 10000"/>
              <a:gd name="connsiteX8" fmla="*/ 1334 w 10017"/>
              <a:gd name="connsiteY8" fmla="*/ 6654 h 10000"/>
              <a:gd name="connsiteX9" fmla="*/ 2092 w 10017"/>
              <a:gd name="connsiteY9" fmla="*/ 6654 h 10000"/>
              <a:gd name="connsiteX10" fmla="*/ 2164 w 10017"/>
              <a:gd name="connsiteY10" fmla="*/ 7178 h 10000"/>
              <a:gd name="connsiteX11" fmla="*/ 2164 w 10017"/>
              <a:gd name="connsiteY11" fmla="*/ 8411 h 10000"/>
              <a:gd name="connsiteX12" fmla="*/ 2231 w 10017"/>
              <a:gd name="connsiteY12" fmla="*/ 8935 h 10000"/>
              <a:gd name="connsiteX13" fmla="*/ 7458 w 10017"/>
              <a:gd name="connsiteY13" fmla="*/ 8935 h 10000"/>
              <a:gd name="connsiteX14" fmla="*/ 7526 w 10017"/>
              <a:gd name="connsiteY14" fmla="*/ 8411 h 10000"/>
              <a:gd name="connsiteX15" fmla="*/ 7526 w 10017"/>
              <a:gd name="connsiteY15" fmla="*/ 523 h 10000"/>
              <a:gd name="connsiteX16" fmla="*/ 7594 w 10017"/>
              <a:gd name="connsiteY16" fmla="*/ 0 h 10000"/>
              <a:gd name="connsiteX17" fmla="*/ 9315 w 10017"/>
              <a:gd name="connsiteY17" fmla="*/ 0 h 10000"/>
              <a:gd name="connsiteX18" fmla="*/ 9387 w 10017"/>
              <a:gd name="connsiteY18" fmla="*/ 523 h 10000"/>
              <a:gd name="connsiteX19" fmla="*/ 9387 w 10017"/>
              <a:gd name="connsiteY19" fmla="*/ 7159 h 10000"/>
              <a:gd name="connsiteX20" fmla="*/ 9455 w 10017"/>
              <a:gd name="connsiteY20" fmla="*/ 7682 h 10000"/>
              <a:gd name="connsiteX21" fmla="*/ 10017 w 10017"/>
              <a:gd name="connsiteY21" fmla="*/ 7682 h 10000"/>
              <a:gd name="connsiteX0" fmla="*/ 0 w 10017"/>
              <a:gd name="connsiteY0" fmla="*/ 5609 h 10000"/>
              <a:gd name="connsiteX1" fmla="*/ 436 w 10017"/>
              <a:gd name="connsiteY1" fmla="*/ 5587 h 10000"/>
              <a:gd name="connsiteX2" fmla="*/ 514 w 10017"/>
              <a:gd name="connsiteY2" fmla="*/ 6131 h 10000"/>
              <a:gd name="connsiteX3" fmla="*/ 514 w 10017"/>
              <a:gd name="connsiteY3" fmla="*/ 9477 h 10000"/>
              <a:gd name="connsiteX4" fmla="*/ 588 w 10017"/>
              <a:gd name="connsiteY4" fmla="*/ 10000 h 10000"/>
              <a:gd name="connsiteX5" fmla="*/ 1201 w 10017"/>
              <a:gd name="connsiteY5" fmla="*/ 10000 h 10000"/>
              <a:gd name="connsiteX6" fmla="*/ 1269 w 10017"/>
              <a:gd name="connsiteY6" fmla="*/ 9477 h 10000"/>
              <a:gd name="connsiteX7" fmla="*/ 1269 w 10017"/>
              <a:gd name="connsiteY7" fmla="*/ 7178 h 10000"/>
              <a:gd name="connsiteX8" fmla="*/ 1334 w 10017"/>
              <a:gd name="connsiteY8" fmla="*/ 6654 h 10000"/>
              <a:gd name="connsiteX9" fmla="*/ 2092 w 10017"/>
              <a:gd name="connsiteY9" fmla="*/ 6654 h 10000"/>
              <a:gd name="connsiteX10" fmla="*/ 2164 w 10017"/>
              <a:gd name="connsiteY10" fmla="*/ 7178 h 10000"/>
              <a:gd name="connsiteX11" fmla="*/ 2164 w 10017"/>
              <a:gd name="connsiteY11" fmla="*/ 8411 h 10000"/>
              <a:gd name="connsiteX12" fmla="*/ 2231 w 10017"/>
              <a:gd name="connsiteY12" fmla="*/ 8935 h 10000"/>
              <a:gd name="connsiteX13" fmla="*/ 7458 w 10017"/>
              <a:gd name="connsiteY13" fmla="*/ 8935 h 10000"/>
              <a:gd name="connsiteX14" fmla="*/ 7526 w 10017"/>
              <a:gd name="connsiteY14" fmla="*/ 8411 h 10000"/>
              <a:gd name="connsiteX15" fmla="*/ 7526 w 10017"/>
              <a:gd name="connsiteY15" fmla="*/ 523 h 10000"/>
              <a:gd name="connsiteX16" fmla="*/ 7594 w 10017"/>
              <a:gd name="connsiteY16" fmla="*/ 0 h 10000"/>
              <a:gd name="connsiteX17" fmla="*/ 9315 w 10017"/>
              <a:gd name="connsiteY17" fmla="*/ 0 h 10000"/>
              <a:gd name="connsiteX18" fmla="*/ 9387 w 10017"/>
              <a:gd name="connsiteY18" fmla="*/ 523 h 10000"/>
              <a:gd name="connsiteX19" fmla="*/ 9387 w 10017"/>
              <a:gd name="connsiteY19" fmla="*/ 7159 h 10000"/>
              <a:gd name="connsiteX20" fmla="*/ 9455 w 10017"/>
              <a:gd name="connsiteY20" fmla="*/ 7682 h 10000"/>
              <a:gd name="connsiteX21" fmla="*/ 10017 w 10017"/>
              <a:gd name="connsiteY21" fmla="*/ 7682 h 10000"/>
              <a:gd name="connsiteX0" fmla="*/ 0 w 10017"/>
              <a:gd name="connsiteY0" fmla="*/ 5609 h 10000"/>
              <a:gd name="connsiteX1" fmla="*/ 436 w 10017"/>
              <a:gd name="connsiteY1" fmla="*/ 5607 h 10000"/>
              <a:gd name="connsiteX2" fmla="*/ 514 w 10017"/>
              <a:gd name="connsiteY2" fmla="*/ 6131 h 10000"/>
              <a:gd name="connsiteX3" fmla="*/ 514 w 10017"/>
              <a:gd name="connsiteY3" fmla="*/ 9477 h 10000"/>
              <a:gd name="connsiteX4" fmla="*/ 588 w 10017"/>
              <a:gd name="connsiteY4" fmla="*/ 10000 h 10000"/>
              <a:gd name="connsiteX5" fmla="*/ 1201 w 10017"/>
              <a:gd name="connsiteY5" fmla="*/ 10000 h 10000"/>
              <a:gd name="connsiteX6" fmla="*/ 1269 w 10017"/>
              <a:gd name="connsiteY6" fmla="*/ 9477 h 10000"/>
              <a:gd name="connsiteX7" fmla="*/ 1269 w 10017"/>
              <a:gd name="connsiteY7" fmla="*/ 7178 h 10000"/>
              <a:gd name="connsiteX8" fmla="*/ 1334 w 10017"/>
              <a:gd name="connsiteY8" fmla="*/ 6654 h 10000"/>
              <a:gd name="connsiteX9" fmla="*/ 2092 w 10017"/>
              <a:gd name="connsiteY9" fmla="*/ 6654 h 10000"/>
              <a:gd name="connsiteX10" fmla="*/ 2164 w 10017"/>
              <a:gd name="connsiteY10" fmla="*/ 7178 h 10000"/>
              <a:gd name="connsiteX11" fmla="*/ 2164 w 10017"/>
              <a:gd name="connsiteY11" fmla="*/ 8411 h 10000"/>
              <a:gd name="connsiteX12" fmla="*/ 2231 w 10017"/>
              <a:gd name="connsiteY12" fmla="*/ 8935 h 10000"/>
              <a:gd name="connsiteX13" fmla="*/ 7458 w 10017"/>
              <a:gd name="connsiteY13" fmla="*/ 8935 h 10000"/>
              <a:gd name="connsiteX14" fmla="*/ 7526 w 10017"/>
              <a:gd name="connsiteY14" fmla="*/ 8411 h 10000"/>
              <a:gd name="connsiteX15" fmla="*/ 7526 w 10017"/>
              <a:gd name="connsiteY15" fmla="*/ 523 h 10000"/>
              <a:gd name="connsiteX16" fmla="*/ 7594 w 10017"/>
              <a:gd name="connsiteY16" fmla="*/ 0 h 10000"/>
              <a:gd name="connsiteX17" fmla="*/ 9315 w 10017"/>
              <a:gd name="connsiteY17" fmla="*/ 0 h 10000"/>
              <a:gd name="connsiteX18" fmla="*/ 9387 w 10017"/>
              <a:gd name="connsiteY18" fmla="*/ 523 h 10000"/>
              <a:gd name="connsiteX19" fmla="*/ 9387 w 10017"/>
              <a:gd name="connsiteY19" fmla="*/ 7159 h 10000"/>
              <a:gd name="connsiteX20" fmla="*/ 9455 w 10017"/>
              <a:gd name="connsiteY20" fmla="*/ 7682 h 10000"/>
              <a:gd name="connsiteX21" fmla="*/ 10017 w 10017"/>
              <a:gd name="connsiteY21" fmla="*/ 7682 h 10000"/>
              <a:gd name="connsiteX0" fmla="*/ 0 w 10017"/>
              <a:gd name="connsiteY0" fmla="*/ 5609 h 10000"/>
              <a:gd name="connsiteX1" fmla="*/ 436 w 10017"/>
              <a:gd name="connsiteY1" fmla="*/ 5607 h 10000"/>
              <a:gd name="connsiteX2" fmla="*/ 514 w 10017"/>
              <a:gd name="connsiteY2" fmla="*/ 6131 h 10000"/>
              <a:gd name="connsiteX3" fmla="*/ 514 w 10017"/>
              <a:gd name="connsiteY3" fmla="*/ 9477 h 10000"/>
              <a:gd name="connsiteX4" fmla="*/ 588 w 10017"/>
              <a:gd name="connsiteY4" fmla="*/ 10000 h 10000"/>
              <a:gd name="connsiteX5" fmla="*/ 1201 w 10017"/>
              <a:gd name="connsiteY5" fmla="*/ 10000 h 10000"/>
              <a:gd name="connsiteX6" fmla="*/ 1269 w 10017"/>
              <a:gd name="connsiteY6" fmla="*/ 9477 h 10000"/>
              <a:gd name="connsiteX7" fmla="*/ 1269 w 10017"/>
              <a:gd name="connsiteY7" fmla="*/ 7178 h 10000"/>
              <a:gd name="connsiteX8" fmla="*/ 1334 w 10017"/>
              <a:gd name="connsiteY8" fmla="*/ 6654 h 10000"/>
              <a:gd name="connsiteX9" fmla="*/ 2092 w 10017"/>
              <a:gd name="connsiteY9" fmla="*/ 6654 h 10000"/>
              <a:gd name="connsiteX10" fmla="*/ 2164 w 10017"/>
              <a:gd name="connsiteY10" fmla="*/ 7178 h 10000"/>
              <a:gd name="connsiteX11" fmla="*/ 2164 w 10017"/>
              <a:gd name="connsiteY11" fmla="*/ 8411 h 10000"/>
              <a:gd name="connsiteX12" fmla="*/ 2231 w 10017"/>
              <a:gd name="connsiteY12" fmla="*/ 8935 h 10000"/>
              <a:gd name="connsiteX13" fmla="*/ 7458 w 10017"/>
              <a:gd name="connsiteY13" fmla="*/ 8935 h 10000"/>
              <a:gd name="connsiteX14" fmla="*/ 7526 w 10017"/>
              <a:gd name="connsiteY14" fmla="*/ 8411 h 10000"/>
              <a:gd name="connsiteX15" fmla="*/ 7526 w 10017"/>
              <a:gd name="connsiteY15" fmla="*/ 523 h 10000"/>
              <a:gd name="connsiteX16" fmla="*/ 7594 w 10017"/>
              <a:gd name="connsiteY16" fmla="*/ 0 h 10000"/>
              <a:gd name="connsiteX17" fmla="*/ 9315 w 10017"/>
              <a:gd name="connsiteY17" fmla="*/ 0 h 10000"/>
              <a:gd name="connsiteX18" fmla="*/ 9387 w 10017"/>
              <a:gd name="connsiteY18" fmla="*/ 523 h 10000"/>
              <a:gd name="connsiteX19" fmla="*/ 9387 w 10017"/>
              <a:gd name="connsiteY19" fmla="*/ 7159 h 10000"/>
              <a:gd name="connsiteX20" fmla="*/ 9455 w 10017"/>
              <a:gd name="connsiteY20" fmla="*/ 7682 h 10000"/>
              <a:gd name="connsiteX21" fmla="*/ 10017 w 10017"/>
              <a:gd name="connsiteY21" fmla="*/ 768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017" h="10000">
                <a:moveTo>
                  <a:pt x="0" y="5609"/>
                </a:moveTo>
                <a:lnTo>
                  <a:pt x="436" y="5607"/>
                </a:lnTo>
                <a:cubicBezTo>
                  <a:pt x="477" y="5607"/>
                  <a:pt x="514" y="5832"/>
                  <a:pt x="514" y="6131"/>
                </a:cubicBezTo>
                <a:lnTo>
                  <a:pt x="514" y="9477"/>
                </a:lnTo>
                <a:cubicBezTo>
                  <a:pt x="514" y="9757"/>
                  <a:pt x="548" y="10000"/>
                  <a:pt x="588" y="10000"/>
                </a:cubicBezTo>
                <a:lnTo>
                  <a:pt x="1201" y="10000"/>
                </a:lnTo>
                <a:cubicBezTo>
                  <a:pt x="1235" y="10000"/>
                  <a:pt x="1269" y="9757"/>
                  <a:pt x="1269" y="9477"/>
                </a:cubicBezTo>
                <a:lnTo>
                  <a:pt x="1269" y="7178"/>
                </a:lnTo>
                <a:cubicBezTo>
                  <a:pt x="1269" y="6897"/>
                  <a:pt x="1297" y="6654"/>
                  <a:pt x="1334" y="6654"/>
                </a:cubicBezTo>
                <a:lnTo>
                  <a:pt x="2092" y="6654"/>
                </a:lnTo>
                <a:cubicBezTo>
                  <a:pt x="2132" y="6654"/>
                  <a:pt x="2164" y="6897"/>
                  <a:pt x="2164" y="7178"/>
                </a:cubicBezTo>
                <a:lnTo>
                  <a:pt x="2164" y="8411"/>
                </a:lnTo>
                <a:cubicBezTo>
                  <a:pt x="2164" y="8710"/>
                  <a:pt x="2193" y="8935"/>
                  <a:pt x="2231" y="8935"/>
                </a:cubicBezTo>
                <a:lnTo>
                  <a:pt x="7458" y="8935"/>
                </a:lnTo>
                <a:cubicBezTo>
                  <a:pt x="7496" y="8935"/>
                  <a:pt x="7526" y="8710"/>
                  <a:pt x="7526" y="8411"/>
                </a:cubicBezTo>
                <a:lnTo>
                  <a:pt x="7526" y="523"/>
                </a:lnTo>
                <a:cubicBezTo>
                  <a:pt x="7526" y="224"/>
                  <a:pt x="7557" y="0"/>
                  <a:pt x="7594" y="0"/>
                </a:cubicBezTo>
                <a:lnTo>
                  <a:pt x="9315" y="0"/>
                </a:lnTo>
                <a:cubicBezTo>
                  <a:pt x="9356" y="0"/>
                  <a:pt x="9387" y="224"/>
                  <a:pt x="9387" y="523"/>
                </a:cubicBezTo>
                <a:lnTo>
                  <a:pt x="9387" y="7159"/>
                </a:lnTo>
                <a:cubicBezTo>
                  <a:pt x="9387" y="7439"/>
                  <a:pt x="9416" y="7682"/>
                  <a:pt x="9455" y="7682"/>
                </a:cubicBezTo>
                <a:lnTo>
                  <a:pt x="10017" y="7682"/>
                </a:lnTo>
              </a:path>
            </a:pathLst>
          </a:custGeom>
          <a:noFill/>
          <a:ln w="12700" cap="flat">
            <a:solidFill>
              <a:schemeClr val="bg1"/>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800" noProof="0" dirty="0"/>
          </a:p>
        </p:txBody>
      </p:sp>
      <p:sp>
        <p:nvSpPr>
          <p:cNvPr id="18" name="Freeform 9"/>
          <p:cNvSpPr>
            <a:spLocks/>
          </p:cNvSpPr>
          <p:nvPr userDrawn="1"/>
        </p:nvSpPr>
        <p:spPr bwMode="gray">
          <a:xfrm>
            <a:off x="-7917" y="4480919"/>
            <a:ext cx="9161634" cy="1894152"/>
          </a:xfrm>
          <a:custGeom>
            <a:avLst/>
            <a:gdLst>
              <a:gd name="T0" fmla="*/ 0 w 8479"/>
              <a:gd name="T1" fmla="*/ 0 h 835"/>
              <a:gd name="T2" fmla="*/ 1311 w 8479"/>
              <a:gd name="T3" fmla="*/ 0 h 835"/>
              <a:gd name="T4" fmla="*/ 1339 w 8479"/>
              <a:gd name="T5" fmla="*/ 28 h 835"/>
              <a:gd name="T6" fmla="*/ 1339 w 8479"/>
              <a:gd name="T7" fmla="*/ 629 h 835"/>
              <a:gd name="T8" fmla="*/ 1366 w 8479"/>
              <a:gd name="T9" fmla="*/ 657 h 835"/>
              <a:gd name="T10" fmla="*/ 2615 w 8479"/>
              <a:gd name="T11" fmla="*/ 657 h 835"/>
              <a:gd name="T12" fmla="*/ 2643 w 8479"/>
              <a:gd name="T13" fmla="*/ 629 h 835"/>
              <a:gd name="T14" fmla="*/ 2643 w 8479"/>
              <a:gd name="T15" fmla="*/ 150 h 835"/>
              <a:gd name="T16" fmla="*/ 2671 w 8479"/>
              <a:gd name="T17" fmla="*/ 122 h 835"/>
              <a:gd name="T18" fmla="*/ 3930 w 8479"/>
              <a:gd name="T19" fmla="*/ 122 h 835"/>
              <a:gd name="T20" fmla="*/ 3958 w 8479"/>
              <a:gd name="T21" fmla="*/ 150 h 835"/>
              <a:gd name="T22" fmla="*/ 3958 w 8479"/>
              <a:gd name="T23" fmla="*/ 807 h 835"/>
              <a:gd name="T24" fmla="*/ 3986 w 8479"/>
              <a:gd name="T25" fmla="*/ 835 h 835"/>
              <a:gd name="T26" fmla="*/ 4855 w 8479"/>
              <a:gd name="T27" fmla="*/ 835 h 835"/>
              <a:gd name="T28" fmla="*/ 4883 w 8479"/>
              <a:gd name="T29" fmla="*/ 807 h 835"/>
              <a:gd name="T30" fmla="*/ 4883 w 8479"/>
              <a:gd name="T31" fmla="*/ 28 h 835"/>
              <a:gd name="T32" fmla="*/ 4911 w 8479"/>
              <a:gd name="T33" fmla="*/ 0 h 835"/>
              <a:gd name="T34" fmla="*/ 5536 w 8479"/>
              <a:gd name="T35" fmla="*/ 0 h 835"/>
              <a:gd name="T36" fmla="*/ 5564 w 8479"/>
              <a:gd name="T37" fmla="*/ 28 h 835"/>
              <a:gd name="T38" fmla="*/ 5564 w 8479"/>
              <a:gd name="T39" fmla="*/ 716 h 835"/>
              <a:gd name="T40" fmla="*/ 5592 w 8479"/>
              <a:gd name="T41" fmla="*/ 744 h 835"/>
              <a:gd name="T42" fmla="*/ 6859 w 8479"/>
              <a:gd name="T43" fmla="*/ 744 h 835"/>
              <a:gd name="T44" fmla="*/ 6887 w 8479"/>
              <a:gd name="T45" fmla="*/ 716 h 835"/>
              <a:gd name="T46" fmla="*/ 6887 w 8479"/>
              <a:gd name="T47" fmla="*/ 148 h 835"/>
              <a:gd name="T48" fmla="*/ 6915 w 8479"/>
              <a:gd name="T49" fmla="*/ 120 h 835"/>
              <a:gd name="T50" fmla="*/ 7337 w 8479"/>
              <a:gd name="T51" fmla="*/ 120 h 835"/>
              <a:gd name="T52" fmla="*/ 7364 w 8479"/>
              <a:gd name="T53" fmla="*/ 148 h 835"/>
              <a:gd name="T54" fmla="*/ 7364 w 8479"/>
              <a:gd name="T55" fmla="*/ 269 h 835"/>
              <a:gd name="T56" fmla="*/ 7392 w 8479"/>
              <a:gd name="T57" fmla="*/ 297 h 835"/>
              <a:gd name="T58" fmla="*/ 8479 w 8479"/>
              <a:gd name="T59" fmla="*/ 297 h 835"/>
              <a:gd name="connsiteX0" fmla="*/ 0 w 8454"/>
              <a:gd name="connsiteY0" fmla="*/ 0 h 10000"/>
              <a:gd name="connsiteX1" fmla="*/ 33 w 8454"/>
              <a:gd name="connsiteY1" fmla="*/ 335 h 10000"/>
              <a:gd name="connsiteX2" fmla="*/ 33 w 8454"/>
              <a:gd name="connsiteY2" fmla="*/ 7533 h 10000"/>
              <a:gd name="connsiteX3" fmla="*/ 65 w 8454"/>
              <a:gd name="connsiteY3" fmla="*/ 7868 h 10000"/>
              <a:gd name="connsiteX4" fmla="*/ 1538 w 8454"/>
              <a:gd name="connsiteY4" fmla="*/ 7868 h 10000"/>
              <a:gd name="connsiteX5" fmla="*/ 1571 w 8454"/>
              <a:gd name="connsiteY5" fmla="*/ 7533 h 10000"/>
              <a:gd name="connsiteX6" fmla="*/ 1571 w 8454"/>
              <a:gd name="connsiteY6" fmla="*/ 1796 h 10000"/>
              <a:gd name="connsiteX7" fmla="*/ 1604 w 8454"/>
              <a:gd name="connsiteY7" fmla="*/ 1461 h 10000"/>
              <a:gd name="connsiteX8" fmla="*/ 3089 w 8454"/>
              <a:gd name="connsiteY8" fmla="*/ 1461 h 10000"/>
              <a:gd name="connsiteX9" fmla="*/ 3122 w 8454"/>
              <a:gd name="connsiteY9" fmla="*/ 1796 h 10000"/>
              <a:gd name="connsiteX10" fmla="*/ 3122 w 8454"/>
              <a:gd name="connsiteY10" fmla="*/ 9665 h 10000"/>
              <a:gd name="connsiteX11" fmla="*/ 3155 w 8454"/>
              <a:gd name="connsiteY11" fmla="*/ 10000 h 10000"/>
              <a:gd name="connsiteX12" fmla="*/ 4180 w 8454"/>
              <a:gd name="connsiteY12" fmla="*/ 10000 h 10000"/>
              <a:gd name="connsiteX13" fmla="*/ 4213 w 8454"/>
              <a:gd name="connsiteY13" fmla="*/ 9665 h 10000"/>
              <a:gd name="connsiteX14" fmla="*/ 4213 w 8454"/>
              <a:gd name="connsiteY14" fmla="*/ 335 h 10000"/>
              <a:gd name="connsiteX15" fmla="*/ 4246 w 8454"/>
              <a:gd name="connsiteY15" fmla="*/ 0 h 10000"/>
              <a:gd name="connsiteX16" fmla="*/ 4983 w 8454"/>
              <a:gd name="connsiteY16" fmla="*/ 0 h 10000"/>
              <a:gd name="connsiteX17" fmla="*/ 5016 w 8454"/>
              <a:gd name="connsiteY17" fmla="*/ 335 h 10000"/>
              <a:gd name="connsiteX18" fmla="*/ 5016 w 8454"/>
              <a:gd name="connsiteY18" fmla="*/ 8575 h 10000"/>
              <a:gd name="connsiteX19" fmla="*/ 5049 w 8454"/>
              <a:gd name="connsiteY19" fmla="*/ 8910 h 10000"/>
              <a:gd name="connsiteX20" fmla="*/ 6543 w 8454"/>
              <a:gd name="connsiteY20" fmla="*/ 8910 h 10000"/>
              <a:gd name="connsiteX21" fmla="*/ 6576 w 8454"/>
              <a:gd name="connsiteY21" fmla="*/ 8575 h 10000"/>
              <a:gd name="connsiteX22" fmla="*/ 6576 w 8454"/>
              <a:gd name="connsiteY22" fmla="*/ 1772 h 10000"/>
              <a:gd name="connsiteX23" fmla="*/ 6609 w 8454"/>
              <a:gd name="connsiteY23" fmla="*/ 1437 h 10000"/>
              <a:gd name="connsiteX24" fmla="*/ 7107 w 8454"/>
              <a:gd name="connsiteY24" fmla="*/ 1437 h 10000"/>
              <a:gd name="connsiteX25" fmla="*/ 7139 w 8454"/>
              <a:gd name="connsiteY25" fmla="*/ 1772 h 10000"/>
              <a:gd name="connsiteX26" fmla="*/ 7139 w 8454"/>
              <a:gd name="connsiteY26" fmla="*/ 3222 h 10000"/>
              <a:gd name="connsiteX27" fmla="*/ 7172 w 8454"/>
              <a:gd name="connsiteY27" fmla="*/ 3557 h 10000"/>
              <a:gd name="connsiteX28" fmla="*/ 8454 w 8454"/>
              <a:gd name="connsiteY28" fmla="*/ 3557 h 10000"/>
              <a:gd name="connsiteX0" fmla="*/ 0 w 9961"/>
              <a:gd name="connsiteY0" fmla="*/ 335 h 10000"/>
              <a:gd name="connsiteX1" fmla="*/ 0 w 9961"/>
              <a:gd name="connsiteY1" fmla="*/ 7533 h 10000"/>
              <a:gd name="connsiteX2" fmla="*/ 38 w 9961"/>
              <a:gd name="connsiteY2" fmla="*/ 7868 h 10000"/>
              <a:gd name="connsiteX3" fmla="*/ 1780 w 9961"/>
              <a:gd name="connsiteY3" fmla="*/ 7868 h 10000"/>
              <a:gd name="connsiteX4" fmla="*/ 1819 w 9961"/>
              <a:gd name="connsiteY4" fmla="*/ 7533 h 10000"/>
              <a:gd name="connsiteX5" fmla="*/ 1819 w 9961"/>
              <a:gd name="connsiteY5" fmla="*/ 1796 h 10000"/>
              <a:gd name="connsiteX6" fmla="*/ 1858 w 9961"/>
              <a:gd name="connsiteY6" fmla="*/ 1461 h 10000"/>
              <a:gd name="connsiteX7" fmla="*/ 3615 w 9961"/>
              <a:gd name="connsiteY7" fmla="*/ 1461 h 10000"/>
              <a:gd name="connsiteX8" fmla="*/ 3654 w 9961"/>
              <a:gd name="connsiteY8" fmla="*/ 1796 h 10000"/>
              <a:gd name="connsiteX9" fmla="*/ 3654 w 9961"/>
              <a:gd name="connsiteY9" fmla="*/ 9665 h 10000"/>
              <a:gd name="connsiteX10" fmla="*/ 3693 w 9961"/>
              <a:gd name="connsiteY10" fmla="*/ 10000 h 10000"/>
              <a:gd name="connsiteX11" fmla="*/ 4905 w 9961"/>
              <a:gd name="connsiteY11" fmla="*/ 10000 h 10000"/>
              <a:gd name="connsiteX12" fmla="*/ 4944 w 9961"/>
              <a:gd name="connsiteY12" fmla="*/ 9665 h 10000"/>
              <a:gd name="connsiteX13" fmla="*/ 4944 w 9961"/>
              <a:gd name="connsiteY13" fmla="*/ 335 h 10000"/>
              <a:gd name="connsiteX14" fmla="*/ 4983 w 9961"/>
              <a:gd name="connsiteY14" fmla="*/ 0 h 10000"/>
              <a:gd name="connsiteX15" fmla="*/ 5855 w 9961"/>
              <a:gd name="connsiteY15" fmla="*/ 0 h 10000"/>
              <a:gd name="connsiteX16" fmla="*/ 5894 w 9961"/>
              <a:gd name="connsiteY16" fmla="*/ 335 h 10000"/>
              <a:gd name="connsiteX17" fmla="*/ 5894 w 9961"/>
              <a:gd name="connsiteY17" fmla="*/ 8575 h 10000"/>
              <a:gd name="connsiteX18" fmla="*/ 5933 w 9961"/>
              <a:gd name="connsiteY18" fmla="*/ 8910 h 10000"/>
              <a:gd name="connsiteX19" fmla="*/ 7701 w 9961"/>
              <a:gd name="connsiteY19" fmla="*/ 8910 h 10000"/>
              <a:gd name="connsiteX20" fmla="*/ 7740 w 9961"/>
              <a:gd name="connsiteY20" fmla="*/ 8575 h 10000"/>
              <a:gd name="connsiteX21" fmla="*/ 7740 w 9961"/>
              <a:gd name="connsiteY21" fmla="*/ 1772 h 10000"/>
              <a:gd name="connsiteX22" fmla="*/ 7779 w 9961"/>
              <a:gd name="connsiteY22" fmla="*/ 1437 h 10000"/>
              <a:gd name="connsiteX23" fmla="*/ 8368 w 9961"/>
              <a:gd name="connsiteY23" fmla="*/ 1437 h 10000"/>
              <a:gd name="connsiteX24" fmla="*/ 8406 w 9961"/>
              <a:gd name="connsiteY24" fmla="*/ 1772 h 10000"/>
              <a:gd name="connsiteX25" fmla="*/ 8406 w 9961"/>
              <a:gd name="connsiteY25" fmla="*/ 3222 h 10000"/>
              <a:gd name="connsiteX26" fmla="*/ 8445 w 9961"/>
              <a:gd name="connsiteY26" fmla="*/ 3557 h 10000"/>
              <a:gd name="connsiteX27" fmla="*/ 9961 w 9961"/>
              <a:gd name="connsiteY27" fmla="*/ 3557 h 10000"/>
              <a:gd name="connsiteX0" fmla="*/ 0 w 10000"/>
              <a:gd name="connsiteY0" fmla="*/ 7533 h 10000"/>
              <a:gd name="connsiteX1" fmla="*/ 38 w 10000"/>
              <a:gd name="connsiteY1" fmla="*/ 7868 h 10000"/>
              <a:gd name="connsiteX2" fmla="*/ 1787 w 10000"/>
              <a:gd name="connsiteY2" fmla="*/ 7868 h 10000"/>
              <a:gd name="connsiteX3" fmla="*/ 1826 w 10000"/>
              <a:gd name="connsiteY3" fmla="*/ 7533 h 10000"/>
              <a:gd name="connsiteX4" fmla="*/ 1826 w 10000"/>
              <a:gd name="connsiteY4" fmla="*/ 1796 h 10000"/>
              <a:gd name="connsiteX5" fmla="*/ 1865 w 10000"/>
              <a:gd name="connsiteY5" fmla="*/ 1461 h 10000"/>
              <a:gd name="connsiteX6" fmla="*/ 3629 w 10000"/>
              <a:gd name="connsiteY6" fmla="*/ 1461 h 10000"/>
              <a:gd name="connsiteX7" fmla="*/ 3668 w 10000"/>
              <a:gd name="connsiteY7" fmla="*/ 1796 h 10000"/>
              <a:gd name="connsiteX8" fmla="*/ 3668 w 10000"/>
              <a:gd name="connsiteY8" fmla="*/ 9665 h 10000"/>
              <a:gd name="connsiteX9" fmla="*/ 3707 w 10000"/>
              <a:gd name="connsiteY9" fmla="*/ 10000 h 10000"/>
              <a:gd name="connsiteX10" fmla="*/ 4924 w 10000"/>
              <a:gd name="connsiteY10" fmla="*/ 10000 h 10000"/>
              <a:gd name="connsiteX11" fmla="*/ 4963 w 10000"/>
              <a:gd name="connsiteY11" fmla="*/ 9665 h 10000"/>
              <a:gd name="connsiteX12" fmla="*/ 4963 w 10000"/>
              <a:gd name="connsiteY12" fmla="*/ 335 h 10000"/>
              <a:gd name="connsiteX13" fmla="*/ 5003 w 10000"/>
              <a:gd name="connsiteY13" fmla="*/ 0 h 10000"/>
              <a:gd name="connsiteX14" fmla="*/ 5878 w 10000"/>
              <a:gd name="connsiteY14" fmla="*/ 0 h 10000"/>
              <a:gd name="connsiteX15" fmla="*/ 5917 w 10000"/>
              <a:gd name="connsiteY15" fmla="*/ 335 h 10000"/>
              <a:gd name="connsiteX16" fmla="*/ 5917 w 10000"/>
              <a:gd name="connsiteY16" fmla="*/ 8575 h 10000"/>
              <a:gd name="connsiteX17" fmla="*/ 5956 w 10000"/>
              <a:gd name="connsiteY17" fmla="*/ 8910 h 10000"/>
              <a:gd name="connsiteX18" fmla="*/ 7731 w 10000"/>
              <a:gd name="connsiteY18" fmla="*/ 8910 h 10000"/>
              <a:gd name="connsiteX19" fmla="*/ 7770 w 10000"/>
              <a:gd name="connsiteY19" fmla="*/ 8575 h 10000"/>
              <a:gd name="connsiteX20" fmla="*/ 7770 w 10000"/>
              <a:gd name="connsiteY20" fmla="*/ 1772 h 10000"/>
              <a:gd name="connsiteX21" fmla="*/ 7809 w 10000"/>
              <a:gd name="connsiteY21" fmla="*/ 1437 h 10000"/>
              <a:gd name="connsiteX22" fmla="*/ 8401 w 10000"/>
              <a:gd name="connsiteY22" fmla="*/ 1437 h 10000"/>
              <a:gd name="connsiteX23" fmla="*/ 8439 w 10000"/>
              <a:gd name="connsiteY23" fmla="*/ 1772 h 10000"/>
              <a:gd name="connsiteX24" fmla="*/ 8439 w 10000"/>
              <a:gd name="connsiteY24" fmla="*/ 3222 h 10000"/>
              <a:gd name="connsiteX25" fmla="*/ 8478 w 10000"/>
              <a:gd name="connsiteY25" fmla="*/ 3557 h 10000"/>
              <a:gd name="connsiteX26" fmla="*/ 10000 w 10000"/>
              <a:gd name="connsiteY26" fmla="*/ 3557 h 10000"/>
              <a:gd name="connsiteX0" fmla="*/ 0 w 9962"/>
              <a:gd name="connsiteY0" fmla="*/ 7868 h 10000"/>
              <a:gd name="connsiteX1" fmla="*/ 1749 w 9962"/>
              <a:gd name="connsiteY1" fmla="*/ 7868 h 10000"/>
              <a:gd name="connsiteX2" fmla="*/ 1788 w 9962"/>
              <a:gd name="connsiteY2" fmla="*/ 7533 h 10000"/>
              <a:gd name="connsiteX3" fmla="*/ 1788 w 9962"/>
              <a:gd name="connsiteY3" fmla="*/ 1796 h 10000"/>
              <a:gd name="connsiteX4" fmla="*/ 1827 w 9962"/>
              <a:gd name="connsiteY4" fmla="*/ 1461 h 10000"/>
              <a:gd name="connsiteX5" fmla="*/ 3591 w 9962"/>
              <a:gd name="connsiteY5" fmla="*/ 1461 h 10000"/>
              <a:gd name="connsiteX6" fmla="*/ 3630 w 9962"/>
              <a:gd name="connsiteY6" fmla="*/ 1796 h 10000"/>
              <a:gd name="connsiteX7" fmla="*/ 3630 w 9962"/>
              <a:gd name="connsiteY7" fmla="*/ 9665 h 10000"/>
              <a:gd name="connsiteX8" fmla="*/ 3669 w 9962"/>
              <a:gd name="connsiteY8" fmla="*/ 10000 h 10000"/>
              <a:gd name="connsiteX9" fmla="*/ 4886 w 9962"/>
              <a:gd name="connsiteY9" fmla="*/ 10000 h 10000"/>
              <a:gd name="connsiteX10" fmla="*/ 4925 w 9962"/>
              <a:gd name="connsiteY10" fmla="*/ 9665 h 10000"/>
              <a:gd name="connsiteX11" fmla="*/ 4925 w 9962"/>
              <a:gd name="connsiteY11" fmla="*/ 335 h 10000"/>
              <a:gd name="connsiteX12" fmla="*/ 4965 w 9962"/>
              <a:gd name="connsiteY12" fmla="*/ 0 h 10000"/>
              <a:gd name="connsiteX13" fmla="*/ 5840 w 9962"/>
              <a:gd name="connsiteY13" fmla="*/ 0 h 10000"/>
              <a:gd name="connsiteX14" fmla="*/ 5879 w 9962"/>
              <a:gd name="connsiteY14" fmla="*/ 335 h 10000"/>
              <a:gd name="connsiteX15" fmla="*/ 5879 w 9962"/>
              <a:gd name="connsiteY15" fmla="*/ 8575 h 10000"/>
              <a:gd name="connsiteX16" fmla="*/ 5918 w 9962"/>
              <a:gd name="connsiteY16" fmla="*/ 8910 h 10000"/>
              <a:gd name="connsiteX17" fmla="*/ 7693 w 9962"/>
              <a:gd name="connsiteY17" fmla="*/ 8910 h 10000"/>
              <a:gd name="connsiteX18" fmla="*/ 7732 w 9962"/>
              <a:gd name="connsiteY18" fmla="*/ 8575 h 10000"/>
              <a:gd name="connsiteX19" fmla="*/ 7732 w 9962"/>
              <a:gd name="connsiteY19" fmla="*/ 1772 h 10000"/>
              <a:gd name="connsiteX20" fmla="*/ 7771 w 9962"/>
              <a:gd name="connsiteY20" fmla="*/ 1437 h 10000"/>
              <a:gd name="connsiteX21" fmla="*/ 8363 w 9962"/>
              <a:gd name="connsiteY21" fmla="*/ 1437 h 10000"/>
              <a:gd name="connsiteX22" fmla="*/ 8401 w 9962"/>
              <a:gd name="connsiteY22" fmla="*/ 1772 h 10000"/>
              <a:gd name="connsiteX23" fmla="*/ 8401 w 9962"/>
              <a:gd name="connsiteY23" fmla="*/ 3222 h 10000"/>
              <a:gd name="connsiteX24" fmla="*/ 8440 w 9962"/>
              <a:gd name="connsiteY24" fmla="*/ 3557 h 10000"/>
              <a:gd name="connsiteX25" fmla="*/ 9962 w 9962"/>
              <a:gd name="connsiteY25" fmla="*/ 3557 h 10000"/>
              <a:gd name="connsiteX0" fmla="*/ 0 w 8472"/>
              <a:gd name="connsiteY0" fmla="*/ 7868 h 10000"/>
              <a:gd name="connsiteX1" fmla="*/ 1756 w 8472"/>
              <a:gd name="connsiteY1" fmla="*/ 7868 h 10000"/>
              <a:gd name="connsiteX2" fmla="*/ 1795 w 8472"/>
              <a:gd name="connsiteY2" fmla="*/ 7533 h 10000"/>
              <a:gd name="connsiteX3" fmla="*/ 1795 w 8472"/>
              <a:gd name="connsiteY3" fmla="*/ 1796 h 10000"/>
              <a:gd name="connsiteX4" fmla="*/ 1834 w 8472"/>
              <a:gd name="connsiteY4" fmla="*/ 1461 h 10000"/>
              <a:gd name="connsiteX5" fmla="*/ 3605 w 8472"/>
              <a:gd name="connsiteY5" fmla="*/ 1461 h 10000"/>
              <a:gd name="connsiteX6" fmla="*/ 3644 w 8472"/>
              <a:gd name="connsiteY6" fmla="*/ 1796 h 10000"/>
              <a:gd name="connsiteX7" fmla="*/ 3644 w 8472"/>
              <a:gd name="connsiteY7" fmla="*/ 9665 h 10000"/>
              <a:gd name="connsiteX8" fmla="*/ 3683 w 8472"/>
              <a:gd name="connsiteY8" fmla="*/ 10000 h 10000"/>
              <a:gd name="connsiteX9" fmla="*/ 4905 w 8472"/>
              <a:gd name="connsiteY9" fmla="*/ 10000 h 10000"/>
              <a:gd name="connsiteX10" fmla="*/ 4944 w 8472"/>
              <a:gd name="connsiteY10" fmla="*/ 9665 h 10000"/>
              <a:gd name="connsiteX11" fmla="*/ 4944 w 8472"/>
              <a:gd name="connsiteY11" fmla="*/ 335 h 10000"/>
              <a:gd name="connsiteX12" fmla="*/ 4984 w 8472"/>
              <a:gd name="connsiteY12" fmla="*/ 0 h 10000"/>
              <a:gd name="connsiteX13" fmla="*/ 5862 w 8472"/>
              <a:gd name="connsiteY13" fmla="*/ 0 h 10000"/>
              <a:gd name="connsiteX14" fmla="*/ 5901 w 8472"/>
              <a:gd name="connsiteY14" fmla="*/ 335 h 10000"/>
              <a:gd name="connsiteX15" fmla="*/ 5901 w 8472"/>
              <a:gd name="connsiteY15" fmla="*/ 8575 h 10000"/>
              <a:gd name="connsiteX16" fmla="*/ 5941 w 8472"/>
              <a:gd name="connsiteY16" fmla="*/ 8910 h 10000"/>
              <a:gd name="connsiteX17" fmla="*/ 7722 w 8472"/>
              <a:gd name="connsiteY17" fmla="*/ 8910 h 10000"/>
              <a:gd name="connsiteX18" fmla="*/ 7761 w 8472"/>
              <a:gd name="connsiteY18" fmla="*/ 8575 h 10000"/>
              <a:gd name="connsiteX19" fmla="*/ 7761 w 8472"/>
              <a:gd name="connsiteY19" fmla="*/ 1772 h 10000"/>
              <a:gd name="connsiteX20" fmla="*/ 7801 w 8472"/>
              <a:gd name="connsiteY20" fmla="*/ 1437 h 10000"/>
              <a:gd name="connsiteX21" fmla="*/ 8395 w 8472"/>
              <a:gd name="connsiteY21" fmla="*/ 1437 h 10000"/>
              <a:gd name="connsiteX22" fmla="*/ 8433 w 8472"/>
              <a:gd name="connsiteY22" fmla="*/ 1772 h 10000"/>
              <a:gd name="connsiteX23" fmla="*/ 8433 w 8472"/>
              <a:gd name="connsiteY23" fmla="*/ 3222 h 10000"/>
              <a:gd name="connsiteX24" fmla="*/ 8472 w 8472"/>
              <a:gd name="connsiteY24" fmla="*/ 3557 h 10000"/>
              <a:gd name="connsiteX0" fmla="*/ 0 w 9954"/>
              <a:gd name="connsiteY0" fmla="*/ 7868 h 10000"/>
              <a:gd name="connsiteX1" fmla="*/ 2073 w 9954"/>
              <a:gd name="connsiteY1" fmla="*/ 7868 h 10000"/>
              <a:gd name="connsiteX2" fmla="*/ 2119 w 9954"/>
              <a:gd name="connsiteY2" fmla="*/ 7533 h 10000"/>
              <a:gd name="connsiteX3" fmla="*/ 2119 w 9954"/>
              <a:gd name="connsiteY3" fmla="*/ 1796 h 10000"/>
              <a:gd name="connsiteX4" fmla="*/ 2165 w 9954"/>
              <a:gd name="connsiteY4" fmla="*/ 1461 h 10000"/>
              <a:gd name="connsiteX5" fmla="*/ 4255 w 9954"/>
              <a:gd name="connsiteY5" fmla="*/ 1461 h 10000"/>
              <a:gd name="connsiteX6" fmla="*/ 4301 w 9954"/>
              <a:gd name="connsiteY6" fmla="*/ 1796 h 10000"/>
              <a:gd name="connsiteX7" fmla="*/ 4301 w 9954"/>
              <a:gd name="connsiteY7" fmla="*/ 9665 h 10000"/>
              <a:gd name="connsiteX8" fmla="*/ 4347 w 9954"/>
              <a:gd name="connsiteY8" fmla="*/ 10000 h 10000"/>
              <a:gd name="connsiteX9" fmla="*/ 5790 w 9954"/>
              <a:gd name="connsiteY9" fmla="*/ 10000 h 10000"/>
              <a:gd name="connsiteX10" fmla="*/ 5836 w 9954"/>
              <a:gd name="connsiteY10" fmla="*/ 9665 h 10000"/>
              <a:gd name="connsiteX11" fmla="*/ 5836 w 9954"/>
              <a:gd name="connsiteY11" fmla="*/ 335 h 10000"/>
              <a:gd name="connsiteX12" fmla="*/ 5883 w 9954"/>
              <a:gd name="connsiteY12" fmla="*/ 0 h 10000"/>
              <a:gd name="connsiteX13" fmla="*/ 6919 w 9954"/>
              <a:gd name="connsiteY13" fmla="*/ 0 h 10000"/>
              <a:gd name="connsiteX14" fmla="*/ 6965 w 9954"/>
              <a:gd name="connsiteY14" fmla="*/ 335 h 10000"/>
              <a:gd name="connsiteX15" fmla="*/ 6965 w 9954"/>
              <a:gd name="connsiteY15" fmla="*/ 8575 h 10000"/>
              <a:gd name="connsiteX16" fmla="*/ 7013 w 9954"/>
              <a:gd name="connsiteY16" fmla="*/ 8910 h 10000"/>
              <a:gd name="connsiteX17" fmla="*/ 9115 w 9954"/>
              <a:gd name="connsiteY17" fmla="*/ 8910 h 10000"/>
              <a:gd name="connsiteX18" fmla="*/ 9161 w 9954"/>
              <a:gd name="connsiteY18" fmla="*/ 8575 h 10000"/>
              <a:gd name="connsiteX19" fmla="*/ 9161 w 9954"/>
              <a:gd name="connsiteY19" fmla="*/ 1772 h 10000"/>
              <a:gd name="connsiteX20" fmla="*/ 9208 w 9954"/>
              <a:gd name="connsiteY20" fmla="*/ 1437 h 10000"/>
              <a:gd name="connsiteX21" fmla="*/ 9909 w 9954"/>
              <a:gd name="connsiteY21" fmla="*/ 1437 h 10000"/>
              <a:gd name="connsiteX22" fmla="*/ 9954 w 9954"/>
              <a:gd name="connsiteY22" fmla="*/ 1772 h 10000"/>
              <a:gd name="connsiteX23" fmla="*/ 9954 w 9954"/>
              <a:gd name="connsiteY23" fmla="*/ 3222 h 10000"/>
              <a:gd name="connsiteX0" fmla="*/ 0 w 10000"/>
              <a:gd name="connsiteY0" fmla="*/ 7868 h 10000"/>
              <a:gd name="connsiteX1" fmla="*/ 2083 w 10000"/>
              <a:gd name="connsiteY1" fmla="*/ 7868 h 10000"/>
              <a:gd name="connsiteX2" fmla="*/ 2129 w 10000"/>
              <a:gd name="connsiteY2" fmla="*/ 7533 h 10000"/>
              <a:gd name="connsiteX3" fmla="*/ 2129 w 10000"/>
              <a:gd name="connsiteY3" fmla="*/ 1796 h 10000"/>
              <a:gd name="connsiteX4" fmla="*/ 2175 w 10000"/>
              <a:gd name="connsiteY4" fmla="*/ 1461 h 10000"/>
              <a:gd name="connsiteX5" fmla="*/ 4275 w 10000"/>
              <a:gd name="connsiteY5" fmla="*/ 1461 h 10000"/>
              <a:gd name="connsiteX6" fmla="*/ 4321 w 10000"/>
              <a:gd name="connsiteY6" fmla="*/ 1796 h 10000"/>
              <a:gd name="connsiteX7" fmla="*/ 4321 w 10000"/>
              <a:gd name="connsiteY7" fmla="*/ 9665 h 10000"/>
              <a:gd name="connsiteX8" fmla="*/ 4367 w 10000"/>
              <a:gd name="connsiteY8" fmla="*/ 10000 h 10000"/>
              <a:gd name="connsiteX9" fmla="*/ 5817 w 10000"/>
              <a:gd name="connsiteY9" fmla="*/ 10000 h 10000"/>
              <a:gd name="connsiteX10" fmla="*/ 5863 w 10000"/>
              <a:gd name="connsiteY10" fmla="*/ 9665 h 10000"/>
              <a:gd name="connsiteX11" fmla="*/ 5863 w 10000"/>
              <a:gd name="connsiteY11" fmla="*/ 335 h 10000"/>
              <a:gd name="connsiteX12" fmla="*/ 5910 w 10000"/>
              <a:gd name="connsiteY12" fmla="*/ 0 h 10000"/>
              <a:gd name="connsiteX13" fmla="*/ 6951 w 10000"/>
              <a:gd name="connsiteY13" fmla="*/ 0 h 10000"/>
              <a:gd name="connsiteX14" fmla="*/ 6997 w 10000"/>
              <a:gd name="connsiteY14" fmla="*/ 335 h 10000"/>
              <a:gd name="connsiteX15" fmla="*/ 6997 w 10000"/>
              <a:gd name="connsiteY15" fmla="*/ 8575 h 10000"/>
              <a:gd name="connsiteX16" fmla="*/ 7045 w 10000"/>
              <a:gd name="connsiteY16" fmla="*/ 8910 h 10000"/>
              <a:gd name="connsiteX17" fmla="*/ 9157 w 10000"/>
              <a:gd name="connsiteY17" fmla="*/ 8910 h 10000"/>
              <a:gd name="connsiteX18" fmla="*/ 9203 w 10000"/>
              <a:gd name="connsiteY18" fmla="*/ 8575 h 10000"/>
              <a:gd name="connsiteX19" fmla="*/ 9203 w 10000"/>
              <a:gd name="connsiteY19" fmla="*/ 1772 h 10000"/>
              <a:gd name="connsiteX20" fmla="*/ 9251 w 10000"/>
              <a:gd name="connsiteY20" fmla="*/ 1437 h 10000"/>
              <a:gd name="connsiteX21" fmla="*/ 9955 w 10000"/>
              <a:gd name="connsiteY21" fmla="*/ 1437 h 10000"/>
              <a:gd name="connsiteX22" fmla="*/ 10000 w 10000"/>
              <a:gd name="connsiteY22" fmla="*/ 1772 h 10000"/>
              <a:gd name="connsiteX0" fmla="*/ 0 w 9955"/>
              <a:gd name="connsiteY0" fmla="*/ 7868 h 10000"/>
              <a:gd name="connsiteX1" fmla="*/ 2083 w 9955"/>
              <a:gd name="connsiteY1" fmla="*/ 7868 h 10000"/>
              <a:gd name="connsiteX2" fmla="*/ 2129 w 9955"/>
              <a:gd name="connsiteY2" fmla="*/ 7533 h 10000"/>
              <a:gd name="connsiteX3" fmla="*/ 2129 w 9955"/>
              <a:gd name="connsiteY3" fmla="*/ 1796 h 10000"/>
              <a:gd name="connsiteX4" fmla="*/ 2175 w 9955"/>
              <a:gd name="connsiteY4" fmla="*/ 1461 h 10000"/>
              <a:gd name="connsiteX5" fmla="*/ 4275 w 9955"/>
              <a:gd name="connsiteY5" fmla="*/ 1461 h 10000"/>
              <a:gd name="connsiteX6" fmla="*/ 4321 w 9955"/>
              <a:gd name="connsiteY6" fmla="*/ 1796 h 10000"/>
              <a:gd name="connsiteX7" fmla="*/ 4321 w 9955"/>
              <a:gd name="connsiteY7" fmla="*/ 9665 h 10000"/>
              <a:gd name="connsiteX8" fmla="*/ 4367 w 9955"/>
              <a:gd name="connsiteY8" fmla="*/ 10000 h 10000"/>
              <a:gd name="connsiteX9" fmla="*/ 5817 w 9955"/>
              <a:gd name="connsiteY9" fmla="*/ 10000 h 10000"/>
              <a:gd name="connsiteX10" fmla="*/ 5863 w 9955"/>
              <a:gd name="connsiteY10" fmla="*/ 9665 h 10000"/>
              <a:gd name="connsiteX11" fmla="*/ 5863 w 9955"/>
              <a:gd name="connsiteY11" fmla="*/ 335 h 10000"/>
              <a:gd name="connsiteX12" fmla="*/ 5910 w 9955"/>
              <a:gd name="connsiteY12" fmla="*/ 0 h 10000"/>
              <a:gd name="connsiteX13" fmla="*/ 6951 w 9955"/>
              <a:gd name="connsiteY13" fmla="*/ 0 h 10000"/>
              <a:gd name="connsiteX14" fmla="*/ 6997 w 9955"/>
              <a:gd name="connsiteY14" fmla="*/ 335 h 10000"/>
              <a:gd name="connsiteX15" fmla="*/ 6997 w 9955"/>
              <a:gd name="connsiteY15" fmla="*/ 8575 h 10000"/>
              <a:gd name="connsiteX16" fmla="*/ 7045 w 9955"/>
              <a:gd name="connsiteY16" fmla="*/ 8910 h 10000"/>
              <a:gd name="connsiteX17" fmla="*/ 9157 w 9955"/>
              <a:gd name="connsiteY17" fmla="*/ 8910 h 10000"/>
              <a:gd name="connsiteX18" fmla="*/ 9203 w 9955"/>
              <a:gd name="connsiteY18" fmla="*/ 8575 h 10000"/>
              <a:gd name="connsiteX19" fmla="*/ 9203 w 9955"/>
              <a:gd name="connsiteY19" fmla="*/ 1772 h 10000"/>
              <a:gd name="connsiteX20" fmla="*/ 9251 w 9955"/>
              <a:gd name="connsiteY20" fmla="*/ 1437 h 10000"/>
              <a:gd name="connsiteX21" fmla="*/ 9955 w 9955"/>
              <a:gd name="connsiteY21" fmla="*/ 1437 h 10000"/>
              <a:gd name="connsiteX0" fmla="*/ 0 w 9293"/>
              <a:gd name="connsiteY0" fmla="*/ 7868 h 10000"/>
              <a:gd name="connsiteX1" fmla="*/ 2092 w 9293"/>
              <a:gd name="connsiteY1" fmla="*/ 7868 h 10000"/>
              <a:gd name="connsiteX2" fmla="*/ 2139 w 9293"/>
              <a:gd name="connsiteY2" fmla="*/ 7533 h 10000"/>
              <a:gd name="connsiteX3" fmla="*/ 2139 w 9293"/>
              <a:gd name="connsiteY3" fmla="*/ 1796 h 10000"/>
              <a:gd name="connsiteX4" fmla="*/ 2185 w 9293"/>
              <a:gd name="connsiteY4" fmla="*/ 1461 h 10000"/>
              <a:gd name="connsiteX5" fmla="*/ 4294 w 9293"/>
              <a:gd name="connsiteY5" fmla="*/ 1461 h 10000"/>
              <a:gd name="connsiteX6" fmla="*/ 4341 w 9293"/>
              <a:gd name="connsiteY6" fmla="*/ 1796 h 10000"/>
              <a:gd name="connsiteX7" fmla="*/ 4341 w 9293"/>
              <a:gd name="connsiteY7" fmla="*/ 9665 h 10000"/>
              <a:gd name="connsiteX8" fmla="*/ 4387 w 9293"/>
              <a:gd name="connsiteY8" fmla="*/ 10000 h 10000"/>
              <a:gd name="connsiteX9" fmla="*/ 5843 w 9293"/>
              <a:gd name="connsiteY9" fmla="*/ 10000 h 10000"/>
              <a:gd name="connsiteX10" fmla="*/ 5890 w 9293"/>
              <a:gd name="connsiteY10" fmla="*/ 9665 h 10000"/>
              <a:gd name="connsiteX11" fmla="*/ 5890 w 9293"/>
              <a:gd name="connsiteY11" fmla="*/ 335 h 10000"/>
              <a:gd name="connsiteX12" fmla="*/ 5937 w 9293"/>
              <a:gd name="connsiteY12" fmla="*/ 0 h 10000"/>
              <a:gd name="connsiteX13" fmla="*/ 6982 w 9293"/>
              <a:gd name="connsiteY13" fmla="*/ 0 h 10000"/>
              <a:gd name="connsiteX14" fmla="*/ 7029 w 9293"/>
              <a:gd name="connsiteY14" fmla="*/ 335 h 10000"/>
              <a:gd name="connsiteX15" fmla="*/ 7029 w 9293"/>
              <a:gd name="connsiteY15" fmla="*/ 8575 h 10000"/>
              <a:gd name="connsiteX16" fmla="*/ 7077 w 9293"/>
              <a:gd name="connsiteY16" fmla="*/ 8910 h 10000"/>
              <a:gd name="connsiteX17" fmla="*/ 9198 w 9293"/>
              <a:gd name="connsiteY17" fmla="*/ 8910 h 10000"/>
              <a:gd name="connsiteX18" fmla="*/ 9245 w 9293"/>
              <a:gd name="connsiteY18" fmla="*/ 8575 h 10000"/>
              <a:gd name="connsiteX19" fmla="*/ 9245 w 9293"/>
              <a:gd name="connsiteY19" fmla="*/ 1772 h 10000"/>
              <a:gd name="connsiteX20" fmla="*/ 9293 w 9293"/>
              <a:gd name="connsiteY20" fmla="*/ 1437 h 10000"/>
              <a:gd name="connsiteX0" fmla="*/ 0 w 9948"/>
              <a:gd name="connsiteY0" fmla="*/ 7868 h 10000"/>
              <a:gd name="connsiteX1" fmla="*/ 2251 w 9948"/>
              <a:gd name="connsiteY1" fmla="*/ 7868 h 10000"/>
              <a:gd name="connsiteX2" fmla="*/ 2302 w 9948"/>
              <a:gd name="connsiteY2" fmla="*/ 7533 h 10000"/>
              <a:gd name="connsiteX3" fmla="*/ 2302 w 9948"/>
              <a:gd name="connsiteY3" fmla="*/ 1796 h 10000"/>
              <a:gd name="connsiteX4" fmla="*/ 2351 w 9948"/>
              <a:gd name="connsiteY4" fmla="*/ 1461 h 10000"/>
              <a:gd name="connsiteX5" fmla="*/ 4621 w 9948"/>
              <a:gd name="connsiteY5" fmla="*/ 1461 h 10000"/>
              <a:gd name="connsiteX6" fmla="*/ 4671 w 9948"/>
              <a:gd name="connsiteY6" fmla="*/ 1796 h 10000"/>
              <a:gd name="connsiteX7" fmla="*/ 4671 w 9948"/>
              <a:gd name="connsiteY7" fmla="*/ 9665 h 10000"/>
              <a:gd name="connsiteX8" fmla="*/ 4721 w 9948"/>
              <a:gd name="connsiteY8" fmla="*/ 10000 h 10000"/>
              <a:gd name="connsiteX9" fmla="*/ 6288 w 9948"/>
              <a:gd name="connsiteY9" fmla="*/ 10000 h 10000"/>
              <a:gd name="connsiteX10" fmla="*/ 6338 w 9948"/>
              <a:gd name="connsiteY10" fmla="*/ 9665 h 10000"/>
              <a:gd name="connsiteX11" fmla="*/ 6338 w 9948"/>
              <a:gd name="connsiteY11" fmla="*/ 335 h 10000"/>
              <a:gd name="connsiteX12" fmla="*/ 6389 w 9948"/>
              <a:gd name="connsiteY12" fmla="*/ 0 h 10000"/>
              <a:gd name="connsiteX13" fmla="*/ 7513 w 9948"/>
              <a:gd name="connsiteY13" fmla="*/ 0 h 10000"/>
              <a:gd name="connsiteX14" fmla="*/ 7564 w 9948"/>
              <a:gd name="connsiteY14" fmla="*/ 335 h 10000"/>
              <a:gd name="connsiteX15" fmla="*/ 7564 w 9948"/>
              <a:gd name="connsiteY15" fmla="*/ 8575 h 10000"/>
              <a:gd name="connsiteX16" fmla="*/ 7615 w 9948"/>
              <a:gd name="connsiteY16" fmla="*/ 8910 h 10000"/>
              <a:gd name="connsiteX17" fmla="*/ 9898 w 9948"/>
              <a:gd name="connsiteY17" fmla="*/ 8910 h 10000"/>
              <a:gd name="connsiteX18" fmla="*/ 9948 w 9948"/>
              <a:gd name="connsiteY18" fmla="*/ 8575 h 10000"/>
              <a:gd name="connsiteX19" fmla="*/ 9948 w 9948"/>
              <a:gd name="connsiteY19" fmla="*/ 1772 h 10000"/>
              <a:gd name="connsiteX0" fmla="*/ 0 w 10000"/>
              <a:gd name="connsiteY0" fmla="*/ 7868 h 10000"/>
              <a:gd name="connsiteX1" fmla="*/ 2263 w 10000"/>
              <a:gd name="connsiteY1" fmla="*/ 7868 h 10000"/>
              <a:gd name="connsiteX2" fmla="*/ 2314 w 10000"/>
              <a:gd name="connsiteY2" fmla="*/ 7533 h 10000"/>
              <a:gd name="connsiteX3" fmla="*/ 2314 w 10000"/>
              <a:gd name="connsiteY3" fmla="*/ 1796 h 10000"/>
              <a:gd name="connsiteX4" fmla="*/ 2363 w 10000"/>
              <a:gd name="connsiteY4" fmla="*/ 1461 h 10000"/>
              <a:gd name="connsiteX5" fmla="*/ 4645 w 10000"/>
              <a:gd name="connsiteY5" fmla="*/ 1461 h 10000"/>
              <a:gd name="connsiteX6" fmla="*/ 4695 w 10000"/>
              <a:gd name="connsiteY6" fmla="*/ 1796 h 10000"/>
              <a:gd name="connsiteX7" fmla="*/ 4695 w 10000"/>
              <a:gd name="connsiteY7" fmla="*/ 9665 h 10000"/>
              <a:gd name="connsiteX8" fmla="*/ 4746 w 10000"/>
              <a:gd name="connsiteY8" fmla="*/ 10000 h 10000"/>
              <a:gd name="connsiteX9" fmla="*/ 6321 w 10000"/>
              <a:gd name="connsiteY9" fmla="*/ 10000 h 10000"/>
              <a:gd name="connsiteX10" fmla="*/ 6371 w 10000"/>
              <a:gd name="connsiteY10" fmla="*/ 9665 h 10000"/>
              <a:gd name="connsiteX11" fmla="*/ 6371 w 10000"/>
              <a:gd name="connsiteY11" fmla="*/ 335 h 10000"/>
              <a:gd name="connsiteX12" fmla="*/ 6422 w 10000"/>
              <a:gd name="connsiteY12" fmla="*/ 0 h 10000"/>
              <a:gd name="connsiteX13" fmla="*/ 7552 w 10000"/>
              <a:gd name="connsiteY13" fmla="*/ 0 h 10000"/>
              <a:gd name="connsiteX14" fmla="*/ 7604 w 10000"/>
              <a:gd name="connsiteY14" fmla="*/ 335 h 10000"/>
              <a:gd name="connsiteX15" fmla="*/ 7604 w 10000"/>
              <a:gd name="connsiteY15" fmla="*/ 8575 h 10000"/>
              <a:gd name="connsiteX16" fmla="*/ 7655 w 10000"/>
              <a:gd name="connsiteY16" fmla="*/ 8910 h 10000"/>
              <a:gd name="connsiteX17" fmla="*/ 9950 w 10000"/>
              <a:gd name="connsiteY17" fmla="*/ 8910 h 10000"/>
              <a:gd name="connsiteX18" fmla="*/ 10000 w 10000"/>
              <a:gd name="connsiteY18" fmla="*/ 8575 h 10000"/>
              <a:gd name="connsiteX0" fmla="*/ 0 w 8266"/>
              <a:gd name="connsiteY0" fmla="*/ 7916 h 10000"/>
              <a:gd name="connsiteX1" fmla="*/ 529 w 8266"/>
              <a:gd name="connsiteY1" fmla="*/ 7868 h 10000"/>
              <a:gd name="connsiteX2" fmla="*/ 580 w 8266"/>
              <a:gd name="connsiteY2" fmla="*/ 7533 h 10000"/>
              <a:gd name="connsiteX3" fmla="*/ 580 w 8266"/>
              <a:gd name="connsiteY3" fmla="*/ 1796 h 10000"/>
              <a:gd name="connsiteX4" fmla="*/ 629 w 8266"/>
              <a:gd name="connsiteY4" fmla="*/ 1461 h 10000"/>
              <a:gd name="connsiteX5" fmla="*/ 2911 w 8266"/>
              <a:gd name="connsiteY5" fmla="*/ 1461 h 10000"/>
              <a:gd name="connsiteX6" fmla="*/ 2961 w 8266"/>
              <a:gd name="connsiteY6" fmla="*/ 1796 h 10000"/>
              <a:gd name="connsiteX7" fmla="*/ 2961 w 8266"/>
              <a:gd name="connsiteY7" fmla="*/ 9665 h 10000"/>
              <a:gd name="connsiteX8" fmla="*/ 3012 w 8266"/>
              <a:gd name="connsiteY8" fmla="*/ 10000 h 10000"/>
              <a:gd name="connsiteX9" fmla="*/ 4587 w 8266"/>
              <a:gd name="connsiteY9" fmla="*/ 10000 h 10000"/>
              <a:gd name="connsiteX10" fmla="*/ 4637 w 8266"/>
              <a:gd name="connsiteY10" fmla="*/ 9665 h 10000"/>
              <a:gd name="connsiteX11" fmla="*/ 4637 w 8266"/>
              <a:gd name="connsiteY11" fmla="*/ 335 h 10000"/>
              <a:gd name="connsiteX12" fmla="*/ 4688 w 8266"/>
              <a:gd name="connsiteY12" fmla="*/ 0 h 10000"/>
              <a:gd name="connsiteX13" fmla="*/ 5818 w 8266"/>
              <a:gd name="connsiteY13" fmla="*/ 0 h 10000"/>
              <a:gd name="connsiteX14" fmla="*/ 5870 w 8266"/>
              <a:gd name="connsiteY14" fmla="*/ 335 h 10000"/>
              <a:gd name="connsiteX15" fmla="*/ 5870 w 8266"/>
              <a:gd name="connsiteY15" fmla="*/ 8575 h 10000"/>
              <a:gd name="connsiteX16" fmla="*/ 5921 w 8266"/>
              <a:gd name="connsiteY16" fmla="*/ 8910 h 10000"/>
              <a:gd name="connsiteX17" fmla="*/ 8216 w 8266"/>
              <a:gd name="connsiteY17" fmla="*/ 8910 h 10000"/>
              <a:gd name="connsiteX18" fmla="*/ 8266 w 8266"/>
              <a:gd name="connsiteY18" fmla="*/ 8575 h 10000"/>
              <a:gd name="connsiteX0" fmla="*/ 0 w 10000"/>
              <a:gd name="connsiteY0" fmla="*/ 7916 h 10000"/>
              <a:gd name="connsiteX1" fmla="*/ 640 w 10000"/>
              <a:gd name="connsiteY1" fmla="*/ 7868 h 10000"/>
              <a:gd name="connsiteX2" fmla="*/ 702 w 10000"/>
              <a:gd name="connsiteY2" fmla="*/ 7533 h 10000"/>
              <a:gd name="connsiteX3" fmla="*/ 702 w 10000"/>
              <a:gd name="connsiteY3" fmla="*/ 1796 h 10000"/>
              <a:gd name="connsiteX4" fmla="*/ 761 w 10000"/>
              <a:gd name="connsiteY4" fmla="*/ 1461 h 10000"/>
              <a:gd name="connsiteX5" fmla="*/ 3522 w 10000"/>
              <a:gd name="connsiteY5" fmla="*/ 1461 h 10000"/>
              <a:gd name="connsiteX6" fmla="*/ 3582 w 10000"/>
              <a:gd name="connsiteY6" fmla="*/ 1796 h 10000"/>
              <a:gd name="connsiteX7" fmla="*/ 3582 w 10000"/>
              <a:gd name="connsiteY7" fmla="*/ 9665 h 10000"/>
              <a:gd name="connsiteX8" fmla="*/ 3644 w 10000"/>
              <a:gd name="connsiteY8" fmla="*/ 10000 h 10000"/>
              <a:gd name="connsiteX9" fmla="*/ 5549 w 10000"/>
              <a:gd name="connsiteY9" fmla="*/ 10000 h 10000"/>
              <a:gd name="connsiteX10" fmla="*/ 5610 w 10000"/>
              <a:gd name="connsiteY10" fmla="*/ 9665 h 10000"/>
              <a:gd name="connsiteX11" fmla="*/ 5610 w 10000"/>
              <a:gd name="connsiteY11" fmla="*/ 335 h 10000"/>
              <a:gd name="connsiteX12" fmla="*/ 5671 w 10000"/>
              <a:gd name="connsiteY12" fmla="*/ 0 h 10000"/>
              <a:gd name="connsiteX13" fmla="*/ 7038 w 10000"/>
              <a:gd name="connsiteY13" fmla="*/ 0 h 10000"/>
              <a:gd name="connsiteX14" fmla="*/ 7101 w 10000"/>
              <a:gd name="connsiteY14" fmla="*/ 335 h 10000"/>
              <a:gd name="connsiteX15" fmla="*/ 7101 w 10000"/>
              <a:gd name="connsiteY15" fmla="*/ 8575 h 10000"/>
              <a:gd name="connsiteX16" fmla="*/ 7163 w 10000"/>
              <a:gd name="connsiteY16" fmla="*/ 8910 h 10000"/>
              <a:gd name="connsiteX17" fmla="*/ 9940 w 10000"/>
              <a:gd name="connsiteY17" fmla="*/ 8910 h 10000"/>
              <a:gd name="connsiteX18" fmla="*/ 10000 w 10000"/>
              <a:gd name="connsiteY18" fmla="*/ 8575 h 10000"/>
              <a:gd name="connsiteX0" fmla="*/ 0 w 9964"/>
              <a:gd name="connsiteY0" fmla="*/ 7882 h 10000"/>
              <a:gd name="connsiteX1" fmla="*/ 604 w 9964"/>
              <a:gd name="connsiteY1" fmla="*/ 7868 h 10000"/>
              <a:gd name="connsiteX2" fmla="*/ 666 w 9964"/>
              <a:gd name="connsiteY2" fmla="*/ 7533 h 10000"/>
              <a:gd name="connsiteX3" fmla="*/ 666 w 9964"/>
              <a:gd name="connsiteY3" fmla="*/ 1796 h 10000"/>
              <a:gd name="connsiteX4" fmla="*/ 725 w 9964"/>
              <a:gd name="connsiteY4" fmla="*/ 1461 h 10000"/>
              <a:gd name="connsiteX5" fmla="*/ 3486 w 9964"/>
              <a:gd name="connsiteY5" fmla="*/ 1461 h 10000"/>
              <a:gd name="connsiteX6" fmla="*/ 3546 w 9964"/>
              <a:gd name="connsiteY6" fmla="*/ 1796 h 10000"/>
              <a:gd name="connsiteX7" fmla="*/ 3546 w 9964"/>
              <a:gd name="connsiteY7" fmla="*/ 9665 h 10000"/>
              <a:gd name="connsiteX8" fmla="*/ 3608 w 9964"/>
              <a:gd name="connsiteY8" fmla="*/ 10000 h 10000"/>
              <a:gd name="connsiteX9" fmla="*/ 5513 w 9964"/>
              <a:gd name="connsiteY9" fmla="*/ 10000 h 10000"/>
              <a:gd name="connsiteX10" fmla="*/ 5574 w 9964"/>
              <a:gd name="connsiteY10" fmla="*/ 9665 h 10000"/>
              <a:gd name="connsiteX11" fmla="*/ 5574 w 9964"/>
              <a:gd name="connsiteY11" fmla="*/ 335 h 10000"/>
              <a:gd name="connsiteX12" fmla="*/ 5635 w 9964"/>
              <a:gd name="connsiteY12" fmla="*/ 0 h 10000"/>
              <a:gd name="connsiteX13" fmla="*/ 7002 w 9964"/>
              <a:gd name="connsiteY13" fmla="*/ 0 h 10000"/>
              <a:gd name="connsiteX14" fmla="*/ 7065 w 9964"/>
              <a:gd name="connsiteY14" fmla="*/ 335 h 10000"/>
              <a:gd name="connsiteX15" fmla="*/ 7065 w 9964"/>
              <a:gd name="connsiteY15" fmla="*/ 8575 h 10000"/>
              <a:gd name="connsiteX16" fmla="*/ 7127 w 9964"/>
              <a:gd name="connsiteY16" fmla="*/ 8910 h 10000"/>
              <a:gd name="connsiteX17" fmla="*/ 9904 w 9964"/>
              <a:gd name="connsiteY17" fmla="*/ 8910 h 10000"/>
              <a:gd name="connsiteX18" fmla="*/ 9964 w 9964"/>
              <a:gd name="connsiteY18" fmla="*/ 8575 h 10000"/>
              <a:gd name="connsiteX0" fmla="*/ 0 w 10018"/>
              <a:gd name="connsiteY0" fmla="*/ 7882 h 10000"/>
              <a:gd name="connsiteX1" fmla="*/ 624 w 10018"/>
              <a:gd name="connsiteY1" fmla="*/ 7868 h 10000"/>
              <a:gd name="connsiteX2" fmla="*/ 686 w 10018"/>
              <a:gd name="connsiteY2" fmla="*/ 7533 h 10000"/>
              <a:gd name="connsiteX3" fmla="*/ 686 w 10018"/>
              <a:gd name="connsiteY3" fmla="*/ 1796 h 10000"/>
              <a:gd name="connsiteX4" fmla="*/ 746 w 10018"/>
              <a:gd name="connsiteY4" fmla="*/ 1461 h 10000"/>
              <a:gd name="connsiteX5" fmla="*/ 3517 w 10018"/>
              <a:gd name="connsiteY5" fmla="*/ 1461 h 10000"/>
              <a:gd name="connsiteX6" fmla="*/ 3577 w 10018"/>
              <a:gd name="connsiteY6" fmla="*/ 1796 h 10000"/>
              <a:gd name="connsiteX7" fmla="*/ 3577 w 10018"/>
              <a:gd name="connsiteY7" fmla="*/ 9665 h 10000"/>
              <a:gd name="connsiteX8" fmla="*/ 3639 w 10018"/>
              <a:gd name="connsiteY8" fmla="*/ 10000 h 10000"/>
              <a:gd name="connsiteX9" fmla="*/ 5551 w 10018"/>
              <a:gd name="connsiteY9" fmla="*/ 10000 h 10000"/>
              <a:gd name="connsiteX10" fmla="*/ 5612 w 10018"/>
              <a:gd name="connsiteY10" fmla="*/ 9665 h 10000"/>
              <a:gd name="connsiteX11" fmla="*/ 5612 w 10018"/>
              <a:gd name="connsiteY11" fmla="*/ 335 h 10000"/>
              <a:gd name="connsiteX12" fmla="*/ 5673 w 10018"/>
              <a:gd name="connsiteY12" fmla="*/ 0 h 10000"/>
              <a:gd name="connsiteX13" fmla="*/ 7045 w 10018"/>
              <a:gd name="connsiteY13" fmla="*/ 0 h 10000"/>
              <a:gd name="connsiteX14" fmla="*/ 7109 w 10018"/>
              <a:gd name="connsiteY14" fmla="*/ 335 h 10000"/>
              <a:gd name="connsiteX15" fmla="*/ 7109 w 10018"/>
              <a:gd name="connsiteY15" fmla="*/ 8575 h 10000"/>
              <a:gd name="connsiteX16" fmla="*/ 7171 w 10018"/>
              <a:gd name="connsiteY16" fmla="*/ 8910 h 10000"/>
              <a:gd name="connsiteX17" fmla="*/ 9958 w 10018"/>
              <a:gd name="connsiteY17" fmla="*/ 8910 h 10000"/>
              <a:gd name="connsiteX18" fmla="*/ 10018 w 10018"/>
              <a:gd name="connsiteY18" fmla="*/ 8575 h 10000"/>
              <a:gd name="connsiteX0" fmla="*/ 0 w 10023"/>
              <a:gd name="connsiteY0" fmla="*/ 7857 h 10000"/>
              <a:gd name="connsiteX1" fmla="*/ 629 w 10023"/>
              <a:gd name="connsiteY1" fmla="*/ 7868 h 10000"/>
              <a:gd name="connsiteX2" fmla="*/ 691 w 10023"/>
              <a:gd name="connsiteY2" fmla="*/ 7533 h 10000"/>
              <a:gd name="connsiteX3" fmla="*/ 691 w 10023"/>
              <a:gd name="connsiteY3" fmla="*/ 1796 h 10000"/>
              <a:gd name="connsiteX4" fmla="*/ 751 w 10023"/>
              <a:gd name="connsiteY4" fmla="*/ 1461 h 10000"/>
              <a:gd name="connsiteX5" fmla="*/ 3522 w 10023"/>
              <a:gd name="connsiteY5" fmla="*/ 1461 h 10000"/>
              <a:gd name="connsiteX6" fmla="*/ 3582 w 10023"/>
              <a:gd name="connsiteY6" fmla="*/ 1796 h 10000"/>
              <a:gd name="connsiteX7" fmla="*/ 3582 w 10023"/>
              <a:gd name="connsiteY7" fmla="*/ 9665 h 10000"/>
              <a:gd name="connsiteX8" fmla="*/ 3644 w 10023"/>
              <a:gd name="connsiteY8" fmla="*/ 10000 h 10000"/>
              <a:gd name="connsiteX9" fmla="*/ 5556 w 10023"/>
              <a:gd name="connsiteY9" fmla="*/ 10000 h 10000"/>
              <a:gd name="connsiteX10" fmla="*/ 5617 w 10023"/>
              <a:gd name="connsiteY10" fmla="*/ 9665 h 10000"/>
              <a:gd name="connsiteX11" fmla="*/ 5617 w 10023"/>
              <a:gd name="connsiteY11" fmla="*/ 335 h 10000"/>
              <a:gd name="connsiteX12" fmla="*/ 5678 w 10023"/>
              <a:gd name="connsiteY12" fmla="*/ 0 h 10000"/>
              <a:gd name="connsiteX13" fmla="*/ 7050 w 10023"/>
              <a:gd name="connsiteY13" fmla="*/ 0 h 10000"/>
              <a:gd name="connsiteX14" fmla="*/ 7114 w 10023"/>
              <a:gd name="connsiteY14" fmla="*/ 335 h 10000"/>
              <a:gd name="connsiteX15" fmla="*/ 7114 w 10023"/>
              <a:gd name="connsiteY15" fmla="*/ 8575 h 10000"/>
              <a:gd name="connsiteX16" fmla="*/ 7176 w 10023"/>
              <a:gd name="connsiteY16" fmla="*/ 8910 h 10000"/>
              <a:gd name="connsiteX17" fmla="*/ 9963 w 10023"/>
              <a:gd name="connsiteY17" fmla="*/ 8910 h 10000"/>
              <a:gd name="connsiteX18" fmla="*/ 10023 w 10023"/>
              <a:gd name="connsiteY18" fmla="*/ 8575 h 10000"/>
              <a:gd name="connsiteX0" fmla="*/ 0 w 10023"/>
              <a:gd name="connsiteY0" fmla="*/ 7857 h 10000"/>
              <a:gd name="connsiteX1" fmla="*/ 629 w 10023"/>
              <a:gd name="connsiteY1" fmla="*/ 7868 h 10000"/>
              <a:gd name="connsiteX2" fmla="*/ 691 w 10023"/>
              <a:gd name="connsiteY2" fmla="*/ 7533 h 10000"/>
              <a:gd name="connsiteX3" fmla="*/ 691 w 10023"/>
              <a:gd name="connsiteY3" fmla="*/ 1796 h 10000"/>
              <a:gd name="connsiteX4" fmla="*/ 751 w 10023"/>
              <a:gd name="connsiteY4" fmla="*/ 1461 h 10000"/>
              <a:gd name="connsiteX5" fmla="*/ 3522 w 10023"/>
              <a:gd name="connsiteY5" fmla="*/ 1461 h 10000"/>
              <a:gd name="connsiteX6" fmla="*/ 3582 w 10023"/>
              <a:gd name="connsiteY6" fmla="*/ 1796 h 10000"/>
              <a:gd name="connsiteX7" fmla="*/ 3582 w 10023"/>
              <a:gd name="connsiteY7" fmla="*/ 9665 h 10000"/>
              <a:gd name="connsiteX8" fmla="*/ 3644 w 10023"/>
              <a:gd name="connsiteY8" fmla="*/ 10000 h 10000"/>
              <a:gd name="connsiteX9" fmla="*/ 5556 w 10023"/>
              <a:gd name="connsiteY9" fmla="*/ 10000 h 10000"/>
              <a:gd name="connsiteX10" fmla="*/ 5617 w 10023"/>
              <a:gd name="connsiteY10" fmla="*/ 9665 h 10000"/>
              <a:gd name="connsiteX11" fmla="*/ 5617 w 10023"/>
              <a:gd name="connsiteY11" fmla="*/ 335 h 10000"/>
              <a:gd name="connsiteX12" fmla="*/ 5678 w 10023"/>
              <a:gd name="connsiteY12" fmla="*/ 0 h 10000"/>
              <a:gd name="connsiteX13" fmla="*/ 7050 w 10023"/>
              <a:gd name="connsiteY13" fmla="*/ 0 h 10000"/>
              <a:gd name="connsiteX14" fmla="*/ 7114 w 10023"/>
              <a:gd name="connsiteY14" fmla="*/ 335 h 10000"/>
              <a:gd name="connsiteX15" fmla="*/ 7114 w 10023"/>
              <a:gd name="connsiteY15" fmla="*/ 8575 h 10000"/>
              <a:gd name="connsiteX16" fmla="*/ 7176 w 10023"/>
              <a:gd name="connsiteY16" fmla="*/ 8910 h 10000"/>
              <a:gd name="connsiteX17" fmla="*/ 10023 w 10023"/>
              <a:gd name="connsiteY17" fmla="*/ 8575 h 10000"/>
              <a:gd name="connsiteX0" fmla="*/ 0 w 8783"/>
              <a:gd name="connsiteY0" fmla="*/ 7857 h 10000"/>
              <a:gd name="connsiteX1" fmla="*/ 629 w 8783"/>
              <a:gd name="connsiteY1" fmla="*/ 7868 h 10000"/>
              <a:gd name="connsiteX2" fmla="*/ 691 w 8783"/>
              <a:gd name="connsiteY2" fmla="*/ 7533 h 10000"/>
              <a:gd name="connsiteX3" fmla="*/ 691 w 8783"/>
              <a:gd name="connsiteY3" fmla="*/ 1796 h 10000"/>
              <a:gd name="connsiteX4" fmla="*/ 751 w 8783"/>
              <a:gd name="connsiteY4" fmla="*/ 1461 h 10000"/>
              <a:gd name="connsiteX5" fmla="*/ 3522 w 8783"/>
              <a:gd name="connsiteY5" fmla="*/ 1461 h 10000"/>
              <a:gd name="connsiteX6" fmla="*/ 3582 w 8783"/>
              <a:gd name="connsiteY6" fmla="*/ 1796 h 10000"/>
              <a:gd name="connsiteX7" fmla="*/ 3582 w 8783"/>
              <a:gd name="connsiteY7" fmla="*/ 9665 h 10000"/>
              <a:gd name="connsiteX8" fmla="*/ 3644 w 8783"/>
              <a:gd name="connsiteY8" fmla="*/ 10000 h 10000"/>
              <a:gd name="connsiteX9" fmla="*/ 5556 w 8783"/>
              <a:gd name="connsiteY9" fmla="*/ 10000 h 10000"/>
              <a:gd name="connsiteX10" fmla="*/ 5617 w 8783"/>
              <a:gd name="connsiteY10" fmla="*/ 9665 h 10000"/>
              <a:gd name="connsiteX11" fmla="*/ 5617 w 8783"/>
              <a:gd name="connsiteY11" fmla="*/ 335 h 10000"/>
              <a:gd name="connsiteX12" fmla="*/ 5678 w 8783"/>
              <a:gd name="connsiteY12" fmla="*/ 0 h 10000"/>
              <a:gd name="connsiteX13" fmla="*/ 7050 w 8783"/>
              <a:gd name="connsiteY13" fmla="*/ 0 h 10000"/>
              <a:gd name="connsiteX14" fmla="*/ 7114 w 8783"/>
              <a:gd name="connsiteY14" fmla="*/ 335 h 10000"/>
              <a:gd name="connsiteX15" fmla="*/ 7114 w 8783"/>
              <a:gd name="connsiteY15" fmla="*/ 8575 h 10000"/>
              <a:gd name="connsiteX16" fmla="*/ 7176 w 8783"/>
              <a:gd name="connsiteY16" fmla="*/ 8910 h 10000"/>
              <a:gd name="connsiteX17" fmla="*/ 8783 w 8783"/>
              <a:gd name="connsiteY17" fmla="*/ 8893 h 10000"/>
              <a:gd name="connsiteX0" fmla="*/ 0 w 9997"/>
              <a:gd name="connsiteY0" fmla="*/ 7857 h 10000"/>
              <a:gd name="connsiteX1" fmla="*/ 716 w 9997"/>
              <a:gd name="connsiteY1" fmla="*/ 7868 h 10000"/>
              <a:gd name="connsiteX2" fmla="*/ 787 w 9997"/>
              <a:gd name="connsiteY2" fmla="*/ 7533 h 10000"/>
              <a:gd name="connsiteX3" fmla="*/ 787 w 9997"/>
              <a:gd name="connsiteY3" fmla="*/ 1796 h 10000"/>
              <a:gd name="connsiteX4" fmla="*/ 855 w 9997"/>
              <a:gd name="connsiteY4" fmla="*/ 1461 h 10000"/>
              <a:gd name="connsiteX5" fmla="*/ 4010 w 9997"/>
              <a:gd name="connsiteY5" fmla="*/ 1461 h 10000"/>
              <a:gd name="connsiteX6" fmla="*/ 4078 w 9997"/>
              <a:gd name="connsiteY6" fmla="*/ 1796 h 10000"/>
              <a:gd name="connsiteX7" fmla="*/ 4078 w 9997"/>
              <a:gd name="connsiteY7" fmla="*/ 9665 h 10000"/>
              <a:gd name="connsiteX8" fmla="*/ 4149 w 9997"/>
              <a:gd name="connsiteY8" fmla="*/ 10000 h 10000"/>
              <a:gd name="connsiteX9" fmla="*/ 6326 w 9997"/>
              <a:gd name="connsiteY9" fmla="*/ 10000 h 10000"/>
              <a:gd name="connsiteX10" fmla="*/ 6395 w 9997"/>
              <a:gd name="connsiteY10" fmla="*/ 9665 h 10000"/>
              <a:gd name="connsiteX11" fmla="*/ 6395 w 9997"/>
              <a:gd name="connsiteY11" fmla="*/ 335 h 10000"/>
              <a:gd name="connsiteX12" fmla="*/ 6465 w 9997"/>
              <a:gd name="connsiteY12" fmla="*/ 0 h 10000"/>
              <a:gd name="connsiteX13" fmla="*/ 8027 w 9997"/>
              <a:gd name="connsiteY13" fmla="*/ 0 h 10000"/>
              <a:gd name="connsiteX14" fmla="*/ 8100 w 9997"/>
              <a:gd name="connsiteY14" fmla="*/ 335 h 10000"/>
              <a:gd name="connsiteX15" fmla="*/ 8100 w 9997"/>
              <a:gd name="connsiteY15" fmla="*/ 8575 h 10000"/>
              <a:gd name="connsiteX16" fmla="*/ 8170 w 9997"/>
              <a:gd name="connsiteY16" fmla="*/ 8910 h 10000"/>
              <a:gd name="connsiteX17" fmla="*/ 9997 w 9997"/>
              <a:gd name="connsiteY17" fmla="*/ 8927 h 10000"/>
              <a:gd name="connsiteX0" fmla="*/ 0 w 10000"/>
              <a:gd name="connsiteY0" fmla="*/ 7857 h 10000"/>
              <a:gd name="connsiteX1" fmla="*/ 716 w 10000"/>
              <a:gd name="connsiteY1" fmla="*/ 7868 h 10000"/>
              <a:gd name="connsiteX2" fmla="*/ 787 w 10000"/>
              <a:gd name="connsiteY2" fmla="*/ 7533 h 10000"/>
              <a:gd name="connsiteX3" fmla="*/ 787 w 10000"/>
              <a:gd name="connsiteY3" fmla="*/ 1796 h 10000"/>
              <a:gd name="connsiteX4" fmla="*/ 855 w 10000"/>
              <a:gd name="connsiteY4" fmla="*/ 1461 h 10000"/>
              <a:gd name="connsiteX5" fmla="*/ 4011 w 10000"/>
              <a:gd name="connsiteY5" fmla="*/ 1461 h 10000"/>
              <a:gd name="connsiteX6" fmla="*/ 4079 w 10000"/>
              <a:gd name="connsiteY6" fmla="*/ 1796 h 10000"/>
              <a:gd name="connsiteX7" fmla="*/ 4079 w 10000"/>
              <a:gd name="connsiteY7" fmla="*/ 9665 h 10000"/>
              <a:gd name="connsiteX8" fmla="*/ 4150 w 10000"/>
              <a:gd name="connsiteY8" fmla="*/ 10000 h 10000"/>
              <a:gd name="connsiteX9" fmla="*/ 6328 w 10000"/>
              <a:gd name="connsiteY9" fmla="*/ 10000 h 10000"/>
              <a:gd name="connsiteX10" fmla="*/ 6397 w 10000"/>
              <a:gd name="connsiteY10" fmla="*/ 9665 h 10000"/>
              <a:gd name="connsiteX11" fmla="*/ 6397 w 10000"/>
              <a:gd name="connsiteY11" fmla="*/ 335 h 10000"/>
              <a:gd name="connsiteX12" fmla="*/ 6467 w 10000"/>
              <a:gd name="connsiteY12" fmla="*/ 0 h 10000"/>
              <a:gd name="connsiteX13" fmla="*/ 8029 w 10000"/>
              <a:gd name="connsiteY13" fmla="*/ 0 h 10000"/>
              <a:gd name="connsiteX14" fmla="*/ 8102 w 10000"/>
              <a:gd name="connsiteY14" fmla="*/ 335 h 10000"/>
              <a:gd name="connsiteX15" fmla="*/ 8102 w 10000"/>
              <a:gd name="connsiteY15" fmla="*/ 8575 h 10000"/>
              <a:gd name="connsiteX16" fmla="*/ 8172 w 10000"/>
              <a:gd name="connsiteY16" fmla="*/ 8910 h 10000"/>
              <a:gd name="connsiteX17" fmla="*/ 10000 w 10000"/>
              <a:gd name="connsiteY17" fmla="*/ 8927 h 10000"/>
              <a:gd name="connsiteX0" fmla="*/ 0 w 10000"/>
              <a:gd name="connsiteY0" fmla="*/ 7857 h 10000"/>
              <a:gd name="connsiteX1" fmla="*/ 716 w 10000"/>
              <a:gd name="connsiteY1" fmla="*/ 7868 h 10000"/>
              <a:gd name="connsiteX2" fmla="*/ 787 w 10000"/>
              <a:gd name="connsiteY2" fmla="*/ 7533 h 10000"/>
              <a:gd name="connsiteX3" fmla="*/ 787 w 10000"/>
              <a:gd name="connsiteY3" fmla="*/ 1796 h 10000"/>
              <a:gd name="connsiteX4" fmla="*/ 855 w 10000"/>
              <a:gd name="connsiteY4" fmla="*/ 1461 h 10000"/>
              <a:gd name="connsiteX5" fmla="*/ 4011 w 10000"/>
              <a:gd name="connsiteY5" fmla="*/ 1461 h 10000"/>
              <a:gd name="connsiteX6" fmla="*/ 4079 w 10000"/>
              <a:gd name="connsiteY6" fmla="*/ 1796 h 10000"/>
              <a:gd name="connsiteX7" fmla="*/ 4079 w 10000"/>
              <a:gd name="connsiteY7" fmla="*/ 9665 h 10000"/>
              <a:gd name="connsiteX8" fmla="*/ 4150 w 10000"/>
              <a:gd name="connsiteY8" fmla="*/ 10000 h 10000"/>
              <a:gd name="connsiteX9" fmla="*/ 6328 w 10000"/>
              <a:gd name="connsiteY9" fmla="*/ 10000 h 10000"/>
              <a:gd name="connsiteX10" fmla="*/ 6397 w 10000"/>
              <a:gd name="connsiteY10" fmla="*/ 9665 h 10000"/>
              <a:gd name="connsiteX11" fmla="*/ 6397 w 10000"/>
              <a:gd name="connsiteY11" fmla="*/ 335 h 10000"/>
              <a:gd name="connsiteX12" fmla="*/ 6467 w 10000"/>
              <a:gd name="connsiteY12" fmla="*/ 0 h 10000"/>
              <a:gd name="connsiteX13" fmla="*/ 8029 w 10000"/>
              <a:gd name="connsiteY13" fmla="*/ 0 h 10000"/>
              <a:gd name="connsiteX14" fmla="*/ 8102 w 10000"/>
              <a:gd name="connsiteY14" fmla="*/ 335 h 10000"/>
              <a:gd name="connsiteX15" fmla="*/ 8102 w 10000"/>
              <a:gd name="connsiteY15" fmla="*/ 8575 h 10000"/>
              <a:gd name="connsiteX16" fmla="*/ 8172 w 10000"/>
              <a:gd name="connsiteY16" fmla="*/ 8910 h 10000"/>
              <a:gd name="connsiteX17" fmla="*/ 10000 w 10000"/>
              <a:gd name="connsiteY17" fmla="*/ 8927 h 10000"/>
              <a:gd name="connsiteX0" fmla="*/ 0 w 10000"/>
              <a:gd name="connsiteY0" fmla="*/ 7857 h 10000"/>
              <a:gd name="connsiteX1" fmla="*/ 716 w 10000"/>
              <a:gd name="connsiteY1" fmla="*/ 7868 h 10000"/>
              <a:gd name="connsiteX2" fmla="*/ 787 w 10000"/>
              <a:gd name="connsiteY2" fmla="*/ 7533 h 10000"/>
              <a:gd name="connsiteX3" fmla="*/ 787 w 10000"/>
              <a:gd name="connsiteY3" fmla="*/ 1796 h 10000"/>
              <a:gd name="connsiteX4" fmla="*/ 855 w 10000"/>
              <a:gd name="connsiteY4" fmla="*/ 1461 h 10000"/>
              <a:gd name="connsiteX5" fmla="*/ 4011 w 10000"/>
              <a:gd name="connsiteY5" fmla="*/ 1461 h 10000"/>
              <a:gd name="connsiteX6" fmla="*/ 4079 w 10000"/>
              <a:gd name="connsiteY6" fmla="*/ 1796 h 10000"/>
              <a:gd name="connsiteX7" fmla="*/ 4079 w 10000"/>
              <a:gd name="connsiteY7" fmla="*/ 9665 h 10000"/>
              <a:gd name="connsiteX8" fmla="*/ 4150 w 10000"/>
              <a:gd name="connsiteY8" fmla="*/ 10000 h 10000"/>
              <a:gd name="connsiteX9" fmla="*/ 6328 w 10000"/>
              <a:gd name="connsiteY9" fmla="*/ 10000 h 10000"/>
              <a:gd name="connsiteX10" fmla="*/ 6397 w 10000"/>
              <a:gd name="connsiteY10" fmla="*/ 9665 h 10000"/>
              <a:gd name="connsiteX11" fmla="*/ 6397 w 10000"/>
              <a:gd name="connsiteY11" fmla="*/ 335 h 10000"/>
              <a:gd name="connsiteX12" fmla="*/ 6467 w 10000"/>
              <a:gd name="connsiteY12" fmla="*/ 0 h 10000"/>
              <a:gd name="connsiteX13" fmla="*/ 8029 w 10000"/>
              <a:gd name="connsiteY13" fmla="*/ 0 h 10000"/>
              <a:gd name="connsiteX14" fmla="*/ 8102 w 10000"/>
              <a:gd name="connsiteY14" fmla="*/ 335 h 10000"/>
              <a:gd name="connsiteX15" fmla="*/ 8102 w 10000"/>
              <a:gd name="connsiteY15" fmla="*/ 8575 h 10000"/>
              <a:gd name="connsiteX16" fmla="*/ 8172 w 10000"/>
              <a:gd name="connsiteY16" fmla="*/ 8910 h 10000"/>
              <a:gd name="connsiteX17" fmla="*/ 10000 w 10000"/>
              <a:gd name="connsiteY17" fmla="*/ 8927 h 10000"/>
              <a:gd name="connsiteX0" fmla="*/ 0 w 10000"/>
              <a:gd name="connsiteY0" fmla="*/ 7857 h 10000"/>
              <a:gd name="connsiteX1" fmla="*/ 726 w 10000"/>
              <a:gd name="connsiteY1" fmla="*/ 7868 h 10000"/>
              <a:gd name="connsiteX2" fmla="*/ 787 w 10000"/>
              <a:gd name="connsiteY2" fmla="*/ 7533 h 10000"/>
              <a:gd name="connsiteX3" fmla="*/ 787 w 10000"/>
              <a:gd name="connsiteY3" fmla="*/ 1796 h 10000"/>
              <a:gd name="connsiteX4" fmla="*/ 855 w 10000"/>
              <a:gd name="connsiteY4" fmla="*/ 1461 h 10000"/>
              <a:gd name="connsiteX5" fmla="*/ 4011 w 10000"/>
              <a:gd name="connsiteY5" fmla="*/ 1461 h 10000"/>
              <a:gd name="connsiteX6" fmla="*/ 4079 w 10000"/>
              <a:gd name="connsiteY6" fmla="*/ 1796 h 10000"/>
              <a:gd name="connsiteX7" fmla="*/ 4079 w 10000"/>
              <a:gd name="connsiteY7" fmla="*/ 9665 h 10000"/>
              <a:gd name="connsiteX8" fmla="*/ 4150 w 10000"/>
              <a:gd name="connsiteY8" fmla="*/ 10000 h 10000"/>
              <a:gd name="connsiteX9" fmla="*/ 6328 w 10000"/>
              <a:gd name="connsiteY9" fmla="*/ 10000 h 10000"/>
              <a:gd name="connsiteX10" fmla="*/ 6397 w 10000"/>
              <a:gd name="connsiteY10" fmla="*/ 9665 h 10000"/>
              <a:gd name="connsiteX11" fmla="*/ 6397 w 10000"/>
              <a:gd name="connsiteY11" fmla="*/ 335 h 10000"/>
              <a:gd name="connsiteX12" fmla="*/ 6467 w 10000"/>
              <a:gd name="connsiteY12" fmla="*/ 0 h 10000"/>
              <a:gd name="connsiteX13" fmla="*/ 8029 w 10000"/>
              <a:gd name="connsiteY13" fmla="*/ 0 h 10000"/>
              <a:gd name="connsiteX14" fmla="*/ 8102 w 10000"/>
              <a:gd name="connsiteY14" fmla="*/ 335 h 10000"/>
              <a:gd name="connsiteX15" fmla="*/ 8102 w 10000"/>
              <a:gd name="connsiteY15" fmla="*/ 8575 h 10000"/>
              <a:gd name="connsiteX16" fmla="*/ 8172 w 10000"/>
              <a:gd name="connsiteY16" fmla="*/ 8910 h 10000"/>
              <a:gd name="connsiteX17" fmla="*/ 10000 w 10000"/>
              <a:gd name="connsiteY17" fmla="*/ 8927 h 10000"/>
              <a:gd name="connsiteX0" fmla="*/ 0 w 10000"/>
              <a:gd name="connsiteY0" fmla="*/ 7857 h 10000"/>
              <a:gd name="connsiteX1" fmla="*/ 726 w 10000"/>
              <a:gd name="connsiteY1" fmla="*/ 7855 h 10000"/>
              <a:gd name="connsiteX2" fmla="*/ 787 w 10000"/>
              <a:gd name="connsiteY2" fmla="*/ 7533 h 10000"/>
              <a:gd name="connsiteX3" fmla="*/ 787 w 10000"/>
              <a:gd name="connsiteY3" fmla="*/ 1796 h 10000"/>
              <a:gd name="connsiteX4" fmla="*/ 855 w 10000"/>
              <a:gd name="connsiteY4" fmla="*/ 1461 h 10000"/>
              <a:gd name="connsiteX5" fmla="*/ 4011 w 10000"/>
              <a:gd name="connsiteY5" fmla="*/ 1461 h 10000"/>
              <a:gd name="connsiteX6" fmla="*/ 4079 w 10000"/>
              <a:gd name="connsiteY6" fmla="*/ 1796 h 10000"/>
              <a:gd name="connsiteX7" fmla="*/ 4079 w 10000"/>
              <a:gd name="connsiteY7" fmla="*/ 9665 h 10000"/>
              <a:gd name="connsiteX8" fmla="*/ 4150 w 10000"/>
              <a:gd name="connsiteY8" fmla="*/ 10000 h 10000"/>
              <a:gd name="connsiteX9" fmla="*/ 6328 w 10000"/>
              <a:gd name="connsiteY9" fmla="*/ 10000 h 10000"/>
              <a:gd name="connsiteX10" fmla="*/ 6397 w 10000"/>
              <a:gd name="connsiteY10" fmla="*/ 9665 h 10000"/>
              <a:gd name="connsiteX11" fmla="*/ 6397 w 10000"/>
              <a:gd name="connsiteY11" fmla="*/ 335 h 10000"/>
              <a:gd name="connsiteX12" fmla="*/ 6467 w 10000"/>
              <a:gd name="connsiteY12" fmla="*/ 0 h 10000"/>
              <a:gd name="connsiteX13" fmla="*/ 8029 w 10000"/>
              <a:gd name="connsiteY13" fmla="*/ 0 h 10000"/>
              <a:gd name="connsiteX14" fmla="*/ 8102 w 10000"/>
              <a:gd name="connsiteY14" fmla="*/ 335 h 10000"/>
              <a:gd name="connsiteX15" fmla="*/ 8102 w 10000"/>
              <a:gd name="connsiteY15" fmla="*/ 8575 h 10000"/>
              <a:gd name="connsiteX16" fmla="*/ 8172 w 10000"/>
              <a:gd name="connsiteY16" fmla="*/ 8910 h 10000"/>
              <a:gd name="connsiteX17" fmla="*/ 10000 w 10000"/>
              <a:gd name="connsiteY17" fmla="*/ 8927 h 10000"/>
              <a:gd name="connsiteX0" fmla="*/ 0 w 10000"/>
              <a:gd name="connsiteY0" fmla="*/ 7857 h 10000"/>
              <a:gd name="connsiteX1" fmla="*/ 726 w 10000"/>
              <a:gd name="connsiteY1" fmla="*/ 7855 h 10000"/>
              <a:gd name="connsiteX2" fmla="*/ 787 w 10000"/>
              <a:gd name="connsiteY2" fmla="*/ 7533 h 10000"/>
              <a:gd name="connsiteX3" fmla="*/ 787 w 10000"/>
              <a:gd name="connsiteY3" fmla="*/ 1796 h 10000"/>
              <a:gd name="connsiteX4" fmla="*/ 855 w 10000"/>
              <a:gd name="connsiteY4" fmla="*/ 1461 h 10000"/>
              <a:gd name="connsiteX5" fmla="*/ 4011 w 10000"/>
              <a:gd name="connsiteY5" fmla="*/ 1461 h 10000"/>
              <a:gd name="connsiteX6" fmla="*/ 4079 w 10000"/>
              <a:gd name="connsiteY6" fmla="*/ 1796 h 10000"/>
              <a:gd name="connsiteX7" fmla="*/ 4079 w 10000"/>
              <a:gd name="connsiteY7" fmla="*/ 9665 h 10000"/>
              <a:gd name="connsiteX8" fmla="*/ 4150 w 10000"/>
              <a:gd name="connsiteY8" fmla="*/ 10000 h 10000"/>
              <a:gd name="connsiteX9" fmla="*/ 6328 w 10000"/>
              <a:gd name="connsiteY9" fmla="*/ 10000 h 10000"/>
              <a:gd name="connsiteX10" fmla="*/ 6397 w 10000"/>
              <a:gd name="connsiteY10" fmla="*/ 9665 h 10000"/>
              <a:gd name="connsiteX11" fmla="*/ 6397 w 10000"/>
              <a:gd name="connsiteY11" fmla="*/ 335 h 10000"/>
              <a:gd name="connsiteX12" fmla="*/ 6467 w 10000"/>
              <a:gd name="connsiteY12" fmla="*/ 0 h 10000"/>
              <a:gd name="connsiteX13" fmla="*/ 8029 w 10000"/>
              <a:gd name="connsiteY13" fmla="*/ 0 h 10000"/>
              <a:gd name="connsiteX14" fmla="*/ 8102 w 10000"/>
              <a:gd name="connsiteY14" fmla="*/ 335 h 10000"/>
              <a:gd name="connsiteX15" fmla="*/ 8102 w 10000"/>
              <a:gd name="connsiteY15" fmla="*/ 8575 h 10000"/>
              <a:gd name="connsiteX16" fmla="*/ 8172 w 10000"/>
              <a:gd name="connsiteY16" fmla="*/ 8910 h 10000"/>
              <a:gd name="connsiteX17" fmla="*/ 10000 w 10000"/>
              <a:gd name="connsiteY17" fmla="*/ 8927 h 10000"/>
              <a:gd name="connsiteX0" fmla="*/ 0 w 10000"/>
              <a:gd name="connsiteY0" fmla="*/ 7857 h 10000"/>
              <a:gd name="connsiteX1" fmla="*/ 726 w 10000"/>
              <a:gd name="connsiteY1" fmla="*/ 7855 h 10000"/>
              <a:gd name="connsiteX2" fmla="*/ 787 w 10000"/>
              <a:gd name="connsiteY2" fmla="*/ 7533 h 10000"/>
              <a:gd name="connsiteX3" fmla="*/ 787 w 10000"/>
              <a:gd name="connsiteY3" fmla="*/ 1796 h 10000"/>
              <a:gd name="connsiteX4" fmla="*/ 855 w 10000"/>
              <a:gd name="connsiteY4" fmla="*/ 1461 h 10000"/>
              <a:gd name="connsiteX5" fmla="*/ 4011 w 10000"/>
              <a:gd name="connsiteY5" fmla="*/ 1461 h 10000"/>
              <a:gd name="connsiteX6" fmla="*/ 4079 w 10000"/>
              <a:gd name="connsiteY6" fmla="*/ 1796 h 10000"/>
              <a:gd name="connsiteX7" fmla="*/ 4079 w 10000"/>
              <a:gd name="connsiteY7" fmla="*/ 9665 h 10000"/>
              <a:gd name="connsiteX8" fmla="*/ 4150 w 10000"/>
              <a:gd name="connsiteY8" fmla="*/ 10000 h 10000"/>
              <a:gd name="connsiteX9" fmla="*/ 6328 w 10000"/>
              <a:gd name="connsiteY9" fmla="*/ 10000 h 10000"/>
              <a:gd name="connsiteX10" fmla="*/ 6397 w 10000"/>
              <a:gd name="connsiteY10" fmla="*/ 9665 h 10000"/>
              <a:gd name="connsiteX11" fmla="*/ 6397 w 10000"/>
              <a:gd name="connsiteY11" fmla="*/ 335 h 10000"/>
              <a:gd name="connsiteX12" fmla="*/ 6467 w 10000"/>
              <a:gd name="connsiteY12" fmla="*/ 0 h 10000"/>
              <a:gd name="connsiteX13" fmla="*/ 8029 w 10000"/>
              <a:gd name="connsiteY13" fmla="*/ 0 h 10000"/>
              <a:gd name="connsiteX14" fmla="*/ 8102 w 10000"/>
              <a:gd name="connsiteY14" fmla="*/ 335 h 10000"/>
              <a:gd name="connsiteX15" fmla="*/ 8102 w 10000"/>
              <a:gd name="connsiteY15" fmla="*/ 8575 h 10000"/>
              <a:gd name="connsiteX16" fmla="*/ 8172 w 10000"/>
              <a:gd name="connsiteY16" fmla="*/ 8910 h 10000"/>
              <a:gd name="connsiteX17" fmla="*/ 10000 w 10000"/>
              <a:gd name="connsiteY17" fmla="*/ 8927 h 10000"/>
              <a:gd name="connsiteX0" fmla="*/ 0 w 10000"/>
              <a:gd name="connsiteY0" fmla="*/ 7857 h 10000"/>
              <a:gd name="connsiteX1" fmla="*/ 726 w 10000"/>
              <a:gd name="connsiteY1" fmla="*/ 7855 h 10000"/>
              <a:gd name="connsiteX2" fmla="*/ 787 w 10000"/>
              <a:gd name="connsiteY2" fmla="*/ 7533 h 10000"/>
              <a:gd name="connsiteX3" fmla="*/ 787 w 10000"/>
              <a:gd name="connsiteY3" fmla="*/ 1796 h 10000"/>
              <a:gd name="connsiteX4" fmla="*/ 855 w 10000"/>
              <a:gd name="connsiteY4" fmla="*/ 1461 h 10000"/>
              <a:gd name="connsiteX5" fmla="*/ 4011 w 10000"/>
              <a:gd name="connsiteY5" fmla="*/ 1461 h 10000"/>
              <a:gd name="connsiteX6" fmla="*/ 4079 w 10000"/>
              <a:gd name="connsiteY6" fmla="*/ 1796 h 10000"/>
              <a:gd name="connsiteX7" fmla="*/ 4079 w 10000"/>
              <a:gd name="connsiteY7" fmla="*/ 9665 h 10000"/>
              <a:gd name="connsiteX8" fmla="*/ 4150 w 10000"/>
              <a:gd name="connsiteY8" fmla="*/ 10000 h 10000"/>
              <a:gd name="connsiteX9" fmla="*/ 6328 w 10000"/>
              <a:gd name="connsiteY9" fmla="*/ 10000 h 10000"/>
              <a:gd name="connsiteX10" fmla="*/ 6397 w 10000"/>
              <a:gd name="connsiteY10" fmla="*/ 9665 h 10000"/>
              <a:gd name="connsiteX11" fmla="*/ 6397 w 10000"/>
              <a:gd name="connsiteY11" fmla="*/ 335 h 10000"/>
              <a:gd name="connsiteX12" fmla="*/ 6467 w 10000"/>
              <a:gd name="connsiteY12" fmla="*/ 0 h 10000"/>
              <a:gd name="connsiteX13" fmla="*/ 8029 w 10000"/>
              <a:gd name="connsiteY13" fmla="*/ 0 h 10000"/>
              <a:gd name="connsiteX14" fmla="*/ 8102 w 10000"/>
              <a:gd name="connsiteY14" fmla="*/ 335 h 10000"/>
              <a:gd name="connsiteX15" fmla="*/ 8102 w 10000"/>
              <a:gd name="connsiteY15" fmla="*/ 8575 h 10000"/>
              <a:gd name="connsiteX16" fmla="*/ 8172 w 10000"/>
              <a:gd name="connsiteY16" fmla="*/ 8935 h 10000"/>
              <a:gd name="connsiteX17" fmla="*/ 10000 w 10000"/>
              <a:gd name="connsiteY17" fmla="*/ 8927 h 10000"/>
              <a:gd name="connsiteX0" fmla="*/ 0 w 10008"/>
              <a:gd name="connsiteY0" fmla="*/ 7857 h 10000"/>
              <a:gd name="connsiteX1" fmla="*/ 726 w 10008"/>
              <a:gd name="connsiteY1" fmla="*/ 7855 h 10000"/>
              <a:gd name="connsiteX2" fmla="*/ 787 w 10008"/>
              <a:gd name="connsiteY2" fmla="*/ 7533 h 10000"/>
              <a:gd name="connsiteX3" fmla="*/ 787 w 10008"/>
              <a:gd name="connsiteY3" fmla="*/ 1796 h 10000"/>
              <a:gd name="connsiteX4" fmla="*/ 855 w 10008"/>
              <a:gd name="connsiteY4" fmla="*/ 1461 h 10000"/>
              <a:gd name="connsiteX5" fmla="*/ 4011 w 10008"/>
              <a:gd name="connsiteY5" fmla="*/ 1461 h 10000"/>
              <a:gd name="connsiteX6" fmla="*/ 4079 w 10008"/>
              <a:gd name="connsiteY6" fmla="*/ 1796 h 10000"/>
              <a:gd name="connsiteX7" fmla="*/ 4079 w 10008"/>
              <a:gd name="connsiteY7" fmla="*/ 9665 h 10000"/>
              <a:gd name="connsiteX8" fmla="*/ 4150 w 10008"/>
              <a:gd name="connsiteY8" fmla="*/ 10000 h 10000"/>
              <a:gd name="connsiteX9" fmla="*/ 6328 w 10008"/>
              <a:gd name="connsiteY9" fmla="*/ 10000 h 10000"/>
              <a:gd name="connsiteX10" fmla="*/ 6397 w 10008"/>
              <a:gd name="connsiteY10" fmla="*/ 9665 h 10000"/>
              <a:gd name="connsiteX11" fmla="*/ 6397 w 10008"/>
              <a:gd name="connsiteY11" fmla="*/ 335 h 10000"/>
              <a:gd name="connsiteX12" fmla="*/ 6467 w 10008"/>
              <a:gd name="connsiteY12" fmla="*/ 0 h 10000"/>
              <a:gd name="connsiteX13" fmla="*/ 8029 w 10008"/>
              <a:gd name="connsiteY13" fmla="*/ 0 h 10000"/>
              <a:gd name="connsiteX14" fmla="*/ 8102 w 10008"/>
              <a:gd name="connsiteY14" fmla="*/ 335 h 10000"/>
              <a:gd name="connsiteX15" fmla="*/ 8102 w 10008"/>
              <a:gd name="connsiteY15" fmla="*/ 8575 h 10000"/>
              <a:gd name="connsiteX16" fmla="*/ 8172 w 10008"/>
              <a:gd name="connsiteY16" fmla="*/ 8935 h 10000"/>
              <a:gd name="connsiteX17" fmla="*/ 10008 w 10008"/>
              <a:gd name="connsiteY17" fmla="*/ 8927 h 10000"/>
              <a:gd name="connsiteX0" fmla="*/ 0 w 10016"/>
              <a:gd name="connsiteY0" fmla="*/ 7857 h 10000"/>
              <a:gd name="connsiteX1" fmla="*/ 726 w 10016"/>
              <a:gd name="connsiteY1" fmla="*/ 7855 h 10000"/>
              <a:gd name="connsiteX2" fmla="*/ 787 w 10016"/>
              <a:gd name="connsiteY2" fmla="*/ 7533 h 10000"/>
              <a:gd name="connsiteX3" fmla="*/ 787 w 10016"/>
              <a:gd name="connsiteY3" fmla="*/ 1796 h 10000"/>
              <a:gd name="connsiteX4" fmla="*/ 855 w 10016"/>
              <a:gd name="connsiteY4" fmla="*/ 1461 h 10000"/>
              <a:gd name="connsiteX5" fmla="*/ 4011 w 10016"/>
              <a:gd name="connsiteY5" fmla="*/ 1461 h 10000"/>
              <a:gd name="connsiteX6" fmla="*/ 4079 w 10016"/>
              <a:gd name="connsiteY6" fmla="*/ 1796 h 10000"/>
              <a:gd name="connsiteX7" fmla="*/ 4079 w 10016"/>
              <a:gd name="connsiteY7" fmla="*/ 9665 h 10000"/>
              <a:gd name="connsiteX8" fmla="*/ 4150 w 10016"/>
              <a:gd name="connsiteY8" fmla="*/ 10000 h 10000"/>
              <a:gd name="connsiteX9" fmla="*/ 6328 w 10016"/>
              <a:gd name="connsiteY9" fmla="*/ 10000 h 10000"/>
              <a:gd name="connsiteX10" fmla="*/ 6397 w 10016"/>
              <a:gd name="connsiteY10" fmla="*/ 9665 h 10000"/>
              <a:gd name="connsiteX11" fmla="*/ 6397 w 10016"/>
              <a:gd name="connsiteY11" fmla="*/ 335 h 10000"/>
              <a:gd name="connsiteX12" fmla="*/ 6467 w 10016"/>
              <a:gd name="connsiteY12" fmla="*/ 0 h 10000"/>
              <a:gd name="connsiteX13" fmla="*/ 8029 w 10016"/>
              <a:gd name="connsiteY13" fmla="*/ 0 h 10000"/>
              <a:gd name="connsiteX14" fmla="*/ 8102 w 10016"/>
              <a:gd name="connsiteY14" fmla="*/ 335 h 10000"/>
              <a:gd name="connsiteX15" fmla="*/ 8102 w 10016"/>
              <a:gd name="connsiteY15" fmla="*/ 8575 h 10000"/>
              <a:gd name="connsiteX16" fmla="*/ 8172 w 10016"/>
              <a:gd name="connsiteY16" fmla="*/ 8935 h 10000"/>
              <a:gd name="connsiteX17" fmla="*/ 10016 w 10016"/>
              <a:gd name="connsiteY17" fmla="*/ 8940 h 10000"/>
              <a:gd name="connsiteX0" fmla="*/ 0 w 10016"/>
              <a:gd name="connsiteY0" fmla="*/ 7857 h 10000"/>
              <a:gd name="connsiteX1" fmla="*/ 726 w 10016"/>
              <a:gd name="connsiteY1" fmla="*/ 7855 h 10000"/>
              <a:gd name="connsiteX2" fmla="*/ 787 w 10016"/>
              <a:gd name="connsiteY2" fmla="*/ 7533 h 10000"/>
              <a:gd name="connsiteX3" fmla="*/ 787 w 10016"/>
              <a:gd name="connsiteY3" fmla="*/ 1796 h 10000"/>
              <a:gd name="connsiteX4" fmla="*/ 855 w 10016"/>
              <a:gd name="connsiteY4" fmla="*/ 1461 h 10000"/>
              <a:gd name="connsiteX5" fmla="*/ 4011 w 10016"/>
              <a:gd name="connsiteY5" fmla="*/ 1461 h 10000"/>
              <a:gd name="connsiteX6" fmla="*/ 4079 w 10016"/>
              <a:gd name="connsiteY6" fmla="*/ 1796 h 10000"/>
              <a:gd name="connsiteX7" fmla="*/ 4079 w 10016"/>
              <a:gd name="connsiteY7" fmla="*/ 9665 h 10000"/>
              <a:gd name="connsiteX8" fmla="*/ 4150 w 10016"/>
              <a:gd name="connsiteY8" fmla="*/ 10000 h 10000"/>
              <a:gd name="connsiteX9" fmla="*/ 6328 w 10016"/>
              <a:gd name="connsiteY9" fmla="*/ 10000 h 10000"/>
              <a:gd name="connsiteX10" fmla="*/ 6397 w 10016"/>
              <a:gd name="connsiteY10" fmla="*/ 9665 h 10000"/>
              <a:gd name="connsiteX11" fmla="*/ 6397 w 10016"/>
              <a:gd name="connsiteY11" fmla="*/ 335 h 10000"/>
              <a:gd name="connsiteX12" fmla="*/ 6467 w 10016"/>
              <a:gd name="connsiteY12" fmla="*/ 0 h 10000"/>
              <a:gd name="connsiteX13" fmla="*/ 8029 w 10016"/>
              <a:gd name="connsiteY13" fmla="*/ 0 h 10000"/>
              <a:gd name="connsiteX14" fmla="*/ 8102 w 10016"/>
              <a:gd name="connsiteY14" fmla="*/ 335 h 10000"/>
              <a:gd name="connsiteX15" fmla="*/ 8102 w 10016"/>
              <a:gd name="connsiteY15" fmla="*/ 8575 h 10000"/>
              <a:gd name="connsiteX16" fmla="*/ 8172 w 10016"/>
              <a:gd name="connsiteY16" fmla="*/ 8935 h 10000"/>
              <a:gd name="connsiteX17" fmla="*/ 10016 w 10016"/>
              <a:gd name="connsiteY17" fmla="*/ 8927 h 10000"/>
              <a:gd name="connsiteX0" fmla="*/ 0 w 10050"/>
              <a:gd name="connsiteY0" fmla="*/ 7857 h 10000"/>
              <a:gd name="connsiteX1" fmla="*/ 726 w 10050"/>
              <a:gd name="connsiteY1" fmla="*/ 7855 h 10000"/>
              <a:gd name="connsiteX2" fmla="*/ 787 w 10050"/>
              <a:gd name="connsiteY2" fmla="*/ 7533 h 10000"/>
              <a:gd name="connsiteX3" fmla="*/ 787 w 10050"/>
              <a:gd name="connsiteY3" fmla="*/ 1796 h 10000"/>
              <a:gd name="connsiteX4" fmla="*/ 855 w 10050"/>
              <a:gd name="connsiteY4" fmla="*/ 1461 h 10000"/>
              <a:gd name="connsiteX5" fmla="*/ 4011 w 10050"/>
              <a:gd name="connsiteY5" fmla="*/ 1461 h 10000"/>
              <a:gd name="connsiteX6" fmla="*/ 4079 w 10050"/>
              <a:gd name="connsiteY6" fmla="*/ 1796 h 10000"/>
              <a:gd name="connsiteX7" fmla="*/ 4079 w 10050"/>
              <a:gd name="connsiteY7" fmla="*/ 9665 h 10000"/>
              <a:gd name="connsiteX8" fmla="*/ 4150 w 10050"/>
              <a:gd name="connsiteY8" fmla="*/ 10000 h 10000"/>
              <a:gd name="connsiteX9" fmla="*/ 6328 w 10050"/>
              <a:gd name="connsiteY9" fmla="*/ 10000 h 10000"/>
              <a:gd name="connsiteX10" fmla="*/ 6397 w 10050"/>
              <a:gd name="connsiteY10" fmla="*/ 9665 h 10000"/>
              <a:gd name="connsiteX11" fmla="*/ 6397 w 10050"/>
              <a:gd name="connsiteY11" fmla="*/ 335 h 10000"/>
              <a:gd name="connsiteX12" fmla="*/ 6467 w 10050"/>
              <a:gd name="connsiteY12" fmla="*/ 0 h 10000"/>
              <a:gd name="connsiteX13" fmla="*/ 8029 w 10050"/>
              <a:gd name="connsiteY13" fmla="*/ 0 h 10000"/>
              <a:gd name="connsiteX14" fmla="*/ 8102 w 10050"/>
              <a:gd name="connsiteY14" fmla="*/ 335 h 10000"/>
              <a:gd name="connsiteX15" fmla="*/ 8102 w 10050"/>
              <a:gd name="connsiteY15" fmla="*/ 8575 h 10000"/>
              <a:gd name="connsiteX16" fmla="*/ 8172 w 10050"/>
              <a:gd name="connsiteY16" fmla="*/ 8935 h 10000"/>
              <a:gd name="connsiteX17" fmla="*/ 10050 w 10050"/>
              <a:gd name="connsiteY17" fmla="*/ 8927 h 10000"/>
              <a:gd name="connsiteX0" fmla="*/ 0 w 10037"/>
              <a:gd name="connsiteY0" fmla="*/ 7857 h 10000"/>
              <a:gd name="connsiteX1" fmla="*/ 726 w 10037"/>
              <a:gd name="connsiteY1" fmla="*/ 7855 h 10000"/>
              <a:gd name="connsiteX2" fmla="*/ 787 w 10037"/>
              <a:gd name="connsiteY2" fmla="*/ 7533 h 10000"/>
              <a:gd name="connsiteX3" fmla="*/ 787 w 10037"/>
              <a:gd name="connsiteY3" fmla="*/ 1796 h 10000"/>
              <a:gd name="connsiteX4" fmla="*/ 855 w 10037"/>
              <a:gd name="connsiteY4" fmla="*/ 1461 h 10000"/>
              <a:gd name="connsiteX5" fmla="*/ 4011 w 10037"/>
              <a:gd name="connsiteY5" fmla="*/ 1461 h 10000"/>
              <a:gd name="connsiteX6" fmla="*/ 4079 w 10037"/>
              <a:gd name="connsiteY6" fmla="*/ 1796 h 10000"/>
              <a:gd name="connsiteX7" fmla="*/ 4079 w 10037"/>
              <a:gd name="connsiteY7" fmla="*/ 9665 h 10000"/>
              <a:gd name="connsiteX8" fmla="*/ 4150 w 10037"/>
              <a:gd name="connsiteY8" fmla="*/ 10000 h 10000"/>
              <a:gd name="connsiteX9" fmla="*/ 6328 w 10037"/>
              <a:gd name="connsiteY9" fmla="*/ 10000 h 10000"/>
              <a:gd name="connsiteX10" fmla="*/ 6397 w 10037"/>
              <a:gd name="connsiteY10" fmla="*/ 9665 h 10000"/>
              <a:gd name="connsiteX11" fmla="*/ 6397 w 10037"/>
              <a:gd name="connsiteY11" fmla="*/ 335 h 10000"/>
              <a:gd name="connsiteX12" fmla="*/ 6467 w 10037"/>
              <a:gd name="connsiteY12" fmla="*/ 0 h 10000"/>
              <a:gd name="connsiteX13" fmla="*/ 8029 w 10037"/>
              <a:gd name="connsiteY13" fmla="*/ 0 h 10000"/>
              <a:gd name="connsiteX14" fmla="*/ 8102 w 10037"/>
              <a:gd name="connsiteY14" fmla="*/ 335 h 10000"/>
              <a:gd name="connsiteX15" fmla="*/ 8102 w 10037"/>
              <a:gd name="connsiteY15" fmla="*/ 8575 h 10000"/>
              <a:gd name="connsiteX16" fmla="*/ 8172 w 10037"/>
              <a:gd name="connsiteY16" fmla="*/ 8935 h 10000"/>
              <a:gd name="connsiteX17" fmla="*/ 10037 w 10037"/>
              <a:gd name="connsiteY17" fmla="*/ 8940 h 10000"/>
              <a:gd name="connsiteX0" fmla="*/ 0 w 10037"/>
              <a:gd name="connsiteY0" fmla="*/ 7857 h 10000"/>
              <a:gd name="connsiteX1" fmla="*/ 726 w 10037"/>
              <a:gd name="connsiteY1" fmla="*/ 7855 h 10000"/>
              <a:gd name="connsiteX2" fmla="*/ 787 w 10037"/>
              <a:gd name="connsiteY2" fmla="*/ 7533 h 10000"/>
              <a:gd name="connsiteX3" fmla="*/ 787 w 10037"/>
              <a:gd name="connsiteY3" fmla="*/ 1796 h 10000"/>
              <a:gd name="connsiteX4" fmla="*/ 855 w 10037"/>
              <a:gd name="connsiteY4" fmla="*/ 1461 h 10000"/>
              <a:gd name="connsiteX5" fmla="*/ 4011 w 10037"/>
              <a:gd name="connsiteY5" fmla="*/ 1461 h 10000"/>
              <a:gd name="connsiteX6" fmla="*/ 4079 w 10037"/>
              <a:gd name="connsiteY6" fmla="*/ 1796 h 10000"/>
              <a:gd name="connsiteX7" fmla="*/ 4079 w 10037"/>
              <a:gd name="connsiteY7" fmla="*/ 9665 h 10000"/>
              <a:gd name="connsiteX8" fmla="*/ 4150 w 10037"/>
              <a:gd name="connsiteY8" fmla="*/ 10000 h 10000"/>
              <a:gd name="connsiteX9" fmla="*/ 6328 w 10037"/>
              <a:gd name="connsiteY9" fmla="*/ 10000 h 10000"/>
              <a:gd name="connsiteX10" fmla="*/ 6397 w 10037"/>
              <a:gd name="connsiteY10" fmla="*/ 9665 h 10000"/>
              <a:gd name="connsiteX11" fmla="*/ 6397 w 10037"/>
              <a:gd name="connsiteY11" fmla="*/ 335 h 10000"/>
              <a:gd name="connsiteX12" fmla="*/ 6467 w 10037"/>
              <a:gd name="connsiteY12" fmla="*/ 0 h 10000"/>
              <a:gd name="connsiteX13" fmla="*/ 8029 w 10037"/>
              <a:gd name="connsiteY13" fmla="*/ 0 h 10000"/>
              <a:gd name="connsiteX14" fmla="*/ 8102 w 10037"/>
              <a:gd name="connsiteY14" fmla="*/ 335 h 10000"/>
              <a:gd name="connsiteX15" fmla="*/ 8102 w 10037"/>
              <a:gd name="connsiteY15" fmla="*/ 8575 h 10000"/>
              <a:gd name="connsiteX16" fmla="*/ 8172 w 10037"/>
              <a:gd name="connsiteY16" fmla="*/ 8935 h 10000"/>
              <a:gd name="connsiteX17" fmla="*/ 10037 w 10037"/>
              <a:gd name="connsiteY17" fmla="*/ 8915 h 10000"/>
              <a:gd name="connsiteX0" fmla="*/ 0 w 10034"/>
              <a:gd name="connsiteY0" fmla="*/ 7857 h 10000"/>
              <a:gd name="connsiteX1" fmla="*/ 726 w 10034"/>
              <a:gd name="connsiteY1" fmla="*/ 7855 h 10000"/>
              <a:gd name="connsiteX2" fmla="*/ 787 w 10034"/>
              <a:gd name="connsiteY2" fmla="*/ 7533 h 10000"/>
              <a:gd name="connsiteX3" fmla="*/ 787 w 10034"/>
              <a:gd name="connsiteY3" fmla="*/ 1796 h 10000"/>
              <a:gd name="connsiteX4" fmla="*/ 855 w 10034"/>
              <a:gd name="connsiteY4" fmla="*/ 1461 h 10000"/>
              <a:gd name="connsiteX5" fmla="*/ 4011 w 10034"/>
              <a:gd name="connsiteY5" fmla="*/ 1461 h 10000"/>
              <a:gd name="connsiteX6" fmla="*/ 4079 w 10034"/>
              <a:gd name="connsiteY6" fmla="*/ 1796 h 10000"/>
              <a:gd name="connsiteX7" fmla="*/ 4079 w 10034"/>
              <a:gd name="connsiteY7" fmla="*/ 9665 h 10000"/>
              <a:gd name="connsiteX8" fmla="*/ 4150 w 10034"/>
              <a:gd name="connsiteY8" fmla="*/ 10000 h 10000"/>
              <a:gd name="connsiteX9" fmla="*/ 6328 w 10034"/>
              <a:gd name="connsiteY9" fmla="*/ 10000 h 10000"/>
              <a:gd name="connsiteX10" fmla="*/ 6397 w 10034"/>
              <a:gd name="connsiteY10" fmla="*/ 9665 h 10000"/>
              <a:gd name="connsiteX11" fmla="*/ 6397 w 10034"/>
              <a:gd name="connsiteY11" fmla="*/ 335 h 10000"/>
              <a:gd name="connsiteX12" fmla="*/ 6467 w 10034"/>
              <a:gd name="connsiteY12" fmla="*/ 0 h 10000"/>
              <a:gd name="connsiteX13" fmla="*/ 8029 w 10034"/>
              <a:gd name="connsiteY13" fmla="*/ 0 h 10000"/>
              <a:gd name="connsiteX14" fmla="*/ 8102 w 10034"/>
              <a:gd name="connsiteY14" fmla="*/ 335 h 10000"/>
              <a:gd name="connsiteX15" fmla="*/ 8102 w 10034"/>
              <a:gd name="connsiteY15" fmla="*/ 8575 h 10000"/>
              <a:gd name="connsiteX16" fmla="*/ 8172 w 10034"/>
              <a:gd name="connsiteY16" fmla="*/ 8935 h 10000"/>
              <a:gd name="connsiteX17" fmla="*/ 10034 w 10034"/>
              <a:gd name="connsiteY17" fmla="*/ 8915 h 10000"/>
              <a:gd name="connsiteX0" fmla="*/ 0 w 10034"/>
              <a:gd name="connsiteY0" fmla="*/ 7857 h 10000"/>
              <a:gd name="connsiteX1" fmla="*/ 726 w 10034"/>
              <a:gd name="connsiteY1" fmla="*/ 7855 h 10000"/>
              <a:gd name="connsiteX2" fmla="*/ 787 w 10034"/>
              <a:gd name="connsiteY2" fmla="*/ 7533 h 10000"/>
              <a:gd name="connsiteX3" fmla="*/ 787 w 10034"/>
              <a:gd name="connsiteY3" fmla="*/ 1796 h 10000"/>
              <a:gd name="connsiteX4" fmla="*/ 855 w 10034"/>
              <a:gd name="connsiteY4" fmla="*/ 1461 h 10000"/>
              <a:gd name="connsiteX5" fmla="*/ 4011 w 10034"/>
              <a:gd name="connsiteY5" fmla="*/ 1461 h 10000"/>
              <a:gd name="connsiteX6" fmla="*/ 4079 w 10034"/>
              <a:gd name="connsiteY6" fmla="*/ 1796 h 10000"/>
              <a:gd name="connsiteX7" fmla="*/ 4079 w 10034"/>
              <a:gd name="connsiteY7" fmla="*/ 9665 h 10000"/>
              <a:gd name="connsiteX8" fmla="*/ 4150 w 10034"/>
              <a:gd name="connsiteY8" fmla="*/ 10000 h 10000"/>
              <a:gd name="connsiteX9" fmla="*/ 6328 w 10034"/>
              <a:gd name="connsiteY9" fmla="*/ 10000 h 10000"/>
              <a:gd name="connsiteX10" fmla="*/ 6397 w 10034"/>
              <a:gd name="connsiteY10" fmla="*/ 9665 h 10000"/>
              <a:gd name="connsiteX11" fmla="*/ 6397 w 10034"/>
              <a:gd name="connsiteY11" fmla="*/ 335 h 10000"/>
              <a:gd name="connsiteX12" fmla="*/ 6467 w 10034"/>
              <a:gd name="connsiteY12" fmla="*/ 0 h 10000"/>
              <a:gd name="connsiteX13" fmla="*/ 8029 w 10034"/>
              <a:gd name="connsiteY13" fmla="*/ 0 h 10000"/>
              <a:gd name="connsiteX14" fmla="*/ 8102 w 10034"/>
              <a:gd name="connsiteY14" fmla="*/ 335 h 10000"/>
              <a:gd name="connsiteX15" fmla="*/ 8102 w 10034"/>
              <a:gd name="connsiteY15" fmla="*/ 8575 h 10000"/>
              <a:gd name="connsiteX16" fmla="*/ 8172 w 10034"/>
              <a:gd name="connsiteY16" fmla="*/ 8935 h 10000"/>
              <a:gd name="connsiteX17" fmla="*/ 10034 w 10034"/>
              <a:gd name="connsiteY17" fmla="*/ 8915 h 10000"/>
              <a:gd name="connsiteX0" fmla="*/ 0 w 10034"/>
              <a:gd name="connsiteY0" fmla="*/ 7857 h 10000"/>
              <a:gd name="connsiteX1" fmla="*/ 726 w 10034"/>
              <a:gd name="connsiteY1" fmla="*/ 7855 h 10000"/>
              <a:gd name="connsiteX2" fmla="*/ 787 w 10034"/>
              <a:gd name="connsiteY2" fmla="*/ 7533 h 10000"/>
              <a:gd name="connsiteX3" fmla="*/ 787 w 10034"/>
              <a:gd name="connsiteY3" fmla="*/ 1796 h 10000"/>
              <a:gd name="connsiteX4" fmla="*/ 855 w 10034"/>
              <a:gd name="connsiteY4" fmla="*/ 1461 h 10000"/>
              <a:gd name="connsiteX5" fmla="*/ 4011 w 10034"/>
              <a:gd name="connsiteY5" fmla="*/ 1461 h 10000"/>
              <a:gd name="connsiteX6" fmla="*/ 4079 w 10034"/>
              <a:gd name="connsiteY6" fmla="*/ 1796 h 10000"/>
              <a:gd name="connsiteX7" fmla="*/ 4079 w 10034"/>
              <a:gd name="connsiteY7" fmla="*/ 9665 h 10000"/>
              <a:gd name="connsiteX8" fmla="*/ 4150 w 10034"/>
              <a:gd name="connsiteY8" fmla="*/ 10000 h 10000"/>
              <a:gd name="connsiteX9" fmla="*/ 6328 w 10034"/>
              <a:gd name="connsiteY9" fmla="*/ 10000 h 10000"/>
              <a:gd name="connsiteX10" fmla="*/ 6397 w 10034"/>
              <a:gd name="connsiteY10" fmla="*/ 9665 h 10000"/>
              <a:gd name="connsiteX11" fmla="*/ 6397 w 10034"/>
              <a:gd name="connsiteY11" fmla="*/ 335 h 10000"/>
              <a:gd name="connsiteX12" fmla="*/ 6467 w 10034"/>
              <a:gd name="connsiteY12" fmla="*/ 0 h 10000"/>
              <a:gd name="connsiteX13" fmla="*/ 8029 w 10034"/>
              <a:gd name="connsiteY13" fmla="*/ 0 h 10000"/>
              <a:gd name="connsiteX14" fmla="*/ 8102 w 10034"/>
              <a:gd name="connsiteY14" fmla="*/ 335 h 10000"/>
              <a:gd name="connsiteX15" fmla="*/ 8102 w 10034"/>
              <a:gd name="connsiteY15" fmla="*/ 8575 h 10000"/>
              <a:gd name="connsiteX16" fmla="*/ 8172 w 10034"/>
              <a:gd name="connsiteY16" fmla="*/ 8935 h 10000"/>
              <a:gd name="connsiteX17" fmla="*/ 10034 w 10034"/>
              <a:gd name="connsiteY17" fmla="*/ 8915 h 10000"/>
              <a:gd name="connsiteX0" fmla="*/ 0 w 10034"/>
              <a:gd name="connsiteY0" fmla="*/ 7857 h 10000"/>
              <a:gd name="connsiteX1" fmla="*/ 726 w 10034"/>
              <a:gd name="connsiteY1" fmla="*/ 7855 h 10000"/>
              <a:gd name="connsiteX2" fmla="*/ 787 w 10034"/>
              <a:gd name="connsiteY2" fmla="*/ 7533 h 10000"/>
              <a:gd name="connsiteX3" fmla="*/ 787 w 10034"/>
              <a:gd name="connsiteY3" fmla="*/ 1796 h 10000"/>
              <a:gd name="connsiteX4" fmla="*/ 855 w 10034"/>
              <a:gd name="connsiteY4" fmla="*/ 1461 h 10000"/>
              <a:gd name="connsiteX5" fmla="*/ 4011 w 10034"/>
              <a:gd name="connsiteY5" fmla="*/ 1461 h 10000"/>
              <a:gd name="connsiteX6" fmla="*/ 4079 w 10034"/>
              <a:gd name="connsiteY6" fmla="*/ 1796 h 10000"/>
              <a:gd name="connsiteX7" fmla="*/ 4079 w 10034"/>
              <a:gd name="connsiteY7" fmla="*/ 9665 h 10000"/>
              <a:gd name="connsiteX8" fmla="*/ 4150 w 10034"/>
              <a:gd name="connsiteY8" fmla="*/ 10000 h 10000"/>
              <a:gd name="connsiteX9" fmla="*/ 6328 w 10034"/>
              <a:gd name="connsiteY9" fmla="*/ 10000 h 10000"/>
              <a:gd name="connsiteX10" fmla="*/ 6397 w 10034"/>
              <a:gd name="connsiteY10" fmla="*/ 9665 h 10000"/>
              <a:gd name="connsiteX11" fmla="*/ 6397 w 10034"/>
              <a:gd name="connsiteY11" fmla="*/ 335 h 10000"/>
              <a:gd name="connsiteX12" fmla="*/ 6467 w 10034"/>
              <a:gd name="connsiteY12" fmla="*/ 0 h 10000"/>
              <a:gd name="connsiteX13" fmla="*/ 8029 w 10034"/>
              <a:gd name="connsiteY13" fmla="*/ 0 h 10000"/>
              <a:gd name="connsiteX14" fmla="*/ 8102 w 10034"/>
              <a:gd name="connsiteY14" fmla="*/ 335 h 10000"/>
              <a:gd name="connsiteX15" fmla="*/ 8102 w 10034"/>
              <a:gd name="connsiteY15" fmla="*/ 8575 h 10000"/>
              <a:gd name="connsiteX16" fmla="*/ 8172 w 10034"/>
              <a:gd name="connsiteY16" fmla="*/ 8935 h 10000"/>
              <a:gd name="connsiteX17" fmla="*/ 10034 w 10034"/>
              <a:gd name="connsiteY17" fmla="*/ 8915 h 10000"/>
              <a:gd name="connsiteX0" fmla="*/ 0 w 10034"/>
              <a:gd name="connsiteY0" fmla="*/ 7857 h 10000"/>
              <a:gd name="connsiteX1" fmla="*/ 726 w 10034"/>
              <a:gd name="connsiteY1" fmla="*/ 7855 h 10000"/>
              <a:gd name="connsiteX2" fmla="*/ 787 w 10034"/>
              <a:gd name="connsiteY2" fmla="*/ 7533 h 10000"/>
              <a:gd name="connsiteX3" fmla="*/ 787 w 10034"/>
              <a:gd name="connsiteY3" fmla="*/ 1796 h 10000"/>
              <a:gd name="connsiteX4" fmla="*/ 855 w 10034"/>
              <a:gd name="connsiteY4" fmla="*/ 1461 h 10000"/>
              <a:gd name="connsiteX5" fmla="*/ 4011 w 10034"/>
              <a:gd name="connsiteY5" fmla="*/ 1461 h 10000"/>
              <a:gd name="connsiteX6" fmla="*/ 4079 w 10034"/>
              <a:gd name="connsiteY6" fmla="*/ 1796 h 10000"/>
              <a:gd name="connsiteX7" fmla="*/ 4079 w 10034"/>
              <a:gd name="connsiteY7" fmla="*/ 9665 h 10000"/>
              <a:gd name="connsiteX8" fmla="*/ 4150 w 10034"/>
              <a:gd name="connsiteY8" fmla="*/ 10000 h 10000"/>
              <a:gd name="connsiteX9" fmla="*/ 6328 w 10034"/>
              <a:gd name="connsiteY9" fmla="*/ 10000 h 10000"/>
              <a:gd name="connsiteX10" fmla="*/ 6397 w 10034"/>
              <a:gd name="connsiteY10" fmla="*/ 9665 h 10000"/>
              <a:gd name="connsiteX11" fmla="*/ 6397 w 10034"/>
              <a:gd name="connsiteY11" fmla="*/ 335 h 10000"/>
              <a:gd name="connsiteX12" fmla="*/ 6467 w 10034"/>
              <a:gd name="connsiteY12" fmla="*/ 0 h 10000"/>
              <a:gd name="connsiteX13" fmla="*/ 8029 w 10034"/>
              <a:gd name="connsiteY13" fmla="*/ 0 h 10000"/>
              <a:gd name="connsiteX14" fmla="*/ 8102 w 10034"/>
              <a:gd name="connsiteY14" fmla="*/ 335 h 10000"/>
              <a:gd name="connsiteX15" fmla="*/ 8102 w 10034"/>
              <a:gd name="connsiteY15" fmla="*/ 8575 h 10000"/>
              <a:gd name="connsiteX16" fmla="*/ 8172 w 10034"/>
              <a:gd name="connsiteY16" fmla="*/ 8935 h 10000"/>
              <a:gd name="connsiteX17" fmla="*/ 10034 w 10034"/>
              <a:gd name="connsiteY17" fmla="*/ 8915 h 10000"/>
              <a:gd name="connsiteX0" fmla="*/ 0 w 10026"/>
              <a:gd name="connsiteY0" fmla="*/ 7857 h 10000"/>
              <a:gd name="connsiteX1" fmla="*/ 726 w 10026"/>
              <a:gd name="connsiteY1" fmla="*/ 7855 h 10000"/>
              <a:gd name="connsiteX2" fmla="*/ 787 w 10026"/>
              <a:gd name="connsiteY2" fmla="*/ 7533 h 10000"/>
              <a:gd name="connsiteX3" fmla="*/ 787 w 10026"/>
              <a:gd name="connsiteY3" fmla="*/ 1796 h 10000"/>
              <a:gd name="connsiteX4" fmla="*/ 855 w 10026"/>
              <a:gd name="connsiteY4" fmla="*/ 1461 h 10000"/>
              <a:gd name="connsiteX5" fmla="*/ 4011 w 10026"/>
              <a:gd name="connsiteY5" fmla="*/ 1461 h 10000"/>
              <a:gd name="connsiteX6" fmla="*/ 4079 w 10026"/>
              <a:gd name="connsiteY6" fmla="*/ 1796 h 10000"/>
              <a:gd name="connsiteX7" fmla="*/ 4079 w 10026"/>
              <a:gd name="connsiteY7" fmla="*/ 9665 h 10000"/>
              <a:gd name="connsiteX8" fmla="*/ 4150 w 10026"/>
              <a:gd name="connsiteY8" fmla="*/ 10000 h 10000"/>
              <a:gd name="connsiteX9" fmla="*/ 6328 w 10026"/>
              <a:gd name="connsiteY9" fmla="*/ 10000 h 10000"/>
              <a:gd name="connsiteX10" fmla="*/ 6397 w 10026"/>
              <a:gd name="connsiteY10" fmla="*/ 9665 h 10000"/>
              <a:gd name="connsiteX11" fmla="*/ 6397 w 10026"/>
              <a:gd name="connsiteY11" fmla="*/ 335 h 10000"/>
              <a:gd name="connsiteX12" fmla="*/ 6467 w 10026"/>
              <a:gd name="connsiteY12" fmla="*/ 0 h 10000"/>
              <a:gd name="connsiteX13" fmla="*/ 8029 w 10026"/>
              <a:gd name="connsiteY13" fmla="*/ 0 h 10000"/>
              <a:gd name="connsiteX14" fmla="*/ 8102 w 10026"/>
              <a:gd name="connsiteY14" fmla="*/ 335 h 10000"/>
              <a:gd name="connsiteX15" fmla="*/ 8102 w 10026"/>
              <a:gd name="connsiteY15" fmla="*/ 8575 h 10000"/>
              <a:gd name="connsiteX16" fmla="*/ 8172 w 10026"/>
              <a:gd name="connsiteY16" fmla="*/ 8935 h 10000"/>
              <a:gd name="connsiteX17" fmla="*/ 10026 w 10026"/>
              <a:gd name="connsiteY17" fmla="*/ 8928 h 10000"/>
              <a:gd name="connsiteX0" fmla="*/ 0 w 10026"/>
              <a:gd name="connsiteY0" fmla="*/ 7857 h 10000"/>
              <a:gd name="connsiteX1" fmla="*/ 726 w 10026"/>
              <a:gd name="connsiteY1" fmla="*/ 7855 h 10000"/>
              <a:gd name="connsiteX2" fmla="*/ 787 w 10026"/>
              <a:gd name="connsiteY2" fmla="*/ 7533 h 10000"/>
              <a:gd name="connsiteX3" fmla="*/ 787 w 10026"/>
              <a:gd name="connsiteY3" fmla="*/ 1796 h 10000"/>
              <a:gd name="connsiteX4" fmla="*/ 855 w 10026"/>
              <a:gd name="connsiteY4" fmla="*/ 1461 h 10000"/>
              <a:gd name="connsiteX5" fmla="*/ 4011 w 10026"/>
              <a:gd name="connsiteY5" fmla="*/ 1461 h 10000"/>
              <a:gd name="connsiteX6" fmla="*/ 4079 w 10026"/>
              <a:gd name="connsiteY6" fmla="*/ 1796 h 10000"/>
              <a:gd name="connsiteX7" fmla="*/ 4079 w 10026"/>
              <a:gd name="connsiteY7" fmla="*/ 9665 h 10000"/>
              <a:gd name="connsiteX8" fmla="*/ 4150 w 10026"/>
              <a:gd name="connsiteY8" fmla="*/ 10000 h 10000"/>
              <a:gd name="connsiteX9" fmla="*/ 6328 w 10026"/>
              <a:gd name="connsiteY9" fmla="*/ 10000 h 10000"/>
              <a:gd name="connsiteX10" fmla="*/ 6397 w 10026"/>
              <a:gd name="connsiteY10" fmla="*/ 9665 h 10000"/>
              <a:gd name="connsiteX11" fmla="*/ 6397 w 10026"/>
              <a:gd name="connsiteY11" fmla="*/ 335 h 10000"/>
              <a:gd name="connsiteX12" fmla="*/ 6467 w 10026"/>
              <a:gd name="connsiteY12" fmla="*/ 0 h 10000"/>
              <a:gd name="connsiteX13" fmla="*/ 8029 w 10026"/>
              <a:gd name="connsiteY13" fmla="*/ 0 h 10000"/>
              <a:gd name="connsiteX14" fmla="*/ 8102 w 10026"/>
              <a:gd name="connsiteY14" fmla="*/ 335 h 10000"/>
              <a:gd name="connsiteX15" fmla="*/ 8102 w 10026"/>
              <a:gd name="connsiteY15" fmla="*/ 8575 h 10000"/>
              <a:gd name="connsiteX16" fmla="*/ 8172 w 10026"/>
              <a:gd name="connsiteY16" fmla="*/ 8935 h 10000"/>
              <a:gd name="connsiteX17" fmla="*/ 10026 w 10026"/>
              <a:gd name="connsiteY17" fmla="*/ 8928 h 10000"/>
              <a:gd name="connsiteX0" fmla="*/ 0 w 10026"/>
              <a:gd name="connsiteY0" fmla="*/ 7857 h 10000"/>
              <a:gd name="connsiteX1" fmla="*/ 726 w 10026"/>
              <a:gd name="connsiteY1" fmla="*/ 7855 h 10000"/>
              <a:gd name="connsiteX2" fmla="*/ 787 w 10026"/>
              <a:gd name="connsiteY2" fmla="*/ 7533 h 10000"/>
              <a:gd name="connsiteX3" fmla="*/ 787 w 10026"/>
              <a:gd name="connsiteY3" fmla="*/ 1796 h 10000"/>
              <a:gd name="connsiteX4" fmla="*/ 855 w 10026"/>
              <a:gd name="connsiteY4" fmla="*/ 1461 h 10000"/>
              <a:gd name="connsiteX5" fmla="*/ 4011 w 10026"/>
              <a:gd name="connsiteY5" fmla="*/ 1461 h 10000"/>
              <a:gd name="connsiteX6" fmla="*/ 4079 w 10026"/>
              <a:gd name="connsiteY6" fmla="*/ 1796 h 10000"/>
              <a:gd name="connsiteX7" fmla="*/ 4079 w 10026"/>
              <a:gd name="connsiteY7" fmla="*/ 9665 h 10000"/>
              <a:gd name="connsiteX8" fmla="*/ 4150 w 10026"/>
              <a:gd name="connsiteY8" fmla="*/ 10000 h 10000"/>
              <a:gd name="connsiteX9" fmla="*/ 6328 w 10026"/>
              <a:gd name="connsiteY9" fmla="*/ 10000 h 10000"/>
              <a:gd name="connsiteX10" fmla="*/ 6397 w 10026"/>
              <a:gd name="connsiteY10" fmla="*/ 9665 h 10000"/>
              <a:gd name="connsiteX11" fmla="*/ 6397 w 10026"/>
              <a:gd name="connsiteY11" fmla="*/ 335 h 10000"/>
              <a:gd name="connsiteX12" fmla="*/ 6467 w 10026"/>
              <a:gd name="connsiteY12" fmla="*/ 0 h 10000"/>
              <a:gd name="connsiteX13" fmla="*/ 8029 w 10026"/>
              <a:gd name="connsiteY13" fmla="*/ 0 h 10000"/>
              <a:gd name="connsiteX14" fmla="*/ 8102 w 10026"/>
              <a:gd name="connsiteY14" fmla="*/ 335 h 10000"/>
              <a:gd name="connsiteX15" fmla="*/ 8102 w 10026"/>
              <a:gd name="connsiteY15" fmla="*/ 8575 h 10000"/>
              <a:gd name="connsiteX16" fmla="*/ 8172 w 10026"/>
              <a:gd name="connsiteY16" fmla="*/ 8935 h 10000"/>
              <a:gd name="connsiteX17" fmla="*/ 10026 w 10026"/>
              <a:gd name="connsiteY17" fmla="*/ 8928 h 10000"/>
              <a:gd name="connsiteX0" fmla="*/ 0 w 10026"/>
              <a:gd name="connsiteY0" fmla="*/ 7857 h 10000"/>
              <a:gd name="connsiteX1" fmla="*/ 726 w 10026"/>
              <a:gd name="connsiteY1" fmla="*/ 7855 h 10000"/>
              <a:gd name="connsiteX2" fmla="*/ 787 w 10026"/>
              <a:gd name="connsiteY2" fmla="*/ 7533 h 10000"/>
              <a:gd name="connsiteX3" fmla="*/ 787 w 10026"/>
              <a:gd name="connsiteY3" fmla="*/ 1796 h 10000"/>
              <a:gd name="connsiteX4" fmla="*/ 855 w 10026"/>
              <a:gd name="connsiteY4" fmla="*/ 1461 h 10000"/>
              <a:gd name="connsiteX5" fmla="*/ 4011 w 10026"/>
              <a:gd name="connsiteY5" fmla="*/ 1461 h 10000"/>
              <a:gd name="connsiteX6" fmla="*/ 4079 w 10026"/>
              <a:gd name="connsiteY6" fmla="*/ 1796 h 10000"/>
              <a:gd name="connsiteX7" fmla="*/ 4079 w 10026"/>
              <a:gd name="connsiteY7" fmla="*/ 9665 h 10000"/>
              <a:gd name="connsiteX8" fmla="*/ 4150 w 10026"/>
              <a:gd name="connsiteY8" fmla="*/ 10000 h 10000"/>
              <a:gd name="connsiteX9" fmla="*/ 6328 w 10026"/>
              <a:gd name="connsiteY9" fmla="*/ 10000 h 10000"/>
              <a:gd name="connsiteX10" fmla="*/ 6397 w 10026"/>
              <a:gd name="connsiteY10" fmla="*/ 9665 h 10000"/>
              <a:gd name="connsiteX11" fmla="*/ 6397 w 10026"/>
              <a:gd name="connsiteY11" fmla="*/ 335 h 10000"/>
              <a:gd name="connsiteX12" fmla="*/ 6467 w 10026"/>
              <a:gd name="connsiteY12" fmla="*/ 0 h 10000"/>
              <a:gd name="connsiteX13" fmla="*/ 8029 w 10026"/>
              <a:gd name="connsiteY13" fmla="*/ 0 h 10000"/>
              <a:gd name="connsiteX14" fmla="*/ 8102 w 10026"/>
              <a:gd name="connsiteY14" fmla="*/ 335 h 10000"/>
              <a:gd name="connsiteX15" fmla="*/ 8102 w 10026"/>
              <a:gd name="connsiteY15" fmla="*/ 8575 h 10000"/>
              <a:gd name="connsiteX16" fmla="*/ 8172 w 10026"/>
              <a:gd name="connsiteY16" fmla="*/ 8935 h 10000"/>
              <a:gd name="connsiteX17" fmla="*/ 10026 w 10026"/>
              <a:gd name="connsiteY17" fmla="*/ 8928 h 10000"/>
              <a:gd name="connsiteX0" fmla="*/ 0 w 10026"/>
              <a:gd name="connsiteY0" fmla="*/ 7857 h 10000"/>
              <a:gd name="connsiteX1" fmla="*/ 726 w 10026"/>
              <a:gd name="connsiteY1" fmla="*/ 7855 h 10000"/>
              <a:gd name="connsiteX2" fmla="*/ 787 w 10026"/>
              <a:gd name="connsiteY2" fmla="*/ 7533 h 10000"/>
              <a:gd name="connsiteX3" fmla="*/ 787 w 10026"/>
              <a:gd name="connsiteY3" fmla="*/ 1796 h 10000"/>
              <a:gd name="connsiteX4" fmla="*/ 855 w 10026"/>
              <a:gd name="connsiteY4" fmla="*/ 1461 h 10000"/>
              <a:gd name="connsiteX5" fmla="*/ 4011 w 10026"/>
              <a:gd name="connsiteY5" fmla="*/ 1461 h 10000"/>
              <a:gd name="connsiteX6" fmla="*/ 4079 w 10026"/>
              <a:gd name="connsiteY6" fmla="*/ 1796 h 10000"/>
              <a:gd name="connsiteX7" fmla="*/ 4079 w 10026"/>
              <a:gd name="connsiteY7" fmla="*/ 9665 h 10000"/>
              <a:gd name="connsiteX8" fmla="*/ 4150 w 10026"/>
              <a:gd name="connsiteY8" fmla="*/ 10000 h 10000"/>
              <a:gd name="connsiteX9" fmla="*/ 6328 w 10026"/>
              <a:gd name="connsiteY9" fmla="*/ 10000 h 10000"/>
              <a:gd name="connsiteX10" fmla="*/ 6397 w 10026"/>
              <a:gd name="connsiteY10" fmla="*/ 9665 h 10000"/>
              <a:gd name="connsiteX11" fmla="*/ 6397 w 10026"/>
              <a:gd name="connsiteY11" fmla="*/ 335 h 10000"/>
              <a:gd name="connsiteX12" fmla="*/ 6467 w 10026"/>
              <a:gd name="connsiteY12" fmla="*/ 0 h 10000"/>
              <a:gd name="connsiteX13" fmla="*/ 8029 w 10026"/>
              <a:gd name="connsiteY13" fmla="*/ 0 h 10000"/>
              <a:gd name="connsiteX14" fmla="*/ 8102 w 10026"/>
              <a:gd name="connsiteY14" fmla="*/ 335 h 10000"/>
              <a:gd name="connsiteX15" fmla="*/ 8102 w 10026"/>
              <a:gd name="connsiteY15" fmla="*/ 8575 h 10000"/>
              <a:gd name="connsiteX16" fmla="*/ 8172 w 10026"/>
              <a:gd name="connsiteY16" fmla="*/ 8935 h 10000"/>
              <a:gd name="connsiteX17" fmla="*/ 10026 w 10026"/>
              <a:gd name="connsiteY17" fmla="*/ 8928 h 10000"/>
              <a:gd name="connsiteX0" fmla="*/ 0 w 10026"/>
              <a:gd name="connsiteY0" fmla="*/ 7857 h 10000"/>
              <a:gd name="connsiteX1" fmla="*/ 726 w 10026"/>
              <a:gd name="connsiteY1" fmla="*/ 7855 h 10000"/>
              <a:gd name="connsiteX2" fmla="*/ 787 w 10026"/>
              <a:gd name="connsiteY2" fmla="*/ 7533 h 10000"/>
              <a:gd name="connsiteX3" fmla="*/ 787 w 10026"/>
              <a:gd name="connsiteY3" fmla="*/ 1796 h 10000"/>
              <a:gd name="connsiteX4" fmla="*/ 855 w 10026"/>
              <a:gd name="connsiteY4" fmla="*/ 1461 h 10000"/>
              <a:gd name="connsiteX5" fmla="*/ 4011 w 10026"/>
              <a:gd name="connsiteY5" fmla="*/ 1461 h 10000"/>
              <a:gd name="connsiteX6" fmla="*/ 4079 w 10026"/>
              <a:gd name="connsiteY6" fmla="*/ 1796 h 10000"/>
              <a:gd name="connsiteX7" fmla="*/ 4079 w 10026"/>
              <a:gd name="connsiteY7" fmla="*/ 9665 h 10000"/>
              <a:gd name="connsiteX8" fmla="*/ 4150 w 10026"/>
              <a:gd name="connsiteY8" fmla="*/ 10000 h 10000"/>
              <a:gd name="connsiteX9" fmla="*/ 6328 w 10026"/>
              <a:gd name="connsiteY9" fmla="*/ 10000 h 10000"/>
              <a:gd name="connsiteX10" fmla="*/ 6397 w 10026"/>
              <a:gd name="connsiteY10" fmla="*/ 9665 h 10000"/>
              <a:gd name="connsiteX11" fmla="*/ 6397 w 10026"/>
              <a:gd name="connsiteY11" fmla="*/ 335 h 10000"/>
              <a:gd name="connsiteX12" fmla="*/ 6467 w 10026"/>
              <a:gd name="connsiteY12" fmla="*/ 0 h 10000"/>
              <a:gd name="connsiteX13" fmla="*/ 8029 w 10026"/>
              <a:gd name="connsiteY13" fmla="*/ 0 h 10000"/>
              <a:gd name="connsiteX14" fmla="*/ 8102 w 10026"/>
              <a:gd name="connsiteY14" fmla="*/ 335 h 10000"/>
              <a:gd name="connsiteX15" fmla="*/ 8102 w 10026"/>
              <a:gd name="connsiteY15" fmla="*/ 8575 h 10000"/>
              <a:gd name="connsiteX16" fmla="*/ 8172 w 10026"/>
              <a:gd name="connsiteY16" fmla="*/ 8935 h 10000"/>
              <a:gd name="connsiteX17" fmla="*/ 10026 w 10026"/>
              <a:gd name="connsiteY17" fmla="*/ 8928 h 10000"/>
              <a:gd name="connsiteX0" fmla="*/ 0 w 10021"/>
              <a:gd name="connsiteY0" fmla="*/ 7857 h 10000"/>
              <a:gd name="connsiteX1" fmla="*/ 726 w 10021"/>
              <a:gd name="connsiteY1" fmla="*/ 7855 h 10000"/>
              <a:gd name="connsiteX2" fmla="*/ 787 w 10021"/>
              <a:gd name="connsiteY2" fmla="*/ 7533 h 10000"/>
              <a:gd name="connsiteX3" fmla="*/ 787 w 10021"/>
              <a:gd name="connsiteY3" fmla="*/ 1796 h 10000"/>
              <a:gd name="connsiteX4" fmla="*/ 855 w 10021"/>
              <a:gd name="connsiteY4" fmla="*/ 1461 h 10000"/>
              <a:gd name="connsiteX5" fmla="*/ 4011 w 10021"/>
              <a:gd name="connsiteY5" fmla="*/ 1461 h 10000"/>
              <a:gd name="connsiteX6" fmla="*/ 4079 w 10021"/>
              <a:gd name="connsiteY6" fmla="*/ 1796 h 10000"/>
              <a:gd name="connsiteX7" fmla="*/ 4079 w 10021"/>
              <a:gd name="connsiteY7" fmla="*/ 9665 h 10000"/>
              <a:gd name="connsiteX8" fmla="*/ 4150 w 10021"/>
              <a:gd name="connsiteY8" fmla="*/ 10000 h 10000"/>
              <a:gd name="connsiteX9" fmla="*/ 6328 w 10021"/>
              <a:gd name="connsiteY9" fmla="*/ 10000 h 10000"/>
              <a:gd name="connsiteX10" fmla="*/ 6397 w 10021"/>
              <a:gd name="connsiteY10" fmla="*/ 9665 h 10000"/>
              <a:gd name="connsiteX11" fmla="*/ 6397 w 10021"/>
              <a:gd name="connsiteY11" fmla="*/ 335 h 10000"/>
              <a:gd name="connsiteX12" fmla="*/ 6467 w 10021"/>
              <a:gd name="connsiteY12" fmla="*/ 0 h 10000"/>
              <a:gd name="connsiteX13" fmla="*/ 8029 w 10021"/>
              <a:gd name="connsiteY13" fmla="*/ 0 h 10000"/>
              <a:gd name="connsiteX14" fmla="*/ 8102 w 10021"/>
              <a:gd name="connsiteY14" fmla="*/ 335 h 10000"/>
              <a:gd name="connsiteX15" fmla="*/ 8102 w 10021"/>
              <a:gd name="connsiteY15" fmla="*/ 8575 h 10000"/>
              <a:gd name="connsiteX16" fmla="*/ 8172 w 10021"/>
              <a:gd name="connsiteY16" fmla="*/ 8935 h 10000"/>
              <a:gd name="connsiteX17" fmla="*/ 10021 w 10021"/>
              <a:gd name="connsiteY17" fmla="*/ 8941 h 10000"/>
              <a:gd name="connsiteX0" fmla="*/ 0 w 10021"/>
              <a:gd name="connsiteY0" fmla="*/ 7857 h 10000"/>
              <a:gd name="connsiteX1" fmla="*/ 726 w 10021"/>
              <a:gd name="connsiteY1" fmla="*/ 7855 h 10000"/>
              <a:gd name="connsiteX2" fmla="*/ 787 w 10021"/>
              <a:gd name="connsiteY2" fmla="*/ 7533 h 10000"/>
              <a:gd name="connsiteX3" fmla="*/ 787 w 10021"/>
              <a:gd name="connsiteY3" fmla="*/ 1796 h 10000"/>
              <a:gd name="connsiteX4" fmla="*/ 855 w 10021"/>
              <a:gd name="connsiteY4" fmla="*/ 1461 h 10000"/>
              <a:gd name="connsiteX5" fmla="*/ 4011 w 10021"/>
              <a:gd name="connsiteY5" fmla="*/ 1461 h 10000"/>
              <a:gd name="connsiteX6" fmla="*/ 4079 w 10021"/>
              <a:gd name="connsiteY6" fmla="*/ 1796 h 10000"/>
              <a:gd name="connsiteX7" fmla="*/ 4079 w 10021"/>
              <a:gd name="connsiteY7" fmla="*/ 9665 h 10000"/>
              <a:gd name="connsiteX8" fmla="*/ 4150 w 10021"/>
              <a:gd name="connsiteY8" fmla="*/ 10000 h 10000"/>
              <a:gd name="connsiteX9" fmla="*/ 6328 w 10021"/>
              <a:gd name="connsiteY9" fmla="*/ 10000 h 10000"/>
              <a:gd name="connsiteX10" fmla="*/ 6397 w 10021"/>
              <a:gd name="connsiteY10" fmla="*/ 9665 h 10000"/>
              <a:gd name="connsiteX11" fmla="*/ 6397 w 10021"/>
              <a:gd name="connsiteY11" fmla="*/ 335 h 10000"/>
              <a:gd name="connsiteX12" fmla="*/ 6467 w 10021"/>
              <a:gd name="connsiteY12" fmla="*/ 0 h 10000"/>
              <a:gd name="connsiteX13" fmla="*/ 8029 w 10021"/>
              <a:gd name="connsiteY13" fmla="*/ 0 h 10000"/>
              <a:gd name="connsiteX14" fmla="*/ 8102 w 10021"/>
              <a:gd name="connsiteY14" fmla="*/ 335 h 10000"/>
              <a:gd name="connsiteX15" fmla="*/ 8102 w 10021"/>
              <a:gd name="connsiteY15" fmla="*/ 8575 h 10000"/>
              <a:gd name="connsiteX16" fmla="*/ 8172 w 10021"/>
              <a:gd name="connsiteY16" fmla="*/ 8935 h 10000"/>
              <a:gd name="connsiteX17" fmla="*/ 10021 w 10021"/>
              <a:gd name="connsiteY17" fmla="*/ 8941 h 10000"/>
              <a:gd name="connsiteX0" fmla="*/ 0 w 10021"/>
              <a:gd name="connsiteY0" fmla="*/ 7857 h 10000"/>
              <a:gd name="connsiteX1" fmla="*/ 726 w 10021"/>
              <a:gd name="connsiteY1" fmla="*/ 7855 h 10000"/>
              <a:gd name="connsiteX2" fmla="*/ 787 w 10021"/>
              <a:gd name="connsiteY2" fmla="*/ 7533 h 10000"/>
              <a:gd name="connsiteX3" fmla="*/ 787 w 10021"/>
              <a:gd name="connsiteY3" fmla="*/ 1796 h 10000"/>
              <a:gd name="connsiteX4" fmla="*/ 855 w 10021"/>
              <a:gd name="connsiteY4" fmla="*/ 1461 h 10000"/>
              <a:gd name="connsiteX5" fmla="*/ 4011 w 10021"/>
              <a:gd name="connsiteY5" fmla="*/ 1461 h 10000"/>
              <a:gd name="connsiteX6" fmla="*/ 4079 w 10021"/>
              <a:gd name="connsiteY6" fmla="*/ 1796 h 10000"/>
              <a:gd name="connsiteX7" fmla="*/ 4079 w 10021"/>
              <a:gd name="connsiteY7" fmla="*/ 9665 h 10000"/>
              <a:gd name="connsiteX8" fmla="*/ 4150 w 10021"/>
              <a:gd name="connsiteY8" fmla="*/ 10000 h 10000"/>
              <a:gd name="connsiteX9" fmla="*/ 6328 w 10021"/>
              <a:gd name="connsiteY9" fmla="*/ 10000 h 10000"/>
              <a:gd name="connsiteX10" fmla="*/ 6397 w 10021"/>
              <a:gd name="connsiteY10" fmla="*/ 9665 h 10000"/>
              <a:gd name="connsiteX11" fmla="*/ 6397 w 10021"/>
              <a:gd name="connsiteY11" fmla="*/ 335 h 10000"/>
              <a:gd name="connsiteX12" fmla="*/ 6467 w 10021"/>
              <a:gd name="connsiteY12" fmla="*/ 0 h 10000"/>
              <a:gd name="connsiteX13" fmla="*/ 8029 w 10021"/>
              <a:gd name="connsiteY13" fmla="*/ 0 h 10000"/>
              <a:gd name="connsiteX14" fmla="*/ 8102 w 10021"/>
              <a:gd name="connsiteY14" fmla="*/ 335 h 10000"/>
              <a:gd name="connsiteX15" fmla="*/ 8102 w 10021"/>
              <a:gd name="connsiteY15" fmla="*/ 8575 h 10000"/>
              <a:gd name="connsiteX16" fmla="*/ 8172 w 10021"/>
              <a:gd name="connsiteY16" fmla="*/ 8935 h 10000"/>
              <a:gd name="connsiteX17" fmla="*/ 10021 w 10021"/>
              <a:gd name="connsiteY17" fmla="*/ 8941 h 10000"/>
              <a:gd name="connsiteX0" fmla="*/ 0 w 10021"/>
              <a:gd name="connsiteY0" fmla="*/ 7857 h 10000"/>
              <a:gd name="connsiteX1" fmla="*/ 726 w 10021"/>
              <a:gd name="connsiteY1" fmla="*/ 7855 h 10000"/>
              <a:gd name="connsiteX2" fmla="*/ 787 w 10021"/>
              <a:gd name="connsiteY2" fmla="*/ 7533 h 10000"/>
              <a:gd name="connsiteX3" fmla="*/ 787 w 10021"/>
              <a:gd name="connsiteY3" fmla="*/ 1796 h 10000"/>
              <a:gd name="connsiteX4" fmla="*/ 855 w 10021"/>
              <a:gd name="connsiteY4" fmla="*/ 1461 h 10000"/>
              <a:gd name="connsiteX5" fmla="*/ 4011 w 10021"/>
              <a:gd name="connsiteY5" fmla="*/ 1461 h 10000"/>
              <a:gd name="connsiteX6" fmla="*/ 4079 w 10021"/>
              <a:gd name="connsiteY6" fmla="*/ 1796 h 10000"/>
              <a:gd name="connsiteX7" fmla="*/ 4079 w 10021"/>
              <a:gd name="connsiteY7" fmla="*/ 9665 h 10000"/>
              <a:gd name="connsiteX8" fmla="*/ 4150 w 10021"/>
              <a:gd name="connsiteY8" fmla="*/ 10000 h 10000"/>
              <a:gd name="connsiteX9" fmla="*/ 6328 w 10021"/>
              <a:gd name="connsiteY9" fmla="*/ 10000 h 10000"/>
              <a:gd name="connsiteX10" fmla="*/ 6397 w 10021"/>
              <a:gd name="connsiteY10" fmla="*/ 9665 h 10000"/>
              <a:gd name="connsiteX11" fmla="*/ 6397 w 10021"/>
              <a:gd name="connsiteY11" fmla="*/ 335 h 10000"/>
              <a:gd name="connsiteX12" fmla="*/ 6467 w 10021"/>
              <a:gd name="connsiteY12" fmla="*/ 0 h 10000"/>
              <a:gd name="connsiteX13" fmla="*/ 8029 w 10021"/>
              <a:gd name="connsiteY13" fmla="*/ 0 h 10000"/>
              <a:gd name="connsiteX14" fmla="*/ 8102 w 10021"/>
              <a:gd name="connsiteY14" fmla="*/ 335 h 10000"/>
              <a:gd name="connsiteX15" fmla="*/ 8102 w 10021"/>
              <a:gd name="connsiteY15" fmla="*/ 8575 h 10000"/>
              <a:gd name="connsiteX16" fmla="*/ 8172 w 10021"/>
              <a:gd name="connsiteY16" fmla="*/ 8935 h 10000"/>
              <a:gd name="connsiteX17" fmla="*/ 10021 w 10021"/>
              <a:gd name="connsiteY17" fmla="*/ 8941 h 10000"/>
              <a:gd name="connsiteX0" fmla="*/ 0 w 10021"/>
              <a:gd name="connsiteY0" fmla="*/ 7857 h 10000"/>
              <a:gd name="connsiteX1" fmla="*/ 726 w 10021"/>
              <a:gd name="connsiteY1" fmla="*/ 7855 h 10000"/>
              <a:gd name="connsiteX2" fmla="*/ 787 w 10021"/>
              <a:gd name="connsiteY2" fmla="*/ 7533 h 10000"/>
              <a:gd name="connsiteX3" fmla="*/ 787 w 10021"/>
              <a:gd name="connsiteY3" fmla="*/ 1796 h 10000"/>
              <a:gd name="connsiteX4" fmla="*/ 855 w 10021"/>
              <a:gd name="connsiteY4" fmla="*/ 1461 h 10000"/>
              <a:gd name="connsiteX5" fmla="*/ 4011 w 10021"/>
              <a:gd name="connsiteY5" fmla="*/ 1461 h 10000"/>
              <a:gd name="connsiteX6" fmla="*/ 4079 w 10021"/>
              <a:gd name="connsiteY6" fmla="*/ 1796 h 10000"/>
              <a:gd name="connsiteX7" fmla="*/ 4079 w 10021"/>
              <a:gd name="connsiteY7" fmla="*/ 9665 h 10000"/>
              <a:gd name="connsiteX8" fmla="*/ 4150 w 10021"/>
              <a:gd name="connsiteY8" fmla="*/ 10000 h 10000"/>
              <a:gd name="connsiteX9" fmla="*/ 6328 w 10021"/>
              <a:gd name="connsiteY9" fmla="*/ 10000 h 10000"/>
              <a:gd name="connsiteX10" fmla="*/ 6397 w 10021"/>
              <a:gd name="connsiteY10" fmla="*/ 9665 h 10000"/>
              <a:gd name="connsiteX11" fmla="*/ 6397 w 10021"/>
              <a:gd name="connsiteY11" fmla="*/ 335 h 10000"/>
              <a:gd name="connsiteX12" fmla="*/ 6467 w 10021"/>
              <a:gd name="connsiteY12" fmla="*/ 0 h 10000"/>
              <a:gd name="connsiteX13" fmla="*/ 8029 w 10021"/>
              <a:gd name="connsiteY13" fmla="*/ 0 h 10000"/>
              <a:gd name="connsiteX14" fmla="*/ 8102 w 10021"/>
              <a:gd name="connsiteY14" fmla="*/ 335 h 10000"/>
              <a:gd name="connsiteX15" fmla="*/ 8102 w 10021"/>
              <a:gd name="connsiteY15" fmla="*/ 8575 h 10000"/>
              <a:gd name="connsiteX16" fmla="*/ 8172 w 10021"/>
              <a:gd name="connsiteY16" fmla="*/ 8935 h 10000"/>
              <a:gd name="connsiteX17" fmla="*/ 10021 w 10021"/>
              <a:gd name="connsiteY17" fmla="*/ 8928 h 10000"/>
              <a:gd name="connsiteX0" fmla="*/ 0 w 10021"/>
              <a:gd name="connsiteY0" fmla="*/ 7857 h 10000"/>
              <a:gd name="connsiteX1" fmla="*/ 726 w 10021"/>
              <a:gd name="connsiteY1" fmla="*/ 7855 h 10000"/>
              <a:gd name="connsiteX2" fmla="*/ 787 w 10021"/>
              <a:gd name="connsiteY2" fmla="*/ 7533 h 10000"/>
              <a:gd name="connsiteX3" fmla="*/ 787 w 10021"/>
              <a:gd name="connsiteY3" fmla="*/ 1796 h 10000"/>
              <a:gd name="connsiteX4" fmla="*/ 855 w 10021"/>
              <a:gd name="connsiteY4" fmla="*/ 1461 h 10000"/>
              <a:gd name="connsiteX5" fmla="*/ 4011 w 10021"/>
              <a:gd name="connsiteY5" fmla="*/ 1461 h 10000"/>
              <a:gd name="connsiteX6" fmla="*/ 4079 w 10021"/>
              <a:gd name="connsiteY6" fmla="*/ 1796 h 10000"/>
              <a:gd name="connsiteX7" fmla="*/ 4079 w 10021"/>
              <a:gd name="connsiteY7" fmla="*/ 9665 h 10000"/>
              <a:gd name="connsiteX8" fmla="*/ 4150 w 10021"/>
              <a:gd name="connsiteY8" fmla="*/ 10000 h 10000"/>
              <a:gd name="connsiteX9" fmla="*/ 6328 w 10021"/>
              <a:gd name="connsiteY9" fmla="*/ 10000 h 10000"/>
              <a:gd name="connsiteX10" fmla="*/ 6397 w 10021"/>
              <a:gd name="connsiteY10" fmla="*/ 9665 h 10000"/>
              <a:gd name="connsiteX11" fmla="*/ 6397 w 10021"/>
              <a:gd name="connsiteY11" fmla="*/ 335 h 10000"/>
              <a:gd name="connsiteX12" fmla="*/ 6467 w 10021"/>
              <a:gd name="connsiteY12" fmla="*/ 0 h 10000"/>
              <a:gd name="connsiteX13" fmla="*/ 8029 w 10021"/>
              <a:gd name="connsiteY13" fmla="*/ 0 h 10000"/>
              <a:gd name="connsiteX14" fmla="*/ 8102 w 10021"/>
              <a:gd name="connsiteY14" fmla="*/ 335 h 10000"/>
              <a:gd name="connsiteX15" fmla="*/ 8102 w 10021"/>
              <a:gd name="connsiteY15" fmla="*/ 8575 h 10000"/>
              <a:gd name="connsiteX16" fmla="*/ 8172 w 10021"/>
              <a:gd name="connsiteY16" fmla="*/ 8935 h 10000"/>
              <a:gd name="connsiteX17" fmla="*/ 10021 w 10021"/>
              <a:gd name="connsiteY17" fmla="*/ 8928 h 10000"/>
              <a:gd name="connsiteX0" fmla="*/ 0 w 10021"/>
              <a:gd name="connsiteY0" fmla="*/ 7857 h 10000"/>
              <a:gd name="connsiteX1" fmla="*/ 726 w 10021"/>
              <a:gd name="connsiteY1" fmla="*/ 7855 h 10000"/>
              <a:gd name="connsiteX2" fmla="*/ 787 w 10021"/>
              <a:gd name="connsiteY2" fmla="*/ 7533 h 10000"/>
              <a:gd name="connsiteX3" fmla="*/ 787 w 10021"/>
              <a:gd name="connsiteY3" fmla="*/ 1796 h 10000"/>
              <a:gd name="connsiteX4" fmla="*/ 855 w 10021"/>
              <a:gd name="connsiteY4" fmla="*/ 1461 h 10000"/>
              <a:gd name="connsiteX5" fmla="*/ 4011 w 10021"/>
              <a:gd name="connsiteY5" fmla="*/ 1461 h 10000"/>
              <a:gd name="connsiteX6" fmla="*/ 4079 w 10021"/>
              <a:gd name="connsiteY6" fmla="*/ 1796 h 10000"/>
              <a:gd name="connsiteX7" fmla="*/ 4079 w 10021"/>
              <a:gd name="connsiteY7" fmla="*/ 9665 h 10000"/>
              <a:gd name="connsiteX8" fmla="*/ 4150 w 10021"/>
              <a:gd name="connsiteY8" fmla="*/ 10000 h 10000"/>
              <a:gd name="connsiteX9" fmla="*/ 6328 w 10021"/>
              <a:gd name="connsiteY9" fmla="*/ 10000 h 10000"/>
              <a:gd name="connsiteX10" fmla="*/ 6397 w 10021"/>
              <a:gd name="connsiteY10" fmla="*/ 9665 h 10000"/>
              <a:gd name="connsiteX11" fmla="*/ 6397 w 10021"/>
              <a:gd name="connsiteY11" fmla="*/ 335 h 10000"/>
              <a:gd name="connsiteX12" fmla="*/ 6467 w 10021"/>
              <a:gd name="connsiteY12" fmla="*/ 0 h 10000"/>
              <a:gd name="connsiteX13" fmla="*/ 8029 w 10021"/>
              <a:gd name="connsiteY13" fmla="*/ 0 h 10000"/>
              <a:gd name="connsiteX14" fmla="*/ 8102 w 10021"/>
              <a:gd name="connsiteY14" fmla="*/ 335 h 10000"/>
              <a:gd name="connsiteX15" fmla="*/ 8102 w 10021"/>
              <a:gd name="connsiteY15" fmla="*/ 8575 h 10000"/>
              <a:gd name="connsiteX16" fmla="*/ 8172 w 10021"/>
              <a:gd name="connsiteY16" fmla="*/ 8935 h 10000"/>
              <a:gd name="connsiteX17" fmla="*/ 10021 w 10021"/>
              <a:gd name="connsiteY17" fmla="*/ 8966 h 10000"/>
              <a:gd name="connsiteX0" fmla="*/ 0 w 9995"/>
              <a:gd name="connsiteY0" fmla="*/ 7857 h 10000"/>
              <a:gd name="connsiteX1" fmla="*/ 726 w 9995"/>
              <a:gd name="connsiteY1" fmla="*/ 7855 h 10000"/>
              <a:gd name="connsiteX2" fmla="*/ 787 w 9995"/>
              <a:gd name="connsiteY2" fmla="*/ 7533 h 10000"/>
              <a:gd name="connsiteX3" fmla="*/ 787 w 9995"/>
              <a:gd name="connsiteY3" fmla="*/ 1796 h 10000"/>
              <a:gd name="connsiteX4" fmla="*/ 855 w 9995"/>
              <a:gd name="connsiteY4" fmla="*/ 1461 h 10000"/>
              <a:gd name="connsiteX5" fmla="*/ 4011 w 9995"/>
              <a:gd name="connsiteY5" fmla="*/ 1461 h 10000"/>
              <a:gd name="connsiteX6" fmla="*/ 4079 w 9995"/>
              <a:gd name="connsiteY6" fmla="*/ 1796 h 10000"/>
              <a:gd name="connsiteX7" fmla="*/ 4079 w 9995"/>
              <a:gd name="connsiteY7" fmla="*/ 9665 h 10000"/>
              <a:gd name="connsiteX8" fmla="*/ 4150 w 9995"/>
              <a:gd name="connsiteY8" fmla="*/ 10000 h 10000"/>
              <a:gd name="connsiteX9" fmla="*/ 6328 w 9995"/>
              <a:gd name="connsiteY9" fmla="*/ 10000 h 10000"/>
              <a:gd name="connsiteX10" fmla="*/ 6397 w 9995"/>
              <a:gd name="connsiteY10" fmla="*/ 9665 h 10000"/>
              <a:gd name="connsiteX11" fmla="*/ 6397 w 9995"/>
              <a:gd name="connsiteY11" fmla="*/ 335 h 10000"/>
              <a:gd name="connsiteX12" fmla="*/ 6467 w 9995"/>
              <a:gd name="connsiteY12" fmla="*/ 0 h 10000"/>
              <a:gd name="connsiteX13" fmla="*/ 8029 w 9995"/>
              <a:gd name="connsiteY13" fmla="*/ 0 h 10000"/>
              <a:gd name="connsiteX14" fmla="*/ 8102 w 9995"/>
              <a:gd name="connsiteY14" fmla="*/ 335 h 10000"/>
              <a:gd name="connsiteX15" fmla="*/ 8102 w 9995"/>
              <a:gd name="connsiteY15" fmla="*/ 8575 h 10000"/>
              <a:gd name="connsiteX16" fmla="*/ 8172 w 9995"/>
              <a:gd name="connsiteY16" fmla="*/ 8935 h 10000"/>
              <a:gd name="connsiteX17" fmla="*/ 9995 w 9995"/>
              <a:gd name="connsiteY17" fmla="*/ 8916 h 10000"/>
              <a:gd name="connsiteX0" fmla="*/ 0 w 10005"/>
              <a:gd name="connsiteY0" fmla="*/ 7857 h 10000"/>
              <a:gd name="connsiteX1" fmla="*/ 726 w 10005"/>
              <a:gd name="connsiteY1" fmla="*/ 7855 h 10000"/>
              <a:gd name="connsiteX2" fmla="*/ 787 w 10005"/>
              <a:gd name="connsiteY2" fmla="*/ 7533 h 10000"/>
              <a:gd name="connsiteX3" fmla="*/ 787 w 10005"/>
              <a:gd name="connsiteY3" fmla="*/ 1796 h 10000"/>
              <a:gd name="connsiteX4" fmla="*/ 855 w 10005"/>
              <a:gd name="connsiteY4" fmla="*/ 1461 h 10000"/>
              <a:gd name="connsiteX5" fmla="*/ 4013 w 10005"/>
              <a:gd name="connsiteY5" fmla="*/ 1461 h 10000"/>
              <a:gd name="connsiteX6" fmla="*/ 4081 w 10005"/>
              <a:gd name="connsiteY6" fmla="*/ 1796 h 10000"/>
              <a:gd name="connsiteX7" fmla="*/ 4081 w 10005"/>
              <a:gd name="connsiteY7" fmla="*/ 9665 h 10000"/>
              <a:gd name="connsiteX8" fmla="*/ 4152 w 10005"/>
              <a:gd name="connsiteY8" fmla="*/ 10000 h 10000"/>
              <a:gd name="connsiteX9" fmla="*/ 6331 w 10005"/>
              <a:gd name="connsiteY9" fmla="*/ 10000 h 10000"/>
              <a:gd name="connsiteX10" fmla="*/ 6400 w 10005"/>
              <a:gd name="connsiteY10" fmla="*/ 9665 h 10000"/>
              <a:gd name="connsiteX11" fmla="*/ 6400 w 10005"/>
              <a:gd name="connsiteY11" fmla="*/ 335 h 10000"/>
              <a:gd name="connsiteX12" fmla="*/ 6470 w 10005"/>
              <a:gd name="connsiteY12" fmla="*/ 0 h 10000"/>
              <a:gd name="connsiteX13" fmla="*/ 8033 w 10005"/>
              <a:gd name="connsiteY13" fmla="*/ 0 h 10000"/>
              <a:gd name="connsiteX14" fmla="*/ 8106 w 10005"/>
              <a:gd name="connsiteY14" fmla="*/ 335 h 10000"/>
              <a:gd name="connsiteX15" fmla="*/ 8106 w 10005"/>
              <a:gd name="connsiteY15" fmla="*/ 8575 h 10000"/>
              <a:gd name="connsiteX16" fmla="*/ 8176 w 10005"/>
              <a:gd name="connsiteY16" fmla="*/ 8935 h 10000"/>
              <a:gd name="connsiteX17" fmla="*/ 10005 w 10005"/>
              <a:gd name="connsiteY17" fmla="*/ 8941 h 10000"/>
              <a:gd name="connsiteX0" fmla="*/ 0 w 10005"/>
              <a:gd name="connsiteY0" fmla="*/ 7857 h 10000"/>
              <a:gd name="connsiteX1" fmla="*/ 726 w 10005"/>
              <a:gd name="connsiteY1" fmla="*/ 7855 h 10000"/>
              <a:gd name="connsiteX2" fmla="*/ 787 w 10005"/>
              <a:gd name="connsiteY2" fmla="*/ 7533 h 10000"/>
              <a:gd name="connsiteX3" fmla="*/ 787 w 10005"/>
              <a:gd name="connsiteY3" fmla="*/ 1796 h 10000"/>
              <a:gd name="connsiteX4" fmla="*/ 855 w 10005"/>
              <a:gd name="connsiteY4" fmla="*/ 1461 h 10000"/>
              <a:gd name="connsiteX5" fmla="*/ 4013 w 10005"/>
              <a:gd name="connsiteY5" fmla="*/ 1461 h 10000"/>
              <a:gd name="connsiteX6" fmla="*/ 4081 w 10005"/>
              <a:gd name="connsiteY6" fmla="*/ 1796 h 10000"/>
              <a:gd name="connsiteX7" fmla="*/ 4081 w 10005"/>
              <a:gd name="connsiteY7" fmla="*/ 9665 h 10000"/>
              <a:gd name="connsiteX8" fmla="*/ 4152 w 10005"/>
              <a:gd name="connsiteY8" fmla="*/ 10000 h 10000"/>
              <a:gd name="connsiteX9" fmla="*/ 6331 w 10005"/>
              <a:gd name="connsiteY9" fmla="*/ 10000 h 10000"/>
              <a:gd name="connsiteX10" fmla="*/ 6400 w 10005"/>
              <a:gd name="connsiteY10" fmla="*/ 9665 h 10000"/>
              <a:gd name="connsiteX11" fmla="*/ 6400 w 10005"/>
              <a:gd name="connsiteY11" fmla="*/ 335 h 10000"/>
              <a:gd name="connsiteX12" fmla="*/ 6470 w 10005"/>
              <a:gd name="connsiteY12" fmla="*/ 0 h 10000"/>
              <a:gd name="connsiteX13" fmla="*/ 8033 w 10005"/>
              <a:gd name="connsiteY13" fmla="*/ 0 h 10000"/>
              <a:gd name="connsiteX14" fmla="*/ 8106 w 10005"/>
              <a:gd name="connsiteY14" fmla="*/ 335 h 10000"/>
              <a:gd name="connsiteX15" fmla="*/ 8106 w 10005"/>
              <a:gd name="connsiteY15" fmla="*/ 8575 h 10000"/>
              <a:gd name="connsiteX16" fmla="*/ 8176 w 10005"/>
              <a:gd name="connsiteY16" fmla="*/ 8935 h 10000"/>
              <a:gd name="connsiteX17" fmla="*/ 10005 w 10005"/>
              <a:gd name="connsiteY17" fmla="*/ 8941 h 10000"/>
              <a:gd name="connsiteX0" fmla="*/ 0 w 10005"/>
              <a:gd name="connsiteY0" fmla="*/ 7857 h 10000"/>
              <a:gd name="connsiteX1" fmla="*/ 726 w 10005"/>
              <a:gd name="connsiteY1" fmla="*/ 7855 h 10000"/>
              <a:gd name="connsiteX2" fmla="*/ 787 w 10005"/>
              <a:gd name="connsiteY2" fmla="*/ 7533 h 10000"/>
              <a:gd name="connsiteX3" fmla="*/ 787 w 10005"/>
              <a:gd name="connsiteY3" fmla="*/ 1796 h 10000"/>
              <a:gd name="connsiteX4" fmla="*/ 855 w 10005"/>
              <a:gd name="connsiteY4" fmla="*/ 1461 h 10000"/>
              <a:gd name="connsiteX5" fmla="*/ 4013 w 10005"/>
              <a:gd name="connsiteY5" fmla="*/ 1461 h 10000"/>
              <a:gd name="connsiteX6" fmla="*/ 4081 w 10005"/>
              <a:gd name="connsiteY6" fmla="*/ 1796 h 10000"/>
              <a:gd name="connsiteX7" fmla="*/ 4081 w 10005"/>
              <a:gd name="connsiteY7" fmla="*/ 9665 h 10000"/>
              <a:gd name="connsiteX8" fmla="*/ 4152 w 10005"/>
              <a:gd name="connsiteY8" fmla="*/ 10000 h 10000"/>
              <a:gd name="connsiteX9" fmla="*/ 6331 w 10005"/>
              <a:gd name="connsiteY9" fmla="*/ 10000 h 10000"/>
              <a:gd name="connsiteX10" fmla="*/ 6400 w 10005"/>
              <a:gd name="connsiteY10" fmla="*/ 9665 h 10000"/>
              <a:gd name="connsiteX11" fmla="*/ 6400 w 10005"/>
              <a:gd name="connsiteY11" fmla="*/ 335 h 10000"/>
              <a:gd name="connsiteX12" fmla="*/ 6470 w 10005"/>
              <a:gd name="connsiteY12" fmla="*/ 0 h 10000"/>
              <a:gd name="connsiteX13" fmla="*/ 8033 w 10005"/>
              <a:gd name="connsiteY13" fmla="*/ 0 h 10000"/>
              <a:gd name="connsiteX14" fmla="*/ 8106 w 10005"/>
              <a:gd name="connsiteY14" fmla="*/ 335 h 10000"/>
              <a:gd name="connsiteX15" fmla="*/ 8106 w 10005"/>
              <a:gd name="connsiteY15" fmla="*/ 8575 h 10000"/>
              <a:gd name="connsiteX16" fmla="*/ 8176 w 10005"/>
              <a:gd name="connsiteY16" fmla="*/ 8935 h 10000"/>
              <a:gd name="connsiteX17" fmla="*/ 10005 w 10005"/>
              <a:gd name="connsiteY17" fmla="*/ 8941 h 10000"/>
              <a:gd name="connsiteX0" fmla="*/ 0 w 10015"/>
              <a:gd name="connsiteY0" fmla="*/ 7857 h 10000"/>
              <a:gd name="connsiteX1" fmla="*/ 726 w 10015"/>
              <a:gd name="connsiteY1" fmla="*/ 7855 h 10000"/>
              <a:gd name="connsiteX2" fmla="*/ 787 w 10015"/>
              <a:gd name="connsiteY2" fmla="*/ 7533 h 10000"/>
              <a:gd name="connsiteX3" fmla="*/ 787 w 10015"/>
              <a:gd name="connsiteY3" fmla="*/ 1796 h 10000"/>
              <a:gd name="connsiteX4" fmla="*/ 855 w 10015"/>
              <a:gd name="connsiteY4" fmla="*/ 1461 h 10000"/>
              <a:gd name="connsiteX5" fmla="*/ 4013 w 10015"/>
              <a:gd name="connsiteY5" fmla="*/ 1461 h 10000"/>
              <a:gd name="connsiteX6" fmla="*/ 4081 w 10015"/>
              <a:gd name="connsiteY6" fmla="*/ 1796 h 10000"/>
              <a:gd name="connsiteX7" fmla="*/ 4081 w 10015"/>
              <a:gd name="connsiteY7" fmla="*/ 9665 h 10000"/>
              <a:gd name="connsiteX8" fmla="*/ 4152 w 10015"/>
              <a:gd name="connsiteY8" fmla="*/ 10000 h 10000"/>
              <a:gd name="connsiteX9" fmla="*/ 6331 w 10015"/>
              <a:gd name="connsiteY9" fmla="*/ 10000 h 10000"/>
              <a:gd name="connsiteX10" fmla="*/ 6400 w 10015"/>
              <a:gd name="connsiteY10" fmla="*/ 9665 h 10000"/>
              <a:gd name="connsiteX11" fmla="*/ 6400 w 10015"/>
              <a:gd name="connsiteY11" fmla="*/ 335 h 10000"/>
              <a:gd name="connsiteX12" fmla="*/ 6470 w 10015"/>
              <a:gd name="connsiteY12" fmla="*/ 0 h 10000"/>
              <a:gd name="connsiteX13" fmla="*/ 8033 w 10015"/>
              <a:gd name="connsiteY13" fmla="*/ 0 h 10000"/>
              <a:gd name="connsiteX14" fmla="*/ 8106 w 10015"/>
              <a:gd name="connsiteY14" fmla="*/ 335 h 10000"/>
              <a:gd name="connsiteX15" fmla="*/ 8106 w 10015"/>
              <a:gd name="connsiteY15" fmla="*/ 8575 h 10000"/>
              <a:gd name="connsiteX16" fmla="*/ 8176 w 10015"/>
              <a:gd name="connsiteY16" fmla="*/ 8935 h 10000"/>
              <a:gd name="connsiteX17" fmla="*/ 10015 w 10015"/>
              <a:gd name="connsiteY17" fmla="*/ 894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015" h="10000">
                <a:moveTo>
                  <a:pt x="0" y="7857"/>
                </a:moveTo>
                <a:cubicBezTo>
                  <a:pt x="34" y="7853"/>
                  <a:pt x="360" y="7855"/>
                  <a:pt x="726" y="7855"/>
                </a:cubicBezTo>
                <a:cubicBezTo>
                  <a:pt x="766" y="7855"/>
                  <a:pt x="787" y="7713"/>
                  <a:pt x="787" y="7533"/>
                </a:cubicBezTo>
                <a:lnTo>
                  <a:pt x="787" y="1796"/>
                </a:lnTo>
                <a:cubicBezTo>
                  <a:pt x="787" y="1605"/>
                  <a:pt x="815" y="1461"/>
                  <a:pt x="855" y="1461"/>
                </a:cubicBezTo>
                <a:lnTo>
                  <a:pt x="4013" y="1461"/>
                </a:lnTo>
                <a:cubicBezTo>
                  <a:pt x="4049" y="1461"/>
                  <a:pt x="4081" y="1605"/>
                  <a:pt x="4081" y="1796"/>
                </a:cubicBezTo>
                <a:lnTo>
                  <a:pt x="4081" y="9665"/>
                </a:lnTo>
                <a:cubicBezTo>
                  <a:pt x="4081" y="9844"/>
                  <a:pt x="4112" y="10000"/>
                  <a:pt x="4152" y="10000"/>
                </a:cubicBezTo>
                <a:lnTo>
                  <a:pt x="6331" y="10000"/>
                </a:lnTo>
                <a:cubicBezTo>
                  <a:pt x="6371" y="10000"/>
                  <a:pt x="6400" y="9844"/>
                  <a:pt x="6400" y="9665"/>
                </a:cubicBezTo>
                <a:lnTo>
                  <a:pt x="6400" y="335"/>
                </a:lnTo>
                <a:cubicBezTo>
                  <a:pt x="6400" y="156"/>
                  <a:pt x="6432" y="0"/>
                  <a:pt x="6470" y="0"/>
                </a:cubicBezTo>
                <a:lnTo>
                  <a:pt x="8033" y="0"/>
                </a:lnTo>
                <a:cubicBezTo>
                  <a:pt x="8075" y="0"/>
                  <a:pt x="8106" y="156"/>
                  <a:pt x="8106" y="335"/>
                </a:cubicBezTo>
                <a:lnTo>
                  <a:pt x="8106" y="8575"/>
                </a:lnTo>
                <a:cubicBezTo>
                  <a:pt x="8106" y="8754"/>
                  <a:pt x="8138" y="8935"/>
                  <a:pt x="8176" y="8935"/>
                </a:cubicBezTo>
                <a:cubicBezTo>
                  <a:pt x="8276" y="8937"/>
                  <a:pt x="9405" y="8939"/>
                  <a:pt x="10015" y="8941"/>
                </a:cubicBezTo>
              </a:path>
            </a:pathLst>
          </a:custGeom>
          <a:noFill/>
          <a:ln w="12700" cap="flat">
            <a:solidFill>
              <a:schemeClr val="bg1"/>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800" noProof="0" dirty="0"/>
          </a:p>
        </p:txBody>
      </p:sp>
      <p:sp>
        <p:nvSpPr>
          <p:cNvPr id="19" name="Freeform 11"/>
          <p:cNvSpPr>
            <a:spLocks/>
          </p:cNvSpPr>
          <p:nvPr userDrawn="1"/>
        </p:nvSpPr>
        <p:spPr bwMode="gray">
          <a:xfrm>
            <a:off x="-4979" y="4336987"/>
            <a:ext cx="9147342" cy="1757619"/>
          </a:xfrm>
          <a:custGeom>
            <a:avLst/>
            <a:gdLst>
              <a:gd name="T0" fmla="*/ 0 w 8479"/>
              <a:gd name="T1" fmla="*/ 772 h 894"/>
              <a:gd name="T2" fmla="*/ 1132 w 8479"/>
              <a:gd name="T3" fmla="*/ 772 h 894"/>
              <a:gd name="T4" fmla="*/ 1160 w 8479"/>
              <a:gd name="T5" fmla="*/ 744 h 894"/>
              <a:gd name="T6" fmla="*/ 1160 w 8479"/>
              <a:gd name="T7" fmla="*/ 263 h 894"/>
              <a:gd name="T8" fmla="*/ 1188 w 8479"/>
              <a:gd name="T9" fmla="*/ 235 h 894"/>
              <a:gd name="T10" fmla="*/ 2202 w 8479"/>
              <a:gd name="T11" fmla="*/ 235 h 894"/>
              <a:gd name="T12" fmla="*/ 2230 w 8479"/>
              <a:gd name="T13" fmla="*/ 263 h 894"/>
              <a:gd name="T14" fmla="*/ 2230 w 8479"/>
              <a:gd name="T15" fmla="*/ 745 h 894"/>
              <a:gd name="T16" fmla="*/ 2258 w 8479"/>
              <a:gd name="T17" fmla="*/ 773 h 894"/>
              <a:gd name="T18" fmla="*/ 3688 w 8479"/>
              <a:gd name="T19" fmla="*/ 773 h 894"/>
              <a:gd name="T20" fmla="*/ 3716 w 8479"/>
              <a:gd name="T21" fmla="*/ 745 h 894"/>
              <a:gd name="T22" fmla="*/ 3716 w 8479"/>
              <a:gd name="T23" fmla="*/ 28 h 894"/>
              <a:gd name="T24" fmla="*/ 3744 w 8479"/>
              <a:gd name="T25" fmla="*/ 0 h 894"/>
              <a:gd name="T26" fmla="*/ 5033 w 8479"/>
              <a:gd name="T27" fmla="*/ 0 h 894"/>
              <a:gd name="T28" fmla="*/ 5061 w 8479"/>
              <a:gd name="T29" fmla="*/ 28 h 894"/>
              <a:gd name="T30" fmla="*/ 5061 w 8479"/>
              <a:gd name="T31" fmla="*/ 516 h 894"/>
              <a:gd name="T32" fmla="*/ 5089 w 8479"/>
              <a:gd name="T33" fmla="*/ 544 h 894"/>
              <a:gd name="T34" fmla="*/ 5446 w 8479"/>
              <a:gd name="T35" fmla="*/ 544 h 894"/>
              <a:gd name="T36" fmla="*/ 5474 w 8479"/>
              <a:gd name="T37" fmla="*/ 516 h 894"/>
              <a:gd name="T38" fmla="*/ 5474 w 8479"/>
              <a:gd name="T39" fmla="*/ 205 h 894"/>
              <a:gd name="T40" fmla="*/ 5502 w 8479"/>
              <a:gd name="T41" fmla="*/ 177 h 894"/>
              <a:gd name="T42" fmla="*/ 6295 w 8479"/>
              <a:gd name="T43" fmla="*/ 177 h 894"/>
              <a:gd name="T44" fmla="*/ 6323 w 8479"/>
              <a:gd name="T45" fmla="*/ 205 h 894"/>
              <a:gd name="T46" fmla="*/ 6323 w 8479"/>
              <a:gd name="T47" fmla="*/ 866 h 894"/>
              <a:gd name="T48" fmla="*/ 6351 w 8479"/>
              <a:gd name="T49" fmla="*/ 894 h 894"/>
              <a:gd name="T50" fmla="*/ 7237 w 8479"/>
              <a:gd name="T51" fmla="*/ 894 h 894"/>
              <a:gd name="T52" fmla="*/ 7265 w 8479"/>
              <a:gd name="T53" fmla="*/ 866 h 894"/>
              <a:gd name="T54" fmla="*/ 7265 w 8479"/>
              <a:gd name="T55" fmla="*/ 563 h 894"/>
              <a:gd name="T56" fmla="*/ 7293 w 8479"/>
              <a:gd name="T57" fmla="*/ 535 h 894"/>
              <a:gd name="T58" fmla="*/ 8479 w 8479"/>
              <a:gd name="T59" fmla="*/ 535 h 894"/>
              <a:gd name="connsiteX0" fmla="*/ 0 w 8665"/>
              <a:gd name="connsiteY0" fmla="*/ 8635 h 10000"/>
              <a:gd name="connsiteX1" fmla="*/ 33 w 8665"/>
              <a:gd name="connsiteY1" fmla="*/ 8322 h 10000"/>
              <a:gd name="connsiteX2" fmla="*/ 33 w 8665"/>
              <a:gd name="connsiteY2" fmla="*/ 2942 h 10000"/>
              <a:gd name="connsiteX3" fmla="*/ 66 w 8665"/>
              <a:gd name="connsiteY3" fmla="*/ 2629 h 10000"/>
              <a:gd name="connsiteX4" fmla="*/ 1262 w 8665"/>
              <a:gd name="connsiteY4" fmla="*/ 2629 h 10000"/>
              <a:gd name="connsiteX5" fmla="*/ 1295 w 8665"/>
              <a:gd name="connsiteY5" fmla="*/ 2942 h 10000"/>
              <a:gd name="connsiteX6" fmla="*/ 1295 w 8665"/>
              <a:gd name="connsiteY6" fmla="*/ 8333 h 10000"/>
              <a:gd name="connsiteX7" fmla="*/ 1328 w 8665"/>
              <a:gd name="connsiteY7" fmla="*/ 8647 h 10000"/>
              <a:gd name="connsiteX8" fmla="*/ 3015 w 8665"/>
              <a:gd name="connsiteY8" fmla="*/ 8647 h 10000"/>
              <a:gd name="connsiteX9" fmla="*/ 3048 w 8665"/>
              <a:gd name="connsiteY9" fmla="*/ 8333 h 10000"/>
              <a:gd name="connsiteX10" fmla="*/ 3048 w 8665"/>
              <a:gd name="connsiteY10" fmla="*/ 313 h 10000"/>
              <a:gd name="connsiteX11" fmla="*/ 3081 w 8665"/>
              <a:gd name="connsiteY11" fmla="*/ 0 h 10000"/>
              <a:gd name="connsiteX12" fmla="*/ 4601 w 8665"/>
              <a:gd name="connsiteY12" fmla="*/ 0 h 10000"/>
              <a:gd name="connsiteX13" fmla="*/ 4634 w 8665"/>
              <a:gd name="connsiteY13" fmla="*/ 313 h 10000"/>
              <a:gd name="connsiteX14" fmla="*/ 4634 w 8665"/>
              <a:gd name="connsiteY14" fmla="*/ 5772 h 10000"/>
              <a:gd name="connsiteX15" fmla="*/ 4667 w 8665"/>
              <a:gd name="connsiteY15" fmla="*/ 6085 h 10000"/>
              <a:gd name="connsiteX16" fmla="*/ 5088 w 8665"/>
              <a:gd name="connsiteY16" fmla="*/ 6085 h 10000"/>
              <a:gd name="connsiteX17" fmla="*/ 5121 w 8665"/>
              <a:gd name="connsiteY17" fmla="*/ 5772 h 10000"/>
              <a:gd name="connsiteX18" fmla="*/ 5121 w 8665"/>
              <a:gd name="connsiteY18" fmla="*/ 2293 h 10000"/>
              <a:gd name="connsiteX19" fmla="*/ 5154 w 8665"/>
              <a:gd name="connsiteY19" fmla="*/ 1980 h 10000"/>
              <a:gd name="connsiteX20" fmla="*/ 6089 w 8665"/>
              <a:gd name="connsiteY20" fmla="*/ 1980 h 10000"/>
              <a:gd name="connsiteX21" fmla="*/ 6122 w 8665"/>
              <a:gd name="connsiteY21" fmla="*/ 2293 h 10000"/>
              <a:gd name="connsiteX22" fmla="*/ 6122 w 8665"/>
              <a:gd name="connsiteY22" fmla="*/ 9687 h 10000"/>
              <a:gd name="connsiteX23" fmla="*/ 6155 w 8665"/>
              <a:gd name="connsiteY23" fmla="*/ 10000 h 10000"/>
              <a:gd name="connsiteX24" fmla="*/ 7200 w 8665"/>
              <a:gd name="connsiteY24" fmla="*/ 10000 h 10000"/>
              <a:gd name="connsiteX25" fmla="*/ 7233 w 8665"/>
              <a:gd name="connsiteY25" fmla="*/ 9687 h 10000"/>
              <a:gd name="connsiteX26" fmla="*/ 7233 w 8665"/>
              <a:gd name="connsiteY26" fmla="*/ 6298 h 10000"/>
              <a:gd name="connsiteX27" fmla="*/ 7266 w 8665"/>
              <a:gd name="connsiteY27" fmla="*/ 5984 h 10000"/>
              <a:gd name="connsiteX28" fmla="*/ 8665 w 8665"/>
              <a:gd name="connsiteY28" fmla="*/ 5984 h 10000"/>
              <a:gd name="connsiteX0" fmla="*/ 0 w 9962"/>
              <a:gd name="connsiteY0" fmla="*/ 8322 h 10000"/>
              <a:gd name="connsiteX1" fmla="*/ 0 w 9962"/>
              <a:gd name="connsiteY1" fmla="*/ 2942 h 10000"/>
              <a:gd name="connsiteX2" fmla="*/ 38 w 9962"/>
              <a:gd name="connsiteY2" fmla="*/ 2629 h 10000"/>
              <a:gd name="connsiteX3" fmla="*/ 1418 w 9962"/>
              <a:gd name="connsiteY3" fmla="*/ 2629 h 10000"/>
              <a:gd name="connsiteX4" fmla="*/ 1457 w 9962"/>
              <a:gd name="connsiteY4" fmla="*/ 2942 h 10000"/>
              <a:gd name="connsiteX5" fmla="*/ 1457 w 9962"/>
              <a:gd name="connsiteY5" fmla="*/ 8333 h 10000"/>
              <a:gd name="connsiteX6" fmla="*/ 1495 w 9962"/>
              <a:gd name="connsiteY6" fmla="*/ 8647 h 10000"/>
              <a:gd name="connsiteX7" fmla="*/ 3442 w 9962"/>
              <a:gd name="connsiteY7" fmla="*/ 8647 h 10000"/>
              <a:gd name="connsiteX8" fmla="*/ 3480 w 9962"/>
              <a:gd name="connsiteY8" fmla="*/ 8333 h 10000"/>
              <a:gd name="connsiteX9" fmla="*/ 3480 w 9962"/>
              <a:gd name="connsiteY9" fmla="*/ 313 h 10000"/>
              <a:gd name="connsiteX10" fmla="*/ 3518 w 9962"/>
              <a:gd name="connsiteY10" fmla="*/ 0 h 10000"/>
              <a:gd name="connsiteX11" fmla="*/ 5272 w 9962"/>
              <a:gd name="connsiteY11" fmla="*/ 0 h 10000"/>
              <a:gd name="connsiteX12" fmla="*/ 5310 w 9962"/>
              <a:gd name="connsiteY12" fmla="*/ 313 h 10000"/>
              <a:gd name="connsiteX13" fmla="*/ 5310 w 9962"/>
              <a:gd name="connsiteY13" fmla="*/ 5772 h 10000"/>
              <a:gd name="connsiteX14" fmla="*/ 5348 w 9962"/>
              <a:gd name="connsiteY14" fmla="*/ 6085 h 10000"/>
              <a:gd name="connsiteX15" fmla="*/ 5834 w 9962"/>
              <a:gd name="connsiteY15" fmla="*/ 6085 h 10000"/>
              <a:gd name="connsiteX16" fmla="*/ 5872 w 9962"/>
              <a:gd name="connsiteY16" fmla="*/ 5772 h 10000"/>
              <a:gd name="connsiteX17" fmla="*/ 5872 w 9962"/>
              <a:gd name="connsiteY17" fmla="*/ 2293 h 10000"/>
              <a:gd name="connsiteX18" fmla="*/ 5910 w 9962"/>
              <a:gd name="connsiteY18" fmla="*/ 1980 h 10000"/>
              <a:gd name="connsiteX19" fmla="*/ 6989 w 9962"/>
              <a:gd name="connsiteY19" fmla="*/ 1980 h 10000"/>
              <a:gd name="connsiteX20" fmla="*/ 7027 w 9962"/>
              <a:gd name="connsiteY20" fmla="*/ 2293 h 10000"/>
              <a:gd name="connsiteX21" fmla="*/ 7027 w 9962"/>
              <a:gd name="connsiteY21" fmla="*/ 9687 h 10000"/>
              <a:gd name="connsiteX22" fmla="*/ 7065 w 9962"/>
              <a:gd name="connsiteY22" fmla="*/ 10000 h 10000"/>
              <a:gd name="connsiteX23" fmla="*/ 8271 w 9962"/>
              <a:gd name="connsiteY23" fmla="*/ 10000 h 10000"/>
              <a:gd name="connsiteX24" fmla="*/ 8309 w 9962"/>
              <a:gd name="connsiteY24" fmla="*/ 9687 h 10000"/>
              <a:gd name="connsiteX25" fmla="*/ 8309 w 9962"/>
              <a:gd name="connsiteY25" fmla="*/ 6298 h 10000"/>
              <a:gd name="connsiteX26" fmla="*/ 8347 w 9962"/>
              <a:gd name="connsiteY26" fmla="*/ 5984 h 10000"/>
              <a:gd name="connsiteX27" fmla="*/ 9962 w 9962"/>
              <a:gd name="connsiteY27" fmla="*/ 5984 h 10000"/>
              <a:gd name="connsiteX0" fmla="*/ 0 w 10000"/>
              <a:gd name="connsiteY0" fmla="*/ 2942 h 10000"/>
              <a:gd name="connsiteX1" fmla="*/ 38 w 10000"/>
              <a:gd name="connsiteY1" fmla="*/ 2629 h 10000"/>
              <a:gd name="connsiteX2" fmla="*/ 1423 w 10000"/>
              <a:gd name="connsiteY2" fmla="*/ 2629 h 10000"/>
              <a:gd name="connsiteX3" fmla="*/ 1463 w 10000"/>
              <a:gd name="connsiteY3" fmla="*/ 2942 h 10000"/>
              <a:gd name="connsiteX4" fmla="*/ 1463 w 10000"/>
              <a:gd name="connsiteY4" fmla="*/ 8333 h 10000"/>
              <a:gd name="connsiteX5" fmla="*/ 1501 w 10000"/>
              <a:gd name="connsiteY5" fmla="*/ 8647 h 10000"/>
              <a:gd name="connsiteX6" fmla="*/ 3455 w 10000"/>
              <a:gd name="connsiteY6" fmla="*/ 8647 h 10000"/>
              <a:gd name="connsiteX7" fmla="*/ 3493 w 10000"/>
              <a:gd name="connsiteY7" fmla="*/ 8333 h 10000"/>
              <a:gd name="connsiteX8" fmla="*/ 3493 w 10000"/>
              <a:gd name="connsiteY8" fmla="*/ 313 h 10000"/>
              <a:gd name="connsiteX9" fmla="*/ 3531 w 10000"/>
              <a:gd name="connsiteY9" fmla="*/ 0 h 10000"/>
              <a:gd name="connsiteX10" fmla="*/ 5292 w 10000"/>
              <a:gd name="connsiteY10" fmla="*/ 0 h 10000"/>
              <a:gd name="connsiteX11" fmla="*/ 5330 w 10000"/>
              <a:gd name="connsiteY11" fmla="*/ 313 h 10000"/>
              <a:gd name="connsiteX12" fmla="*/ 5330 w 10000"/>
              <a:gd name="connsiteY12" fmla="*/ 5772 h 10000"/>
              <a:gd name="connsiteX13" fmla="*/ 5368 w 10000"/>
              <a:gd name="connsiteY13" fmla="*/ 6085 h 10000"/>
              <a:gd name="connsiteX14" fmla="*/ 5856 w 10000"/>
              <a:gd name="connsiteY14" fmla="*/ 6085 h 10000"/>
              <a:gd name="connsiteX15" fmla="*/ 5894 w 10000"/>
              <a:gd name="connsiteY15" fmla="*/ 5772 h 10000"/>
              <a:gd name="connsiteX16" fmla="*/ 5894 w 10000"/>
              <a:gd name="connsiteY16" fmla="*/ 2293 h 10000"/>
              <a:gd name="connsiteX17" fmla="*/ 5933 w 10000"/>
              <a:gd name="connsiteY17" fmla="*/ 1980 h 10000"/>
              <a:gd name="connsiteX18" fmla="*/ 7016 w 10000"/>
              <a:gd name="connsiteY18" fmla="*/ 1980 h 10000"/>
              <a:gd name="connsiteX19" fmla="*/ 7054 w 10000"/>
              <a:gd name="connsiteY19" fmla="*/ 2293 h 10000"/>
              <a:gd name="connsiteX20" fmla="*/ 7054 w 10000"/>
              <a:gd name="connsiteY20" fmla="*/ 9687 h 10000"/>
              <a:gd name="connsiteX21" fmla="*/ 7092 w 10000"/>
              <a:gd name="connsiteY21" fmla="*/ 10000 h 10000"/>
              <a:gd name="connsiteX22" fmla="*/ 8303 w 10000"/>
              <a:gd name="connsiteY22" fmla="*/ 10000 h 10000"/>
              <a:gd name="connsiteX23" fmla="*/ 8341 w 10000"/>
              <a:gd name="connsiteY23" fmla="*/ 9687 h 10000"/>
              <a:gd name="connsiteX24" fmla="*/ 8341 w 10000"/>
              <a:gd name="connsiteY24" fmla="*/ 6298 h 10000"/>
              <a:gd name="connsiteX25" fmla="*/ 8379 w 10000"/>
              <a:gd name="connsiteY25" fmla="*/ 5984 h 10000"/>
              <a:gd name="connsiteX26" fmla="*/ 10000 w 10000"/>
              <a:gd name="connsiteY26" fmla="*/ 5984 h 10000"/>
              <a:gd name="connsiteX0" fmla="*/ 0 w 9962"/>
              <a:gd name="connsiteY0" fmla="*/ 2629 h 10000"/>
              <a:gd name="connsiteX1" fmla="*/ 1385 w 9962"/>
              <a:gd name="connsiteY1" fmla="*/ 2629 h 10000"/>
              <a:gd name="connsiteX2" fmla="*/ 1425 w 9962"/>
              <a:gd name="connsiteY2" fmla="*/ 2942 h 10000"/>
              <a:gd name="connsiteX3" fmla="*/ 1425 w 9962"/>
              <a:gd name="connsiteY3" fmla="*/ 8333 h 10000"/>
              <a:gd name="connsiteX4" fmla="*/ 1463 w 9962"/>
              <a:gd name="connsiteY4" fmla="*/ 8647 h 10000"/>
              <a:gd name="connsiteX5" fmla="*/ 3417 w 9962"/>
              <a:gd name="connsiteY5" fmla="*/ 8647 h 10000"/>
              <a:gd name="connsiteX6" fmla="*/ 3455 w 9962"/>
              <a:gd name="connsiteY6" fmla="*/ 8333 h 10000"/>
              <a:gd name="connsiteX7" fmla="*/ 3455 w 9962"/>
              <a:gd name="connsiteY7" fmla="*/ 313 h 10000"/>
              <a:gd name="connsiteX8" fmla="*/ 3493 w 9962"/>
              <a:gd name="connsiteY8" fmla="*/ 0 h 10000"/>
              <a:gd name="connsiteX9" fmla="*/ 5254 w 9962"/>
              <a:gd name="connsiteY9" fmla="*/ 0 h 10000"/>
              <a:gd name="connsiteX10" fmla="*/ 5292 w 9962"/>
              <a:gd name="connsiteY10" fmla="*/ 313 h 10000"/>
              <a:gd name="connsiteX11" fmla="*/ 5292 w 9962"/>
              <a:gd name="connsiteY11" fmla="*/ 5772 h 10000"/>
              <a:gd name="connsiteX12" fmla="*/ 5330 w 9962"/>
              <a:gd name="connsiteY12" fmla="*/ 6085 h 10000"/>
              <a:gd name="connsiteX13" fmla="*/ 5818 w 9962"/>
              <a:gd name="connsiteY13" fmla="*/ 6085 h 10000"/>
              <a:gd name="connsiteX14" fmla="*/ 5856 w 9962"/>
              <a:gd name="connsiteY14" fmla="*/ 5772 h 10000"/>
              <a:gd name="connsiteX15" fmla="*/ 5856 w 9962"/>
              <a:gd name="connsiteY15" fmla="*/ 2293 h 10000"/>
              <a:gd name="connsiteX16" fmla="*/ 5895 w 9962"/>
              <a:gd name="connsiteY16" fmla="*/ 1980 h 10000"/>
              <a:gd name="connsiteX17" fmla="*/ 6978 w 9962"/>
              <a:gd name="connsiteY17" fmla="*/ 1980 h 10000"/>
              <a:gd name="connsiteX18" fmla="*/ 7016 w 9962"/>
              <a:gd name="connsiteY18" fmla="*/ 2293 h 10000"/>
              <a:gd name="connsiteX19" fmla="*/ 7016 w 9962"/>
              <a:gd name="connsiteY19" fmla="*/ 9687 h 10000"/>
              <a:gd name="connsiteX20" fmla="*/ 7054 w 9962"/>
              <a:gd name="connsiteY20" fmla="*/ 10000 h 10000"/>
              <a:gd name="connsiteX21" fmla="*/ 8265 w 9962"/>
              <a:gd name="connsiteY21" fmla="*/ 10000 h 10000"/>
              <a:gd name="connsiteX22" fmla="*/ 8303 w 9962"/>
              <a:gd name="connsiteY22" fmla="*/ 9687 h 10000"/>
              <a:gd name="connsiteX23" fmla="*/ 8303 w 9962"/>
              <a:gd name="connsiteY23" fmla="*/ 6298 h 10000"/>
              <a:gd name="connsiteX24" fmla="*/ 8341 w 9962"/>
              <a:gd name="connsiteY24" fmla="*/ 5984 h 10000"/>
              <a:gd name="connsiteX25" fmla="*/ 9962 w 9962"/>
              <a:gd name="connsiteY25" fmla="*/ 5984 h 10000"/>
              <a:gd name="connsiteX0" fmla="*/ 0 w 8610"/>
              <a:gd name="connsiteY0" fmla="*/ 2629 h 10000"/>
              <a:gd name="connsiteX1" fmla="*/ 40 w 8610"/>
              <a:gd name="connsiteY1" fmla="*/ 2942 h 10000"/>
              <a:gd name="connsiteX2" fmla="*/ 40 w 8610"/>
              <a:gd name="connsiteY2" fmla="*/ 8333 h 10000"/>
              <a:gd name="connsiteX3" fmla="*/ 79 w 8610"/>
              <a:gd name="connsiteY3" fmla="*/ 8647 h 10000"/>
              <a:gd name="connsiteX4" fmla="*/ 2040 w 8610"/>
              <a:gd name="connsiteY4" fmla="*/ 8647 h 10000"/>
              <a:gd name="connsiteX5" fmla="*/ 2078 w 8610"/>
              <a:gd name="connsiteY5" fmla="*/ 8333 h 10000"/>
              <a:gd name="connsiteX6" fmla="*/ 2078 w 8610"/>
              <a:gd name="connsiteY6" fmla="*/ 313 h 10000"/>
              <a:gd name="connsiteX7" fmla="*/ 2116 w 8610"/>
              <a:gd name="connsiteY7" fmla="*/ 0 h 10000"/>
              <a:gd name="connsiteX8" fmla="*/ 3884 w 8610"/>
              <a:gd name="connsiteY8" fmla="*/ 0 h 10000"/>
              <a:gd name="connsiteX9" fmla="*/ 3922 w 8610"/>
              <a:gd name="connsiteY9" fmla="*/ 313 h 10000"/>
              <a:gd name="connsiteX10" fmla="*/ 3922 w 8610"/>
              <a:gd name="connsiteY10" fmla="*/ 5772 h 10000"/>
              <a:gd name="connsiteX11" fmla="*/ 3960 w 8610"/>
              <a:gd name="connsiteY11" fmla="*/ 6085 h 10000"/>
              <a:gd name="connsiteX12" fmla="*/ 4450 w 8610"/>
              <a:gd name="connsiteY12" fmla="*/ 6085 h 10000"/>
              <a:gd name="connsiteX13" fmla="*/ 4488 w 8610"/>
              <a:gd name="connsiteY13" fmla="*/ 5772 h 10000"/>
              <a:gd name="connsiteX14" fmla="*/ 4488 w 8610"/>
              <a:gd name="connsiteY14" fmla="*/ 2293 h 10000"/>
              <a:gd name="connsiteX15" fmla="*/ 4527 w 8610"/>
              <a:gd name="connsiteY15" fmla="*/ 1980 h 10000"/>
              <a:gd name="connsiteX16" fmla="*/ 5615 w 8610"/>
              <a:gd name="connsiteY16" fmla="*/ 1980 h 10000"/>
              <a:gd name="connsiteX17" fmla="*/ 5653 w 8610"/>
              <a:gd name="connsiteY17" fmla="*/ 2293 h 10000"/>
              <a:gd name="connsiteX18" fmla="*/ 5653 w 8610"/>
              <a:gd name="connsiteY18" fmla="*/ 9687 h 10000"/>
              <a:gd name="connsiteX19" fmla="*/ 5691 w 8610"/>
              <a:gd name="connsiteY19" fmla="*/ 10000 h 10000"/>
              <a:gd name="connsiteX20" fmla="*/ 6907 w 8610"/>
              <a:gd name="connsiteY20" fmla="*/ 10000 h 10000"/>
              <a:gd name="connsiteX21" fmla="*/ 6945 w 8610"/>
              <a:gd name="connsiteY21" fmla="*/ 9687 h 10000"/>
              <a:gd name="connsiteX22" fmla="*/ 6945 w 8610"/>
              <a:gd name="connsiteY22" fmla="*/ 6298 h 10000"/>
              <a:gd name="connsiteX23" fmla="*/ 6983 w 8610"/>
              <a:gd name="connsiteY23" fmla="*/ 5984 h 10000"/>
              <a:gd name="connsiteX24" fmla="*/ 8610 w 8610"/>
              <a:gd name="connsiteY24" fmla="*/ 5984 h 10000"/>
              <a:gd name="connsiteX0" fmla="*/ 0 w 9954"/>
              <a:gd name="connsiteY0" fmla="*/ 2942 h 10000"/>
              <a:gd name="connsiteX1" fmla="*/ 0 w 9954"/>
              <a:gd name="connsiteY1" fmla="*/ 8333 h 10000"/>
              <a:gd name="connsiteX2" fmla="*/ 46 w 9954"/>
              <a:gd name="connsiteY2" fmla="*/ 8647 h 10000"/>
              <a:gd name="connsiteX3" fmla="*/ 2323 w 9954"/>
              <a:gd name="connsiteY3" fmla="*/ 8647 h 10000"/>
              <a:gd name="connsiteX4" fmla="*/ 2367 w 9954"/>
              <a:gd name="connsiteY4" fmla="*/ 8333 h 10000"/>
              <a:gd name="connsiteX5" fmla="*/ 2367 w 9954"/>
              <a:gd name="connsiteY5" fmla="*/ 313 h 10000"/>
              <a:gd name="connsiteX6" fmla="*/ 2412 w 9954"/>
              <a:gd name="connsiteY6" fmla="*/ 0 h 10000"/>
              <a:gd name="connsiteX7" fmla="*/ 4465 w 9954"/>
              <a:gd name="connsiteY7" fmla="*/ 0 h 10000"/>
              <a:gd name="connsiteX8" fmla="*/ 4509 w 9954"/>
              <a:gd name="connsiteY8" fmla="*/ 313 h 10000"/>
              <a:gd name="connsiteX9" fmla="*/ 4509 w 9954"/>
              <a:gd name="connsiteY9" fmla="*/ 5772 h 10000"/>
              <a:gd name="connsiteX10" fmla="*/ 4553 w 9954"/>
              <a:gd name="connsiteY10" fmla="*/ 6085 h 10000"/>
              <a:gd name="connsiteX11" fmla="*/ 5122 w 9954"/>
              <a:gd name="connsiteY11" fmla="*/ 6085 h 10000"/>
              <a:gd name="connsiteX12" fmla="*/ 5167 w 9954"/>
              <a:gd name="connsiteY12" fmla="*/ 5772 h 10000"/>
              <a:gd name="connsiteX13" fmla="*/ 5167 w 9954"/>
              <a:gd name="connsiteY13" fmla="*/ 2293 h 10000"/>
              <a:gd name="connsiteX14" fmla="*/ 5212 w 9954"/>
              <a:gd name="connsiteY14" fmla="*/ 1980 h 10000"/>
              <a:gd name="connsiteX15" fmla="*/ 6475 w 9954"/>
              <a:gd name="connsiteY15" fmla="*/ 1980 h 10000"/>
              <a:gd name="connsiteX16" fmla="*/ 6520 w 9954"/>
              <a:gd name="connsiteY16" fmla="*/ 2293 h 10000"/>
              <a:gd name="connsiteX17" fmla="*/ 6520 w 9954"/>
              <a:gd name="connsiteY17" fmla="*/ 9687 h 10000"/>
              <a:gd name="connsiteX18" fmla="*/ 6564 w 9954"/>
              <a:gd name="connsiteY18" fmla="*/ 10000 h 10000"/>
              <a:gd name="connsiteX19" fmla="*/ 7976 w 9954"/>
              <a:gd name="connsiteY19" fmla="*/ 10000 h 10000"/>
              <a:gd name="connsiteX20" fmla="*/ 8020 w 9954"/>
              <a:gd name="connsiteY20" fmla="*/ 9687 h 10000"/>
              <a:gd name="connsiteX21" fmla="*/ 8020 w 9954"/>
              <a:gd name="connsiteY21" fmla="*/ 6298 h 10000"/>
              <a:gd name="connsiteX22" fmla="*/ 8064 w 9954"/>
              <a:gd name="connsiteY22" fmla="*/ 5984 h 10000"/>
              <a:gd name="connsiteX23" fmla="*/ 9954 w 9954"/>
              <a:gd name="connsiteY23" fmla="*/ 5984 h 10000"/>
              <a:gd name="connsiteX0" fmla="*/ 0 w 10000"/>
              <a:gd name="connsiteY0" fmla="*/ 8333 h 10000"/>
              <a:gd name="connsiteX1" fmla="*/ 46 w 10000"/>
              <a:gd name="connsiteY1" fmla="*/ 8647 h 10000"/>
              <a:gd name="connsiteX2" fmla="*/ 2334 w 10000"/>
              <a:gd name="connsiteY2" fmla="*/ 8647 h 10000"/>
              <a:gd name="connsiteX3" fmla="*/ 2378 w 10000"/>
              <a:gd name="connsiteY3" fmla="*/ 8333 h 10000"/>
              <a:gd name="connsiteX4" fmla="*/ 2378 w 10000"/>
              <a:gd name="connsiteY4" fmla="*/ 313 h 10000"/>
              <a:gd name="connsiteX5" fmla="*/ 2423 w 10000"/>
              <a:gd name="connsiteY5" fmla="*/ 0 h 10000"/>
              <a:gd name="connsiteX6" fmla="*/ 4486 w 10000"/>
              <a:gd name="connsiteY6" fmla="*/ 0 h 10000"/>
              <a:gd name="connsiteX7" fmla="*/ 4530 w 10000"/>
              <a:gd name="connsiteY7" fmla="*/ 313 h 10000"/>
              <a:gd name="connsiteX8" fmla="*/ 4530 w 10000"/>
              <a:gd name="connsiteY8" fmla="*/ 5772 h 10000"/>
              <a:gd name="connsiteX9" fmla="*/ 4574 w 10000"/>
              <a:gd name="connsiteY9" fmla="*/ 6085 h 10000"/>
              <a:gd name="connsiteX10" fmla="*/ 5146 w 10000"/>
              <a:gd name="connsiteY10" fmla="*/ 6085 h 10000"/>
              <a:gd name="connsiteX11" fmla="*/ 5191 w 10000"/>
              <a:gd name="connsiteY11" fmla="*/ 5772 h 10000"/>
              <a:gd name="connsiteX12" fmla="*/ 5191 w 10000"/>
              <a:gd name="connsiteY12" fmla="*/ 2293 h 10000"/>
              <a:gd name="connsiteX13" fmla="*/ 5236 w 10000"/>
              <a:gd name="connsiteY13" fmla="*/ 1980 h 10000"/>
              <a:gd name="connsiteX14" fmla="*/ 6505 w 10000"/>
              <a:gd name="connsiteY14" fmla="*/ 1980 h 10000"/>
              <a:gd name="connsiteX15" fmla="*/ 6550 w 10000"/>
              <a:gd name="connsiteY15" fmla="*/ 2293 h 10000"/>
              <a:gd name="connsiteX16" fmla="*/ 6550 w 10000"/>
              <a:gd name="connsiteY16" fmla="*/ 9687 h 10000"/>
              <a:gd name="connsiteX17" fmla="*/ 6594 w 10000"/>
              <a:gd name="connsiteY17" fmla="*/ 10000 h 10000"/>
              <a:gd name="connsiteX18" fmla="*/ 8013 w 10000"/>
              <a:gd name="connsiteY18" fmla="*/ 10000 h 10000"/>
              <a:gd name="connsiteX19" fmla="*/ 8057 w 10000"/>
              <a:gd name="connsiteY19" fmla="*/ 9687 h 10000"/>
              <a:gd name="connsiteX20" fmla="*/ 8057 w 10000"/>
              <a:gd name="connsiteY20" fmla="*/ 6298 h 10000"/>
              <a:gd name="connsiteX21" fmla="*/ 8101 w 10000"/>
              <a:gd name="connsiteY21" fmla="*/ 5984 h 10000"/>
              <a:gd name="connsiteX22" fmla="*/ 10000 w 10000"/>
              <a:gd name="connsiteY22" fmla="*/ 5984 h 10000"/>
              <a:gd name="connsiteX0" fmla="*/ 0 w 8101"/>
              <a:gd name="connsiteY0" fmla="*/ 8333 h 10000"/>
              <a:gd name="connsiteX1" fmla="*/ 46 w 8101"/>
              <a:gd name="connsiteY1" fmla="*/ 8647 h 10000"/>
              <a:gd name="connsiteX2" fmla="*/ 2334 w 8101"/>
              <a:gd name="connsiteY2" fmla="*/ 8647 h 10000"/>
              <a:gd name="connsiteX3" fmla="*/ 2378 w 8101"/>
              <a:gd name="connsiteY3" fmla="*/ 8333 h 10000"/>
              <a:gd name="connsiteX4" fmla="*/ 2378 w 8101"/>
              <a:gd name="connsiteY4" fmla="*/ 313 h 10000"/>
              <a:gd name="connsiteX5" fmla="*/ 2423 w 8101"/>
              <a:gd name="connsiteY5" fmla="*/ 0 h 10000"/>
              <a:gd name="connsiteX6" fmla="*/ 4486 w 8101"/>
              <a:gd name="connsiteY6" fmla="*/ 0 h 10000"/>
              <a:gd name="connsiteX7" fmla="*/ 4530 w 8101"/>
              <a:gd name="connsiteY7" fmla="*/ 313 h 10000"/>
              <a:gd name="connsiteX8" fmla="*/ 4530 w 8101"/>
              <a:gd name="connsiteY8" fmla="*/ 5772 h 10000"/>
              <a:gd name="connsiteX9" fmla="*/ 4574 w 8101"/>
              <a:gd name="connsiteY9" fmla="*/ 6085 h 10000"/>
              <a:gd name="connsiteX10" fmla="*/ 5146 w 8101"/>
              <a:gd name="connsiteY10" fmla="*/ 6085 h 10000"/>
              <a:gd name="connsiteX11" fmla="*/ 5191 w 8101"/>
              <a:gd name="connsiteY11" fmla="*/ 5772 h 10000"/>
              <a:gd name="connsiteX12" fmla="*/ 5191 w 8101"/>
              <a:gd name="connsiteY12" fmla="*/ 2293 h 10000"/>
              <a:gd name="connsiteX13" fmla="*/ 5236 w 8101"/>
              <a:gd name="connsiteY13" fmla="*/ 1980 h 10000"/>
              <a:gd name="connsiteX14" fmla="*/ 6505 w 8101"/>
              <a:gd name="connsiteY14" fmla="*/ 1980 h 10000"/>
              <a:gd name="connsiteX15" fmla="*/ 6550 w 8101"/>
              <a:gd name="connsiteY15" fmla="*/ 2293 h 10000"/>
              <a:gd name="connsiteX16" fmla="*/ 6550 w 8101"/>
              <a:gd name="connsiteY16" fmla="*/ 9687 h 10000"/>
              <a:gd name="connsiteX17" fmla="*/ 6594 w 8101"/>
              <a:gd name="connsiteY17" fmla="*/ 10000 h 10000"/>
              <a:gd name="connsiteX18" fmla="*/ 8013 w 8101"/>
              <a:gd name="connsiteY18" fmla="*/ 10000 h 10000"/>
              <a:gd name="connsiteX19" fmla="*/ 8057 w 8101"/>
              <a:gd name="connsiteY19" fmla="*/ 9687 h 10000"/>
              <a:gd name="connsiteX20" fmla="*/ 8057 w 8101"/>
              <a:gd name="connsiteY20" fmla="*/ 6298 h 10000"/>
              <a:gd name="connsiteX21" fmla="*/ 8101 w 8101"/>
              <a:gd name="connsiteY21" fmla="*/ 5984 h 10000"/>
              <a:gd name="connsiteX0" fmla="*/ 0 w 9946"/>
              <a:gd name="connsiteY0" fmla="*/ 8333 h 10000"/>
              <a:gd name="connsiteX1" fmla="*/ 57 w 9946"/>
              <a:gd name="connsiteY1" fmla="*/ 8647 h 10000"/>
              <a:gd name="connsiteX2" fmla="*/ 2881 w 9946"/>
              <a:gd name="connsiteY2" fmla="*/ 8647 h 10000"/>
              <a:gd name="connsiteX3" fmla="*/ 2935 w 9946"/>
              <a:gd name="connsiteY3" fmla="*/ 8333 h 10000"/>
              <a:gd name="connsiteX4" fmla="*/ 2935 w 9946"/>
              <a:gd name="connsiteY4" fmla="*/ 313 h 10000"/>
              <a:gd name="connsiteX5" fmla="*/ 2991 w 9946"/>
              <a:gd name="connsiteY5" fmla="*/ 0 h 10000"/>
              <a:gd name="connsiteX6" fmla="*/ 5538 w 9946"/>
              <a:gd name="connsiteY6" fmla="*/ 0 h 10000"/>
              <a:gd name="connsiteX7" fmla="*/ 5592 w 9946"/>
              <a:gd name="connsiteY7" fmla="*/ 313 h 10000"/>
              <a:gd name="connsiteX8" fmla="*/ 5592 w 9946"/>
              <a:gd name="connsiteY8" fmla="*/ 5772 h 10000"/>
              <a:gd name="connsiteX9" fmla="*/ 5646 w 9946"/>
              <a:gd name="connsiteY9" fmla="*/ 6085 h 10000"/>
              <a:gd name="connsiteX10" fmla="*/ 6352 w 9946"/>
              <a:gd name="connsiteY10" fmla="*/ 6085 h 10000"/>
              <a:gd name="connsiteX11" fmla="*/ 6408 w 9946"/>
              <a:gd name="connsiteY11" fmla="*/ 5772 h 10000"/>
              <a:gd name="connsiteX12" fmla="*/ 6408 w 9946"/>
              <a:gd name="connsiteY12" fmla="*/ 2293 h 10000"/>
              <a:gd name="connsiteX13" fmla="*/ 6463 w 9946"/>
              <a:gd name="connsiteY13" fmla="*/ 1980 h 10000"/>
              <a:gd name="connsiteX14" fmla="*/ 8030 w 9946"/>
              <a:gd name="connsiteY14" fmla="*/ 1980 h 10000"/>
              <a:gd name="connsiteX15" fmla="*/ 8085 w 9946"/>
              <a:gd name="connsiteY15" fmla="*/ 2293 h 10000"/>
              <a:gd name="connsiteX16" fmla="*/ 8085 w 9946"/>
              <a:gd name="connsiteY16" fmla="*/ 9687 h 10000"/>
              <a:gd name="connsiteX17" fmla="*/ 8140 w 9946"/>
              <a:gd name="connsiteY17" fmla="*/ 10000 h 10000"/>
              <a:gd name="connsiteX18" fmla="*/ 9891 w 9946"/>
              <a:gd name="connsiteY18" fmla="*/ 10000 h 10000"/>
              <a:gd name="connsiteX19" fmla="*/ 9946 w 9946"/>
              <a:gd name="connsiteY19" fmla="*/ 9687 h 10000"/>
              <a:gd name="connsiteX20" fmla="*/ 9946 w 9946"/>
              <a:gd name="connsiteY20" fmla="*/ 6298 h 10000"/>
              <a:gd name="connsiteX0" fmla="*/ 0 w 10000"/>
              <a:gd name="connsiteY0" fmla="*/ 8333 h 10000"/>
              <a:gd name="connsiteX1" fmla="*/ 57 w 10000"/>
              <a:gd name="connsiteY1" fmla="*/ 8647 h 10000"/>
              <a:gd name="connsiteX2" fmla="*/ 2897 w 10000"/>
              <a:gd name="connsiteY2" fmla="*/ 8647 h 10000"/>
              <a:gd name="connsiteX3" fmla="*/ 2951 w 10000"/>
              <a:gd name="connsiteY3" fmla="*/ 8333 h 10000"/>
              <a:gd name="connsiteX4" fmla="*/ 2951 w 10000"/>
              <a:gd name="connsiteY4" fmla="*/ 313 h 10000"/>
              <a:gd name="connsiteX5" fmla="*/ 3007 w 10000"/>
              <a:gd name="connsiteY5" fmla="*/ 0 h 10000"/>
              <a:gd name="connsiteX6" fmla="*/ 5568 w 10000"/>
              <a:gd name="connsiteY6" fmla="*/ 0 h 10000"/>
              <a:gd name="connsiteX7" fmla="*/ 5622 w 10000"/>
              <a:gd name="connsiteY7" fmla="*/ 313 h 10000"/>
              <a:gd name="connsiteX8" fmla="*/ 5622 w 10000"/>
              <a:gd name="connsiteY8" fmla="*/ 5772 h 10000"/>
              <a:gd name="connsiteX9" fmla="*/ 5677 w 10000"/>
              <a:gd name="connsiteY9" fmla="*/ 6085 h 10000"/>
              <a:gd name="connsiteX10" fmla="*/ 6386 w 10000"/>
              <a:gd name="connsiteY10" fmla="*/ 6085 h 10000"/>
              <a:gd name="connsiteX11" fmla="*/ 6443 w 10000"/>
              <a:gd name="connsiteY11" fmla="*/ 5772 h 10000"/>
              <a:gd name="connsiteX12" fmla="*/ 6443 w 10000"/>
              <a:gd name="connsiteY12" fmla="*/ 2293 h 10000"/>
              <a:gd name="connsiteX13" fmla="*/ 6498 w 10000"/>
              <a:gd name="connsiteY13" fmla="*/ 1980 h 10000"/>
              <a:gd name="connsiteX14" fmla="*/ 8074 w 10000"/>
              <a:gd name="connsiteY14" fmla="*/ 1980 h 10000"/>
              <a:gd name="connsiteX15" fmla="*/ 8129 w 10000"/>
              <a:gd name="connsiteY15" fmla="*/ 2293 h 10000"/>
              <a:gd name="connsiteX16" fmla="*/ 8129 w 10000"/>
              <a:gd name="connsiteY16" fmla="*/ 9687 h 10000"/>
              <a:gd name="connsiteX17" fmla="*/ 8184 w 10000"/>
              <a:gd name="connsiteY17" fmla="*/ 10000 h 10000"/>
              <a:gd name="connsiteX18" fmla="*/ 9945 w 10000"/>
              <a:gd name="connsiteY18" fmla="*/ 10000 h 10000"/>
              <a:gd name="connsiteX19" fmla="*/ 10000 w 10000"/>
              <a:gd name="connsiteY19" fmla="*/ 9687 h 10000"/>
              <a:gd name="connsiteX0" fmla="*/ 0 w 9945"/>
              <a:gd name="connsiteY0" fmla="*/ 8333 h 10000"/>
              <a:gd name="connsiteX1" fmla="*/ 57 w 9945"/>
              <a:gd name="connsiteY1" fmla="*/ 8647 h 10000"/>
              <a:gd name="connsiteX2" fmla="*/ 2897 w 9945"/>
              <a:gd name="connsiteY2" fmla="*/ 8647 h 10000"/>
              <a:gd name="connsiteX3" fmla="*/ 2951 w 9945"/>
              <a:gd name="connsiteY3" fmla="*/ 8333 h 10000"/>
              <a:gd name="connsiteX4" fmla="*/ 2951 w 9945"/>
              <a:gd name="connsiteY4" fmla="*/ 313 h 10000"/>
              <a:gd name="connsiteX5" fmla="*/ 3007 w 9945"/>
              <a:gd name="connsiteY5" fmla="*/ 0 h 10000"/>
              <a:gd name="connsiteX6" fmla="*/ 5568 w 9945"/>
              <a:gd name="connsiteY6" fmla="*/ 0 h 10000"/>
              <a:gd name="connsiteX7" fmla="*/ 5622 w 9945"/>
              <a:gd name="connsiteY7" fmla="*/ 313 h 10000"/>
              <a:gd name="connsiteX8" fmla="*/ 5622 w 9945"/>
              <a:gd name="connsiteY8" fmla="*/ 5772 h 10000"/>
              <a:gd name="connsiteX9" fmla="*/ 5677 w 9945"/>
              <a:gd name="connsiteY9" fmla="*/ 6085 h 10000"/>
              <a:gd name="connsiteX10" fmla="*/ 6386 w 9945"/>
              <a:gd name="connsiteY10" fmla="*/ 6085 h 10000"/>
              <a:gd name="connsiteX11" fmla="*/ 6443 w 9945"/>
              <a:gd name="connsiteY11" fmla="*/ 5772 h 10000"/>
              <a:gd name="connsiteX12" fmla="*/ 6443 w 9945"/>
              <a:gd name="connsiteY12" fmla="*/ 2293 h 10000"/>
              <a:gd name="connsiteX13" fmla="*/ 6498 w 9945"/>
              <a:gd name="connsiteY13" fmla="*/ 1980 h 10000"/>
              <a:gd name="connsiteX14" fmla="*/ 8074 w 9945"/>
              <a:gd name="connsiteY14" fmla="*/ 1980 h 10000"/>
              <a:gd name="connsiteX15" fmla="*/ 8129 w 9945"/>
              <a:gd name="connsiteY15" fmla="*/ 2293 h 10000"/>
              <a:gd name="connsiteX16" fmla="*/ 8129 w 9945"/>
              <a:gd name="connsiteY16" fmla="*/ 9687 h 10000"/>
              <a:gd name="connsiteX17" fmla="*/ 8184 w 9945"/>
              <a:gd name="connsiteY17" fmla="*/ 10000 h 10000"/>
              <a:gd name="connsiteX18" fmla="*/ 9945 w 9945"/>
              <a:gd name="connsiteY18" fmla="*/ 10000 h 10000"/>
              <a:gd name="connsiteX0" fmla="*/ 0 w 8229"/>
              <a:gd name="connsiteY0" fmla="*/ 8333 h 10000"/>
              <a:gd name="connsiteX1" fmla="*/ 57 w 8229"/>
              <a:gd name="connsiteY1" fmla="*/ 8647 h 10000"/>
              <a:gd name="connsiteX2" fmla="*/ 2913 w 8229"/>
              <a:gd name="connsiteY2" fmla="*/ 8647 h 10000"/>
              <a:gd name="connsiteX3" fmla="*/ 2967 w 8229"/>
              <a:gd name="connsiteY3" fmla="*/ 8333 h 10000"/>
              <a:gd name="connsiteX4" fmla="*/ 2967 w 8229"/>
              <a:gd name="connsiteY4" fmla="*/ 313 h 10000"/>
              <a:gd name="connsiteX5" fmla="*/ 3024 w 8229"/>
              <a:gd name="connsiteY5" fmla="*/ 0 h 10000"/>
              <a:gd name="connsiteX6" fmla="*/ 5599 w 8229"/>
              <a:gd name="connsiteY6" fmla="*/ 0 h 10000"/>
              <a:gd name="connsiteX7" fmla="*/ 5653 w 8229"/>
              <a:gd name="connsiteY7" fmla="*/ 313 h 10000"/>
              <a:gd name="connsiteX8" fmla="*/ 5653 w 8229"/>
              <a:gd name="connsiteY8" fmla="*/ 5772 h 10000"/>
              <a:gd name="connsiteX9" fmla="*/ 5708 w 8229"/>
              <a:gd name="connsiteY9" fmla="*/ 6085 h 10000"/>
              <a:gd name="connsiteX10" fmla="*/ 6421 w 8229"/>
              <a:gd name="connsiteY10" fmla="*/ 6085 h 10000"/>
              <a:gd name="connsiteX11" fmla="*/ 6479 w 8229"/>
              <a:gd name="connsiteY11" fmla="*/ 5772 h 10000"/>
              <a:gd name="connsiteX12" fmla="*/ 6479 w 8229"/>
              <a:gd name="connsiteY12" fmla="*/ 2293 h 10000"/>
              <a:gd name="connsiteX13" fmla="*/ 6534 w 8229"/>
              <a:gd name="connsiteY13" fmla="*/ 1980 h 10000"/>
              <a:gd name="connsiteX14" fmla="*/ 8119 w 8229"/>
              <a:gd name="connsiteY14" fmla="*/ 1980 h 10000"/>
              <a:gd name="connsiteX15" fmla="*/ 8174 w 8229"/>
              <a:gd name="connsiteY15" fmla="*/ 2293 h 10000"/>
              <a:gd name="connsiteX16" fmla="*/ 8174 w 8229"/>
              <a:gd name="connsiteY16" fmla="*/ 9687 h 10000"/>
              <a:gd name="connsiteX17" fmla="*/ 8229 w 8229"/>
              <a:gd name="connsiteY17" fmla="*/ 10000 h 10000"/>
              <a:gd name="connsiteX0" fmla="*/ 0 w 9933"/>
              <a:gd name="connsiteY0" fmla="*/ 8333 h 9687"/>
              <a:gd name="connsiteX1" fmla="*/ 69 w 9933"/>
              <a:gd name="connsiteY1" fmla="*/ 8647 h 9687"/>
              <a:gd name="connsiteX2" fmla="*/ 3540 w 9933"/>
              <a:gd name="connsiteY2" fmla="*/ 8647 h 9687"/>
              <a:gd name="connsiteX3" fmla="*/ 3606 w 9933"/>
              <a:gd name="connsiteY3" fmla="*/ 8333 h 9687"/>
              <a:gd name="connsiteX4" fmla="*/ 3606 w 9933"/>
              <a:gd name="connsiteY4" fmla="*/ 313 h 9687"/>
              <a:gd name="connsiteX5" fmla="*/ 3675 w 9933"/>
              <a:gd name="connsiteY5" fmla="*/ 0 h 9687"/>
              <a:gd name="connsiteX6" fmla="*/ 6804 w 9933"/>
              <a:gd name="connsiteY6" fmla="*/ 0 h 9687"/>
              <a:gd name="connsiteX7" fmla="*/ 6870 w 9933"/>
              <a:gd name="connsiteY7" fmla="*/ 313 h 9687"/>
              <a:gd name="connsiteX8" fmla="*/ 6870 w 9933"/>
              <a:gd name="connsiteY8" fmla="*/ 5772 h 9687"/>
              <a:gd name="connsiteX9" fmla="*/ 6936 w 9933"/>
              <a:gd name="connsiteY9" fmla="*/ 6085 h 9687"/>
              <a:gd name="connsiteX10" fmla="*/ 7803 w 9933"/>
              <a:gd name="connsiteY10" fmla="*/ 6085 h 9687"/>
              <a:gd name="connsiteX11" fmla="*/ 7873 w 9933"/>
              <a:gd name="connsiteY11" fmla="*/ 5772 h 9687"/>
              <a:gd name="connsiteX12" fmla="*/ 7873 w 9933"/>
              <a:gd name="connsiteY12" fmla="*/ 2293 h 9687"/>
              <a:gd name="connsiteX13" fmla="*/ 7940 w 9933"/>
              <a:gd name="connsiteY13" fmla="*/ 1980 h 9687"/>
              <a:gd name="connsiteX14" fmla="*/ 9866 w 9933"/>
              <a:gd name="connsiteY14" fmla="*/ 1980 h 9687"/>
              <a:gd name="connsiteX15" fmla="*/ 9933 w 9933"/>
              <a:gd name="connsiteY15" fmla="*/ 2293 h 9687"/>
              <a:gd name="connsiteX16" fmla="*/ 9933 w 9933"/>
              <a:gd name="connsiteY16" fmla="*/ 9687 h 9687"/>
              <a:gd name="connsiteX0" fmla="*/ 0 w 10000"/>
              <a:gd name="connsiteY0" fmla="*/ 8602 h 8926"/>
              <a:gd name="connsiteX1" fmla="*/ 69 w 10000"/>
              <a:gd name="connsiteY1" fmla="*/ 8926 h 8926"/>
              <a:gd name="connsiteX2" fmla="*/ 3564 w 10000"/>
              <a:gd name="connsiteY2" fmla="*/ 8926 h 8926"/>
              <a:gd name="connsiteX3" fmla="*/ 3630 w 10000"/>
              <a:gd name="connsiteY3" fmla="*/ 8602 h 8926"/>
              <a:gd name="connsiteX4" fmla="*/ 3630 w 10000"/>
              <a:gd name="connsiteY4" fmla="*/ 323 h 8926"/>
              <a:gd name="connsiteX5" fmla="*/ 3700 w 10000"/>
              <a:gd name="connsiteY5" fmla="*/ 0 h 8926"/>
              <a:gd name="connsiteX6" fmla="*/ 6850 w 10000"/>
              <a:gd name="connsiteY6" fmla="*/ 0 h 8926"/>
              <a:gd name="connsiteX7" fmla="*/ 6916 w 10000"/>
              <a:gd name="connsiteY7" fmla="*/ 323 h 8926"/>
              <a:gd name="connsiteX8" fmla="*/ 6916 w 10000"/>
              <a:gd name="connsiteY8" fmla="*/ 5959 h 8926"/>
              <a:gd name="connsiteX9" fmla="*/ 6983 w 10000"/>
              <a:gd name="connsiteY9" fmla="*/ 6282 h 8926"/>
              <a:gd name="connsiteX10" fmla="*/ 7856 w 10000"/>
              <a:gd name="connsiteY10" fmla="*/ 6282 h 8926"/>
              <a:gd name="connsiteX11" fmla="*/ 7926 w 10000"/>
              <a:gd name="connsiteY11" fmla="*/ 5959 h 8926"/>
              <a:gd name="connsiteX12" fmla="*/ 7926 w 10000"/>
              <a:gd name="connsiteY12" fmla="*/ 2367 h 8926"/>
              <a:gd name="connsiteX13" fmla="*/ 7994 w 10000"/>
              <a:gd name="connsiteY13" fmla="*/ 2044 h 8926"/>
              <a:gd name="connsiteX14" fmla="*/ 9933 w 10000"/>
              <a:gd name="connsiteY14" fmla="*/ 2044 h 8926"/>
              <a:gd name="connsiteX15" fmla="*/ 10000 w 10000"/>
              <a:gd name="connsiteY15" fmla="*/ 2367 h 8926"/>
              <a:gd name="connsiteX0" fmla="*/ 0 w 10000"/>
              <a:gd name="connsiteY0" fmla="*/ 9637 h 10000"/>
              <a:gd name="connsiteX1" fmla="*/ 3564 w 10000"/>
              <a:gd name="connsiteY1" fmla="*/ 10000 h 10000"/>
              <a:gd name="connsiteX2" fmla="*/ 3630 w 10000"/>
              <a:gd name="connsiteY2" fmla="*/ 9637 h 10000"/>
              <a:gd name="connsiteX3" fmla="*/ 3630 w 10000"/>
              <a:gd name="connsiteY3" fmla="*/ 362 h 10000"/>
              <a:gd name="connsiteX4" fmla="*/ 3700 w 10000"/>
              <a:gd name="connsiteY4" fmla="*/ 0 h 10000"/>
              <a:gd name="connsiteX5" fmla="*/ 6850 w 10000"/>
              <a:gd name="connsiteY5" fmla="*/ 0 h 10000"/>
              <a:gd name="connsiteX6" fmla="*/ 6916 w 10000"/>
              <a:gd name="connsiteY6" fmla="*/ 362 h 10000"/>
              <a:gd name="connsiteX7" fmla="*/ 6916 w 10000"/>
              <a:gd name="connsiteY7" fmla="*/ 6676 h 10000"/>
              <a:gd name="connsiteX8" fmla="*/ 6983 w 10000"/>
              <a:gd name="connsiteY8" fmla="*/ 7038 h 10000"/>
              <a:gd name="connsiteX9" fmla="*/ 7856 w 10000"/>
              <a:gd name="connsiteY9" fmla="*/ 7038 h 10000"/>
              <a:gd name="connsiteX10" fmla="*/ 7926 w 10000"/>
              <a:gd name="connsiteY10" fmla="*/ 6676 h 10000"/>
              <a:gd name="connsiteX11" fmla="*/ 7926 w 10000"/>
              <a:gd name="connsiteY11" fmla="*/ 2652 h 10000"/>
              <a:gd name="connsiteX12" fmla="*/ 7994 w 10000"/>
              <a:gd name="connsiteY12" fmla="*/ 2290 h 10000"/>
              <a:gd name="connsiteX13" fmla="*/ 9933 w 10000"/>
              <a:gd name="connsiteY13" fmla="*/ 2290 h 10000"/>
              <a:gd name="connsiteX14" fmla="*/ 10000 w 10000"/>
              <a:gd name="connsiteY14" fmla="*/ 2652 h 10000"/>
              <a:gd name="connsiteX0" fmla="*/ 0 w 9777"/>
              <a:gd name="connsiteY0" fmla="*/ 10089 h 10109"/>
              <a:gd name="connsiteX1" fmla="*/ 3341 w 9777"/>
              <a:gd name="connsiteY1" fmla="*/ 10000 h 10109"/>
              <a:gd name="connsiteX2" fmla="*/ 3407 w 9777"/>
              <a:gd name="connsiteY2" fmla="*/ 9637 h 10109"/>
              <a:gd name="connsiteX3" fmla="*/ 3407 w 9777"/>
              <a:gd name="connsiteY3" fmla="*/ 362 h 10109"/>
              <a:gd name="connsiteX4" fmla="*/ 3477 w 9777"/>
              <a:gd name="connsiteY4" fmla="*/ 0 h 10109"/>
              <a:gd name="connsiteX5" fmla="*/ 6627 w 9777"/>
              <a:gd name="connsiteY5" fmla="*/ 0 h 10109"/>
              <a:gd name="connsiteX6" fmla="*/ 6693 w 9777"/>
              <a:gd name="connsiteY6" fmla="*/ 362 h 10109"/>
              <a:gd name="connsiteX7" fmla="*/ 6693 w 9777"/>
              <a:gd name="connsiteY7" fmla="*/ 6676 h 10109"/>
              <a:gd name="connsiteX8" fmla="*/ 6760 w 9777"/>
              <a:gd name="connsiteY8" fmla="*/ 7038 h 10109"/>
              <a:gd name="connsiteX9" fmla="*/ 7633 w 9777"/>
              <a:gd name="connsiteY9" fmla="*/ 7038 h 10109"/>
              <a:gd name="connsiteX10" fmla="*/ 7703 w 9777"/>
              <a:gd name="connsiteY10" fmla="*/ 6676 h 10109"/>
              <a:gd name="connsiteX11" fmla="*/ 7703 w 9777"/>
              <a:gd name="connsiteY11" fmla="*/ 2652 h 10109"/>
              <a:gd name="connsiteX12" fmla="*/ 7771 w 9777"/>
              <a:gd name="connsiteY12" fmla="*/ 2290 h 10109"/>
              <a:gd name="connsiteX13" fmla="*/ 9710 w 9777"/>
              <a:gd name="connsiteY13" fmla="*/ 2290 h 10109"/>
              <a:gd name="connsiteX14" fmla="*/ 9777 w 9777"/>
              <a:gd name="connsiteY14" fmla="*/ 2652 h 10109"/>
              <a:gd name="connsiteX0" fmla="*/ 0 w 10000"/>
              <a:gd name="connsiteY0" fmla="*/ 9855 h 9901"/>
              <a:gd name="connsiteX1" fmla="*/ 3417 w 10000"/>
              <a:gd name="connsiteY1" fmla="*/ 9892 h 9901"/>
              <a:gd name="connsiteX2" fmla="*/ 3485 w 10000"/>
              <a:gd name="connsiteY2" fmla="*/ 9533 h 9901"/>
              <a:gd name="connsiteX3" fmla="*/ 3485 w 10000"/>
              <a:gd name="connsiteY3" fmla="*/ 358 h 9901"/>
              <a:gd name="connsiteX4" fmla="*/ 3556 w 10000"/>
              <a:gd name="connsiteY4" fmla="*/ 0 h 9901"/>
              <a:gd name="connsiteX5" fmla="*/ 6778 w 10000"/>
              <a:gd name="connsiteY5" fmla="*/ 0 h 9901"/>
              <a:gd name="connsiteX6" fmla="*/ 6846 w 10000"/>
              <a:gd name="connsiteY6" fmla="*/ 358 h 9901"/>
              <a:gd name="connsiteX7" fmla="*/ 6846 w 10000"/>
              <a:gd name="connsiteY7" fmla="*/ 6604 h 9901"/>
              <a:gd name="connsiteX8" fmla="*/ 6914 w 10000"/>
              <a:gd name="connsiteY8" fmla="*/ 6962 h 9901"/>
              <a:gd name="connsiteX9" fmla="*/ 7807 w 10000"/>
              <a:gd name="connsiteY9" fmla="*/ 6962 h 9901"/>
              <a:gd name="connsiteX10" fmla="*/ 7879 w 10000"/>
              <a:gd name="connsiteY10" fmla="*/ 6604 h 9901"/>
              <a:gd name="connsiteX11" fmla="*/ 7879 w 10000"/>
              <a:gd name="connsiteY11" fmla="*/ 2623 h 9901"/>
              <a:gd name="connsiteX12" fmla="*/ 7948 w 10000"/>
              <a:gd name="connsiteY12" fmla="*/ 2265 h 9901"/>
              <a:gd name="connsiteX13" fmla="*/ 9931 w 10000"/>
              <a:gd name="connsiteY13" fmla="*/ 2265 h 9901"/>
              <a:gd name="connsiteX14" fmla="*/ 10000 w 10000"/>
              <a:gd name="connsiteY14" fmla="*/ 2623 h 9901"/>
              <a:gd name="connsiteX0" fmla="*/ 0 w 10000"/>
              <a:gd name="connsiteY0" fmla="*/ 9954 h 10007"/>
              <a:gd name="connsiteX1" fmla="*/ 3417 w 10000"/>
              <a:gd name="connsiteY1" fmla="*/ 9991 h 10007"/>
              <a:gd name="connsiteX2" fmla="*/ 3485 w 10000"/>
              <a:gd name="connsiteY2" fmla="*/ 9628 h 10007"/>
              <a:gd name="connsiteX3" fmla="*/ 3485 w 10000"/>
              <a:gd name="connsiteY3" fmla="*/ 362 h 10007"/>
              <a:gd name="connsiteX4" fmla="*/ 3556 w 10000"/>
              <a:gd name="connsiteY4" fmla="*/ 0 h 10007"/>
              <a:gd name="connsiteX5" fmla="*/ 6778 w 10000"/>
              <a:gd name="connsiteY5" fmla="*/ 0 h 10007"/>
              <a:gd name="connsiteX6" fmla="*/ 6846 w 10000"/>
              <a:gd name="connsiteY6" fmla="*/ 362 h 10007"/>
              <a:gd name="connsiteX7" fmla="*/ 6846 w 10000"/>
              <a:gd name="connsiteY7" fmla="*/ 6670 h 10007"/>
              <a:gd name="connsiteX8" fmla="*/ 6914 w 10000"/>
              <a:gd name="connsiteY8" fmla="*/ 7032 h 10007"/>
              <a:gd name="connsiteX9" fmla="*/ 7807 w 10000"/>
              <a:gd name="connsiteY9" fmla="*/ 7032 h 10007"/>
              <a:gd name="connsiteX10" fmla="*/ 7879 w 10000"/>
              <a:gd name="connsiteY10" fmla="*/ 6670 h 10007"/>
              <a:gd name="connsiteX11" fmla="*/ 7879 w 10000"/>
              <a:gd name="connsiteY11" fmla="*/ 2649 h 10007"/>
              <a:gd name="connsiteX12" fmla="*/ 7948 w 10000"/>
              <a:gd name="connsiteY12" fmla="*/ 2288 h 10007"/>
              <a:gd name="connsiteX13" fmla="*/ 9931 w 10000"/>
              <a:gd name="connsiteY13" fmla="*/ 2288 h 10007"/>
              <a:gd name="connsiteX14" fmla="*/ 10000 w 10000"/>
              <a:gd name="connsiteY14" fmla="*/ 2649 h 10007"/>
              <a:gd name="connsiteX0" fmla="*/ 0 w 10000"/>
              <a:gd name="connsiteY0" fmla="*/ 9954 h 10038"/>
              <a:gd name="connsiteX1" fmla="*/ 3417 w 10000"/>
              <a:gd name="connsiteY1" fmla="*/ 9991 h 10038"/>
              <a:gd name="connsiteX2" fmla="*/ 3485 w 10000"/>
              <a:gd name="connsiteY2" fmla="*/ 9628 h 10038"/>
              <a:gd name="connsiteX3" fmla="*/ 3485 w 10000"/>
              <a:gd name="connsiteY3" fmla="*/ 362 h 10038"/>
              <a:gd name="connsiteX4" fmla="*/ 3556 w 10000"/>
              <a:gd name="connsiteY4" fmla="*/ 0 h 10038"/>
              <a:gd name="connsiteX5" fmla="*/ 6778 w 10000"/>
              <a:gd name="connsiteY5" fmla="*/ 0 h 10038"/>
              <a:gd name="connsiteX6" fmla="*/ 6846 w 10000"/>
              <a:gd name="connsiteY6" fmla="*/ 362 h 10038"/>
              <a:gd name="connsiteX7" fmla="*/ 6846 w 10000"/>
              <a:gd name="connsiteY7" fmla="*/ 6670 h 10038"/>
              <a:gd name="connsiteX8" fmla="*/ 6914 w 10000"/>
              <a:gd name="connsiteY8" fmla="*/ 7032 h 10038"/>
              <a:gd name="connsiteX9" fmla="*/ 7807 w 10000"/>
              <a:gd name="connsiteY9" fmla="*/ 7032 h 10038"/>
              <a:gd name="connsiteX10" fmla="*/ 7879 w 10000"/>
              <a:gd name="connsiteY10" fmla="*/ 6670 h 10038"/>
              <a:gd name="connsiteX11" fmla="*/ 7879 w 10000"/>
              <a:gd name="connsiteY11" fmla="*/ 2649 h 10038"/>
              <a:gd name="connsiteX12" fmla="*/ 7948 w 10000"/>
              <a:gd name="connsiteY12" fmla="*/ 2288 h 10038"/>
              <a:gd name="connsiteX13" fmla="*/ 9931 w 10000"/>
              <a:gd name="connsiteY13" fmla="*/ 2288 h 10038"/>
              <a:gd name="connsiteX14" fmla="*/ 10000 w 10000"/>
              <a:gd name="connsiteY14" fmla="*/ 2649 h 10038"/>
              <a:gd name="connsiteX0" fmla="*/ 0 w 10000"/>
              <a:gd name="connsiteY0" fmla="*/ 9954 h 10007"/>
              <a:gd name="connsiteX1" fmla="*/ 3417 w 10000"/>
              <a:gd name="connsiteY1" fmla="*/ 9991 h 10007"/>
              <a:gd name="connsiteX2" fmla="*/ 3485 w 10000"/>
              <a:gd name="connsiteY2" fmla="*/ 9628 h 10007"/>
              <a:gd name="connsiteX3" fmla="*/ 3485 w 10000"/>
              <a:gd name="connsiteY3" fmla="*/ 362 h 10007"/>
              <a:gd name="connsiteX4" fmla="*/ 3556 w 10000"/>
              <a:gd name="connsiteY4" fmla="*/ 0 h 10007"/>
              <a:gd name="connsiteX5" fmla="*/ 6778 w 10000"/>
              <a:gd name="connsiteY5" fmla="*/ 0 h 10007"/>
              <a:gd name="connsiteX6" fmla="*/ 6846 w 10000"/>
              <a:gd name="connsiteY6" fmla="*/ 362 h 10007"/>
              <a:gd name="connsiteX7" fmla="*/ 6846 w 10000"/>
              <a:gd name="connsiteY7" fmla="*/ 6670 h 10007"/>
              <a:gd name="connsiteX8" fmla="*/ 6914 w 10000"/>
              <a:gd name="connsiteY8" fmla="*/ 7032 h 10007"/>
              <a:gd name="connsiteX9" fmla="*/ 7807 w 10000"/>
              <a:gd name="connsiteY9" fmla="*/ 7032 h 10007"/>
              <a:gd name="connsiteX10" fmla="*/ 7879 w 10000"/>
              <a:gd name="connsiteY10" fmla="*/ 6670 h 10007"/>
              <a:gd name="connsiteX11" fmla="*/ 7879 w 10000"/>
              <a:gd name="connsiteY11" fmla="*/ 2649 h 10007"/>
              <a:gd name="connsiteX12" fmla="*/ 7948 w 10000"/>
              <a:gd name="connsiteY12" fmla="*/ 2288 h 10007"/>
              <a:gd name="connsiteX13" fmla="*/ 9931 w 10000"/>
              <a:gd name="connsiteY13" fmla="*/ 2288 h 10007"/>
              <a:gd name="connsiteX14" fmla="*/ 10000 w 10000"/>
              <a:gd name="connsiteY14" fmla="*/ 2649 h 10007"/>
              <a:gd name="connsiteX0" fmla="*/ 0 w 10000"/>
              <a:gd name="connsiteY0" fmla="*/ 9972 h 10018"/>
              <a:gd name="connsiteX1" fmla="*/ 3417 w 10000"/>
              <a:gd name="connsiteY1" fmla="*/ 9991 h 10018"/>
              <a:gd name="connsiteX2" fmla="*/ 3485 w 10000"/>
              <a:gd name="connsiteY2" fmla="*/ 9628 h 10018"/>
              <a:gd name="connsiteX3" fmla="*/ 3485 w 10000"/>
              <a:gd name="connsiteY3" fmla="*/ 362 h 10018"/>
              <a:gd name="connsiteX4" fmla="*/ 3556 w 10000"/>
              <a:gd name="connsiteY4" fmla="*/ 0 h 10018"/>
              <a:gd name="connsiteX5" fmla="*/ 6778 w 10000"/>
              <a:gd name="connsiteY5" fmla="*/ 0 h 10018"/>
              <a:gd name="connsiteX6" fmla="*/ 6846 w 10000"/>
              <a:gd name="connsiteY6" fmla="*/ 362 h 10018"/>
              <a:gd name="connsiteX7" fmla="*/ 6846 w 10000"/>
              <a:gd name="connsiteY7" fmla="*/ 6670 h 10018"/>
              <a:gd name="connsiteX8" fmla="*/ 6914 w 10000"/>
              <a:gd name="connsiteY8" fmla="*/ 7032 h 10018"/>
              <a:gd name="connsiteX9" fmla="*/ 7807 w 10000"/>
              <a:gd name="connsiteY9" fmla="*/ 7032 h 10018"/>
              <a:gd name="connsiteX10" fmla="*/ 7879 w 10000"/>
              <a:gd name="connsiteY10" fmla="*/ 6670 h 10018"/>
              <a:gd name="connsiteX11" fmla="*/ 7879 w 10000"/>
              <a:gd name="connsiteY11" fmla="*/ 2649 h 10018"/>
              <a:gd name="connsiteX12" fmla="*/ 7948 w 10000"/>
              <a:gd name="connsiteY12" fmla="*/ 2288 h 10018"/>
              <a:gd name="connsiteX13" fmla="*/ 9931 w 10000"/>
              <a:gd name="connsiteY13" fmla="*/ 2288 h 10018"/>
              <a:gd name="connsiteX14" fmla="*/ 10000 w 10000"/>
              <a:gd name="connsiteY14" fmla="*/ 2649 h 10018"/>
              <a:gd name="connsiteX0" fmla="*/ 0 w 10000"/>
              <a:gd name="connsiteY0" fmla="*/ 9972 h 9991"/>
              <a:gd name="connsiteX1" fmla="*/ 3417 w 10000"/>
              <a:gd name="connsiteY1" fmla="*/ 9991 h 9991"/>
              <a:gd name="connsiteX2" fmla="*/ 3485 w 10000"/>
              <a:gd name="connsiteY2" fmla="*/ 9628 h 9991"/>
              <a:gd name="connsiteX3" fmla="*/ 3485 w 10000"/>
              <a:gd name="connsiteY3" fmla="*/ 362 h 9991"/>
              <a:gd name="connsiteX4" fmla="*/ 3556 w 10000"/>
              <a:gd name="connsiteY4" fmla="*/ 0 h 9991"/>
              <a:gd name="connsiteX5" fmla="*/ 6778 w 10000"/>
              <a:gd name="connsiteY5" fmla="*/ 0 h 9991"/>
              <a:gd name="connsiteX6" fmla="*/ 6846 w 10000"/>
              <a:gd name="connsiteY6" fmla="*/ 362 h 9991"/>
              <a:gd name="connsiteX7" fmla="*/ 6846 w 10000"/>
              <a:gd name="connsiteY7" fmla="*/ 6670 h 9991"/>
              <a:gd name="connsiteX8" fmla="*/ 6914 w 10000"/>
              <a:gd name="connsiteY8" fmla="*/ 7032 h 9991"/>
              <a:gd name="connsiteX9" fmla="*/ 7807 w 10000"/>
              <a:gd name="connsiteY9" fmla="*/ 7032 h 9991"/>
              <a:gd name="connsiteX10" fmla="*/ 7879 w 10000"/>
              <a:gd name="connsiteY10" fmla="*/ 6670 h 9991"/>
              <a:gd name="connsiteX11" fmla="*/ 7879 w 10000"/>
              <a:gd name="connsiteY11" fmla="*/ 2649 h 9991"/>
              <a:gd name="connsiteX12" fmla="*/ 7948 w 10000"/>
              <a:gd name="connsiteY12" fmla="*/ 2288 h 9991"/>
              <a:gd name="connsiteX13" fmla="*/ 9931 w 10000"/>
              <a:gd name="connsiteY13" fmla="*/ 2288 h 9991"/>
              <a:gd name="connsiteX14" fmla="*/ 10000 w 10000"/>
              <a:gd name="connsiteY14" fmla="*/ 2649 h 9991"/>
              <a:gd name="connsiteX0" fmla="*/ 0 w 10000"/>
              <a:gd name="connsiteY0" fmla="*/ 10008 h 10015"/>
              <a:gd name="connsiteX1" fmla="*/ 3417 w 10000"/>
              <a:gd name="connsiteY1" fmla="*/ 10000 h 10015"/>
              <a:gd name="connsiteX2" fmla="*/ 3485 w 10000"/>
              <a:gd name="connsiteY2" fmla="*/ 9637 h 10015"/>
              <a:gd name="connsiteX3" fmla="*/ 3485 w 10000"/>
              <a:gd name="connsiteY3" fmla="*/ 362 h 10015"/>
              <a:gd name="connsiteX4" fmla="*/ 3556 w 10000"/>
              <a:gd name="connsiteY4" fmla="*/ 0 h 10015"/>
              <a:gd name="connsiteX5" fmla="*/ 6778 w 10000"/>
              <a:gd name="connsiteY5" fmla="*/ 0 h 10015"/>
              <a:gd name="connsiteX6" fmla="*/ 6846 w 10000"/>
              <a:gd name="connsiteY6" fmla="*/ 362 h 10015"/>
              <a:gd name="connsiteX7" fmla="*/ 6846 w 10000"/>
              <a:gd name="connsiteY7" fmla="*/ 6676 h 10015"/>
              <a:gd name="connsiteX8" fmla="*/ 6914 w 10000"/>
              <a:gd name="connsiteY8" fmla="*/ 7038 h 10015"/>
              <a:gd name="connsiteX9" fmla="*/ 7807 w 10000"/>
              <a:gd name="connsiteY9" fmla="*/ 7038 h 10015"/>
              <a:gd name="connsiteX10" fmla="*/ 7879 w 10000"/>
              <a:gd name="connsiteY10" fmla="*/ 6676 h 10015"/>
              <a:gd name="connsiteX11" fmla="*/ 7879 w 10000"/>
              <a:gd name="connsiteY11" fmla="*/ 2651 h 10015"/>
              <a:gd name="connsiteX12" fmla="*/ 7948 w 10000"/>
              <a:gd name="connsiteY12" fmla="*/ 2290 h 10015"/>
              <a:gd name="connsiteX13" fmla="*/ 9931 w 10000"/>
              <a:gd name="connsiteY13" fmla="*/ 2290 h 10015"/>
              <a:gd name="connsiteX14" fmla="*/ 10000 w 10000"/>
              <a:gd name="connsiteY14" fmla="*/ 2651 h 10015"/>
              <a:gd name="connsiteX0" fmla="*/ 0 w 10000"/>
              <a:gd name="connsiteY0" fmla="*/ 10008 h 10008"/>
              <a:gd name="connsiteX1" fmla="*/ 3417 w 10000"/>
              <a:gd name="connsiteY1" fmla="*/ 10000 h 10008"/>
              <a:gd name="connsiteX2" fmla="*/ 3485 w 10000"/>
              <a:gd name="connsiteY2" fmla="*/ 9637 h 10008"/>
              <a:gd name="connsiteX3" fmla="*/ 3485 w 10000"/>
              <a:gd name="connsiteY3" fmla="*/ 362 h 10008"/>
              <a:gd name="connsiteX4" fmla="*/ 3556 w 10000"/>
              <a:gd name="connsiteY4" fmla="*/ 0 h 10008"/>
              <a:gd name="connsiteX5" fmla="*/ 6778 w 10000"/>
              <a:gd name="connsiteY5" fmla="*/ 0 h 10008"/>
              <a:gd name="connsiteX6" fmla="*/ 6846 w 10000"/>
              <a:gd name="connsiteY6" fmla="*/ 362 h 10008"/>
              <a:gd name="connsiteX7" fmla="*/ 6846 w 10000"/>
              <a:gd name="connsiteY7" fmla="*/ 6676 h 10008"/>
              <a:gd name="connsiteX8" fmla="*/ 6914 w 10000"/>
              <a:gd name="connsiteY8" fmla="*/ 7038 h 10008"/>
              <a:gd name="connsiteX9" fmla="*/ 7807 w 10000"/>
              <a:gd name="connsiteY9" fmla="*/ 7038 h 10008"/>
              <a:gd name="connsiteX10" fmla="*/ 7879 w 10000"/>
              <a:gd name="connsiteY10" fmla="*/ 6676 h 10008"/>
              <a:gd name="connsiteX11" fmla="*/ 7879 w 10000"/>
              <a:gd name="connsiteY11" fmla="*/ 2651 h 10008"/>
              <a:gd name="connsiteX12" fmla="*/ 7948 w 10000"/>
              <a:gd name="connsiteY12" fmla="*/ 2290 h 10008"/>
              <a:gd name="connsiteX13" fmla="*/ 9931 w 10000"/>
              <a:gd name="connsiteY13" fmla="*/ 2290 h 10008"/>
              <a:gd name="connsiteX14" fmla="*/ 10000 w 10000"/>
              <a:gd name="connsiteY14" fmla="*/ 2651 h 10008"/>
              <a:gd name="connsiteX0" fmla="*/ 0 w 10000"/>
              <a:gd name="connsiteY0" fmla="*/ 10008 h 10008"/>
              <a:gd name="connsiteX1" fmla="*/ 3417 w 10000"/>
              <a:gd name="connsiteY1" fmla="*/ 10000 h 10008"/>
              <a:gd name="connsiteX2" fmla="*/ 3485 w 10000"/>
              <a:gd name="connsiteY2" fmla="*/ 9637 h 10008"/>
              <a:gd name="connsiteX3" fmla="*/ 3485 w 10000"/>
              <a:gd name="connsiteY3" fmla="*/ 362 h 10008"/>
              <a:gd name="connsiteX4" fmla="*/ 3556 w 10000"/>
              <a:gd name="connsiteY4" fmla="*/ 0 h 10008"/>
              <a:gd name="connsiteX5" fmla="*/ 6778 w 10000"/>
              <a:gd name="connsiteY5" fmla="*/ 0 h 10008"/>
              <a:gd name="connsiteX6" fmla="*/ 6846 w 10000"/>
              <a:gd name="connsiteY6" fmla="*/ 362 h 10008"/>
              <a:gd name="connsiteX7" fmla="*/ 6846 w 10000"/>
              <a:gd name="connsiteY7" fmla="*/ 6676 h 10008"/>
              <a:gd name="connsiteX8" fmla="*/ 6914 w 10000"/>
              <a:gd name="connsiteY8" fmla="*/ 7038 h 10008"/>
              <a:gd name="connsiteX9" fmla="*/ 7807 w 10000"/>
              <a:gd name="connsiteY9" fmla="*/ 7038 h 10008"/>
              <a:gd name="connsiteX10" fmla="*/ 7879 w 10000"/>
              <a:gd name="connsiteY10" fmla="*/ 6676 h 10008"/>
              <a:gd name="connsiteX11" fmla="*/ 7879 w 10000"/>
              <a:gd name="connsiteY11" fmla="*/ 2651 h 10008"/>
              <a:gd name="connsiteX12" fmla="*/ 7948 w 10000"/>
              <a:gd name="connsiteY12" fmla="*/ 2290 h 10008"/>
              <a:gd name="connsiteX13" fmla="*/ 10000 w 10000"/>
              <a:gd name="connsiteY13" fmla="*/ 2651 h 10008"/>
              <a:gd name="connsiteX0" fmla="*/ 0 w 9969"/>
              <a:gd name="connsiteY0" fmla="*/ 10008 h 10008"/>
              <a:gd name="connsiteX1" fmla="*/ 3417 w 9969"/>
              <a:gd name="connsiteY1" fmla="*/ 10000 h 10008"/>
              <a:gd name="connsiteX2" fmla="*/ 3485 w 9969"/>
              <a:gd name="connsiteY2" fmla="*/ 9637 h 10008"/>
              <a:gd name="connsiteX3" fmla="*/ 3485 w 9969"/>
              <a:gd name="connsiteY3" fmla="*/ 362 h 10008"/>
              <a:gd name="connsiteX4" fmla="*/ 3556 w 9969"/>
              <a:gd name="connsiteY4" fmla="*/ 0 h 10008"/>
              <a:gd name="connsiteX5" fmla="*/ 6778 w 9969"/>
              <a:gd name="connsiteY5" fmla="*/ 0 h 10008"/>
              <a:gd name="connsiteX6" fmla="*/ 6846 w 9969"/>
              <a:gd name="connsiteY6" fmla="*/ 362 h 10008"/>
              <a:gd name="connsiteX7" fmla="*/ 6846 w 9969"/>
              <a:gd name="connsiteY7" fmla="*/ 6676 h 10008"/>
              <a:gd name="connsiteX8" fmla="*/ 6914 w 9969"/>
              <a:gd name="connsiteY8" fmla="*/ 7038 h 10008"/>
              <a:gd name="connsiteX9" fmla="*/ 7807 w 9969"/>
              <a:gd name="connsiteY9" fmla="*/ 7038 h 10008"/>
              <a:gd name="connsiteX10" fmla="*/ 7879 w 9969"/>
              <a:gd name="connsiteY10" fmla="*/ 6676 h 10008"/>
              <a:gd name="connsiteX11" fmla="*/ 7879 w 9969"/>
              <a:gd name="connsiteY11" fmla="*/ 2651 h 10008"/>
              <a:gd name="connsiteX12" fmla="*/ 7948 w 9969"/>
              <a:gd name="connsiteY12" fmla="*/ 2290 h 10008"/>
              <a:gd name="connsiteX13" fmla="*/ 9969 w 9969"/>
              <a:gd name="connsiteY13" fmla="*/ 2271 h 10008"/>
              <a:gd name="connsiteX0" fmla="*/ 0 w 9995"/>
              <a:gd name="connsiteY0" fmla="*/ 10000 h 10000"/>
              <a:gd name="connsiteX1" fmla="*/ 3428 w 9995"/>
              <a:gd name="connsiteY1" fmla="*/ 9992 h 10000"/>
              <a:gd name="connsiteX2" fmla="*/ 3496 w 9995"/>
              <a:gd name="connsiteY2" fmla="*/ 9629 h 10000"/>
              <a:gd name="connsiteX3" fmla="*/ 3496 w 9995"/>
              <a:gd name="connsiteY3" fmla="*/ 362 h 10000"/>
              <a:gd name="connsiteX4" fmla="*/ 3567 w 9995"/>
              <a:gd name="connsiteY4" fmla="*/ 0 h 10000"/>
              <a:gd name="connsiteX5" fmla="*/ 6799 w 9995"/>
              <a:gd name="connsiteY5" fmla="*/ 0 h 10000"/>
              <a:gd name="connsiteX6" fmla="*/ 6867 w 9995"/>
              <a:gd name="connsiteY6" fmla="*/ 362 h 10000"/>
              <a:gd name="connsiteX7" fmla="*/ 6867 w 9995"/>
              <a:gd name="connsiteY7" fmla="*/ 6671 h 10000"/>
              <a:gd name="connsiteX8" fmla="*/ 6936 w 9995"/>
              <a:gd name="connsiteY8" fmla="*/ 7032 h 10000"/>
              <a:gd name="connsiteX9" fmla="*/ 7831 w 9995"/>
              <a:gd name="connsiteY9" fmla="*/ 7032 h 10000"/>
              <a:gd name="connsiteX10" fmla="*/ 7904 w 9995"/>
              <a:gd name="connsiteY10" fmla="*/ 6671 h 10000"/>
              <a:gd name="connsiteX11" fmla="*/ 7904 w 9995"/>
              <a:gd name="connsiteY11" fmla="*/ 2649 h 10000"/>
              <a:gd name="connsiteX12" fmla="*/ 7973 w 9995"/>
              <a:gd name="connsiteY12" fmla="*/ 2288 h 10000"/>
              <a:gd name="connsiteX13" fmla="*/ 9995 w 9995"/>
              <a:gd name="connsiteY13" fmla="*/ 2377 h 10000"/>
              <a:gd name="connsiteX0" fmla="*/ 0 w 10000"/>
              <a:gd name="connsiteY0" fmla="*/ 10000 h 10000"/>
              <a:gd name="connsiteX1" fmla="*/ 3430 w 10000"/>
              <a:gd name="connsiteY1" fmla="*/ 9992 h 10000"/>
              <a:gd name="connsiteX2" fmla="*/ 3498 w 10000"/>
              <a:gd name="connsiteY2" fmla="*/ 9629 h 10000"/>
              <a:gd name="connsiteX3" fmla="*/ 3498 w 10000"/>
              <a:gd name="connsiteY3" fmla="*/ 362 h 10000"/>
              <a:gd name="connsiteX4" fmla="*/ 3569 w 10000"/>
              <a:gd name="connsiteY4" fmla="*/ 0 h 10000"/>
              <a:gd name="connsiteX5" fmla="*/ 6802 w 10000"/>
              <a:gd name="connsiteY5" fmla="*/ 0 h 10000"/>
              <a:gd name="connsiteX6" fmla="*/ 6870 w 10000"/>
              <a:gd name="connsiteY6" fmla="*/ 362 h 10000"/>
              <a:gd name="connsiteX7" fmla="*/ 6870 w 10000"/>
              <a:gd name="connsiteY7" fmla="*/ 6671 h 10000"/>
              <a:gd name="connsiteX8" fmla="*/ 6939 w 10000"/>
              <a:gd name="connsiteY8" fmla="*/ 7032 h 10000"/>
              <a:gd name="connsiteX9" fmla="*/ 7835 w 10000"/>
              <a:gd name="connsiteY9" fmla="*/ 7032 h 10000"/>
              <a:gd name="connsiteX10" fmla="*/ 7908 w 10000"/>
              <a:gd name="connsiteY10" fmla="*/ 6671 h 10000"/>
              <a:gd name="connsiteX11" fmla="*/ 7908 w 10000"/>
              <a:gd name="connsiteY11" fmla="*/ 2649 h 10000"/>
              <a:gd name="connsiteX12" fmla="*/ 7977 w 10000"/>
              <a:gd name="connsiteY12" fmla="*/ 2288 h 10000"/>
              <a:gd name="connsiteX13" fmla="*/ 10000 w 10000"/>
              <a:gd name="connsiteY13" fmla="*/ 2296 h 10000"/>
              <a:gd name="connsiteX0" fmla="*/ 0 w 10049"/>
              <a:gd name="connsiteY0" fmla="*/ 10000 h 10000"/>
              <a:gd name="connsiteX1" fmla="*/ 3479 w 10049"/>
              <a:gd name="connsiteY1" fmla="*/ 9992 h 10000"/>
              <a:gd name="connsiteX2" fmla="*/ 3547 w 10049"/>
              <a:gd name="connsiteY2" fmla="*/ 9629 h 10000"/>
              <a:gd name="connsiteX3" fmla="*/ 3547 w 10049"/>
              <a:gd name="connsiteY3" fmla="*/ 362 h 10000"/>
              <a:gd name="connsiteX4" fmla="*/ 3618 w 10049"/>
              <a:gd name="connsiteY4" fmla="*/ 0 h 10000"/>
              <a:gd name="connsiteX5" fmla="*/ 6851 w 10049"/>
              <a:gd name="connsiteY5" fmla="*/ 0 h 10000"/>
              <a:gd name="connsiteX6" fmla="*/ 6919 w 10049"/>
              <a:gd name="connsiteY6" fmla="*/ 362 h 10000"/>
              <a:gd name="connsiteX7" fmla="*/ 6919 w 10049"/>
              <a:gd name="connsiteY7" fmla="*/ 6671 h 10000"/>
              <a:gd name="connsiteX8" fmla="*/ 6988 w 10049"/>
              <a:gd name="connsiteY8" fmla="*/ 7032 h 10000"/>
              <a:gd name="connsiteX9" fmla="*/ 7884 w 10049"/>
              <a:gd name="connsiteY9" fmla="*/ 7032 h 10000"/>
              <a:gd name="connsiteX10" fmla="*/ 7957 w 10049"/>
              <a:gd name="connsiteY10" fmla="*/ 6671 h 10000"/>
              <a:gd name="connsiteX11" fmla="*/ 7957 w 10049"/>
              <a:gd name="connsiteY11" fmla="*/ 2649 h 10000"/>
              <a:gd name="connsiteX12" fmla="*/ 8026 w 10049"/>
              <a:gd name="connsiteY12" fmla="*/ 2288 h 10000"/>
              <a:gd name="connsiteX13" fmla="*/ 10049 w 10049"/>
              <a:gd name="connsiteY13" fmla="*/ 2296 h 10000"/>
              <a:gd name="connsiteX0" fmla="*/ 0 w 10007"/>
              <a:gd name="connsiteY0" fmla="*/ 10000 h 10000"/>
              <a:gd name="connsiteX1" fmla="*/ 3437 w 10007"/>
              <a:gd name="connsiteY1" fmla="*/ 9992 h 10000"/>
              <a:gd name="connsiteX2" fmla="*/ 3505 w 10007"/>
              <a:gd name="connsiteY2" fmla="*/ 9629 h 10000"/>
              <a:gd name="connsiteX3" fmla="*/ 3505 w 10007"/>
              <a:gd name="connsiteY3" fmla="*/ 362 h 10000"/>
              <a:gd name="connsiteX4" fmla="*/ 3576 w 10007"/>
              <a:gd name="connsiteY4" fmla="*/ 0 h 10000"/>
              <a:gd name="connsiteX5" fmla="*/ 6809 w 10007"/>
              <a:gd name="connsiteY5" fmla="*/ 0 h 10000"/>
              <a:gd name="connsiteX6" fmla="*/ 6877 w 10007"/>
              <a:gd name="connsiteY6" fmla="*/ 362 h 10000"/>
              <a:gd name="connsiteX7" fmla="*/ 6877 w 10007"/>
              <a:gd name="connsiteY7" fmla="*/ 6671 h 10000"/>
              <a:gd name="connsiteX8" fmla="*/ 6946 w 10007"/>
              <a:gd name="connsiteY8" fmla="*/ 7032 h 10000"/>
              <a:gd name="connsiteX9" fmla="*/ 7842 w 10007"/>
              <a:gd name="connsiteY9" fmla="*/ 7032 h 10000"/>
              <a:gd name="connsiteX10" fmla="*/ 7915 w 10007"/>
              <a:gd name="connsiteY10" fmla="*/ 6671 h 10000"/>
              <a:gd name="connsiteX11" fmla="*/ 7915 w 10007"/>
              <a:gd name="connsiteY11" fmla="*/ 2649 h 10000"/>
              <a:gd name="connsiteX12" fmla="*/ 7984 w 10007"/>
              <a:gd name="connsiteY12" fmla="*/ 2288 h 10000"/>
              <a:gd name="connsiteX13" fmla="*/ 10007 w 10007"/>
              <a:gd name="connsiteY13" fmla="*/ 2296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007" h="10000">
                <a:moveTo>
                  <a:pt x="0" y="10000"/>
                </a:moveTo>
                <a:lnTo>
                  <a:pt x="3437" y="9992"/>
                </a:lnTo>
                <a:cubicBezTo>
                  <a:pt x="3474" y="9992"/>
                  <a:pt x="3505" y="9824"/>
                  <a:pt x="3505" y="9629"/>
                </a:cubicBezTo>
                <a:lnTo>
                  <a:pt x="3505" y="362"/>
                </a:lnTo>
                <a:cubicBezTo>
                  <a:pt x="3505" y="168"/>
                  <a:pt x="3536" y="0"/>
                  <a:pt x="3576" y="0"/>
                </a:cubicBezTo>
                <a:lnTo>
                  <a:pt x="6809" y="0"/>
                </a:lnTo>
                <a:cubicBezTo>
                  <a:pt x="6845" y="0"/>
                  <a:pt x="6877" y="168"/>
                  <a:pt x="6877" y="362"/>
                </a:cubicBezTo>
                <a:lnTo>
                  <a:pt x="6877" y="6671"/>
                </a:lnTo>
                <a:cubicBezTo>
                  <a:pt x="6877" y="6865"/>
                  <a:pt x="6906" y="7032"/>
                  <a:pt x="6946" y="7032"/>
                </a:cubicBezTo>
                <a:lnTo>
                  <a:pt x="7842" y="7032"/>
                </a:lnTo>
                <a:cubicBezTo>
                  <a:pt x="7883" y="7032"/>
                  <a:pt x="7915" y="6865"/>
                  <a:pt x="7915" y="6671"/>
                </a:cubicBezTo>
                <a:lnTo>
                  <a:pt x="7915" y="2649"/>
                </a:lnTo>
                <a:cubicBezTo>
                  <a:pt x="7915" y="2443"/>
                  <a:pt x="7943" y="2288"/>
                  <a:pt x="7984" y="2288"/>
                </a:cubicBezTo>
                <a:lnTo>
                  <a:pt x="10007" y="2296"/>
                </a:lnTo>
              </a:path>
            </a:pathLst>
          </a:custGeom>
          <a:noFill/>
          <a:ln w="12700" cap="flat">
            <a:solidFill>
              <a:schemeClr val="bg1"/>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800" noProof="0" dirty="0"/>
          </a:p>
        </p:txBody>
      </p:sp>
      <p:pic>
        <p:nvPicPr>
          <p:cNvPr id="20" name="Picture 2" descr="http://intra.kth.se/polopoly_fs/1.383275!/image/KTH_pngs.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36469" b="7207"/>
          <a:stretch/>
        </p:blipFill>
        <p:spPr bwMode="gray">
          <a:xfrm>
            <a:off x="347664" y="344490"/>
            <a:ext cx="803938" cy="803275"/>
          </a:xfrm>
          <a:prstGeom prst="rect">
            <a:avLst/>
          </a:prstGeom>
          <a:noFill/>
          <a:extLst>
            <a:ext uri="{909E8E84-426E-40dd-AFC4-6F175D3DCCD1}">
              <a14:hiddenFill xmlns="" xmlns:a14="http://schemas.microsoft.com/office/drawing/2010/main">
                <a:solidFill>
                  <a:srgbClr val="FFFFFF"/>
                </a:solidFill>
              </a14:hiddenFill>
            </a:ext>
          </a:extLst>
        </p:spPr>
      </p:pic>
      <p:sp>
        <p:nvSpPr>
          <p:cNvPr id="24" name="Rubrik 23"/>
          <p:cNvSpPr>
            <a:spLocks noGrp="1"/>
          </p:cNvSpPr>
          <p:nvPr>
            <p:ph type="title"/>
          </p:nvPr>
        </p:nvSpPr>
        <p:spPr>
          <a:xfrm>
            <a:off x="1514474" y="365128"/>
            <a:ext cx="7000876" cy="1325563"/>
          </a:xfrm>
        </p:spPr>
        <p:txBody>
          <a:bodyPr tIns="0" anchor="b">
            <a:normAutofit/>
          </a:bodyPr>
          <a:lstStyle>
            <a:lvl1pPr>
              <a:lnSpc>
                <a:spcPct val="130000"/>
              </a:lnSpc>
              <a:defRPr sz="3600">
                <a:latin typeface="+mj-lt"/>
                <a:ea typeface="Tahoma" panose="020B0604030504040204" pitchFamily="34" charset="0"/>
                <a:cs typeface="Tahoma" panose="020B0604030504040204" pitchFamily="34" charset="0"/>
              </a:defRPr>
            </a:lvl1pPr>
          </a:lstStyle>
          <a:p>
            <a:r>
              <a:rPr lang="sv-SE" noProof="0"/>
              <a:t>Klicka här för att ändra mall för rubrikformat</a:t>
            </a:r>
            <a:endParaRPr lang="en-US" noProof="0" dirty="0"/>
          </a:p>
        </p:txBody>
      </p:sp>
    </p:spTree>
    <p:extLst>
      <p:ext uri="{BB962C8B-B14F-4D97-AF65-F5344CB8AC3E}">
        <p14:creationId xmlns:p14="http://schemas.microsoft.com/office/powerpoint/2010/main" val="1061129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CBAC2AB9-2E27-FC42-AC58-283DED2BA131}" type="datetimeFigureOut">
              <a:rPr lang="en-US" smtClean="0"/>
              <a:t>12/2/2024</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2862BC0C-A961-7A49-9449-B67727EB81AD}" type="slidenum">
              <a:rPr lang="en-US" smtClean="0"/>
              <a:t>‹#›</a:t>
            </a:fld>
            <a:endParaRPr lang="en-US"/>
          </a:p>
        </p:txBody>
      </p:sp>
    </p:spTree>
    <p:extLst>
      <p:ext uri="{BB962C8B-B14F-4D97-AF65-F5344CB8AC3E}">
        <p14:creationId xmlns:p14="http://schemas.microsoft.com/office/powerpoint/2010/main" val="113759173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hyperlink" Target="https://creativecommons.org/licenses/by-sa/3.0/" TargetMode="External"/><Relationship Id="rId7" Type="http://schemas.openxmlformats.org/officeDocument/2006/relationships/hyperlink" Target="https://creativecommons.org/licenses/by-nc-nd/3.0/" TargetMode="External"/><Relationship Id="rId12" Type="http://schemas.openxmlformats.org/officeDocument/2006/relationships/image" Target="../media/image5.png"/><Relationship Id="rId2" Type="http://schemas.openxmlformats.org/officeDocument/2006/relationships/hyperlink" Target="https://en.wikipedia.org/wiki/Tuskegee_syphilis_experiment" TargetMode="External"/><Relationship Id="rId1" Type="http://schemas.openxmlformats.org/officeDocument/2006/relationships/slideLayout" Target="../slideLayouts/slideLayout7.xml"/><Relationship Id="rId6" Type="http://schemas.openxmlformats.org/officeDocument/2006/relationships/hyperlink" Target="http://www.conversationx.com/2015/12/01/on-science-and-racial-violence/" TargetMode="External"/><Relationship Id="rId11" Type="http://schemas.openxmlformats.org/officeDocument/2006/relationships/hyperlink" Target="https://en.wikipedia.org/wiki/The_Immortal_Life_of_Henrietta_Lacks" TargetMode="External"/><Relationship Id="rId10" Type="http://schemas.openxmlformats.org/officeDocument/2006/relationships/image" Target="../media/image4.jpg"/><Relationship Id="rId4" Type="http://schemas.openxmlformats.org/officeDocument/2006/relationships/image" Target="../media/image2.jpg"/><Relationship Id="rId9" Type="http://schemas.openxmlformats.org/officeDocument/2006/relationships/hyperlink" Target="http://biology.stackexchange.com/questions/24368/henrietta-lacks-and-hela-cell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creativecommons.org/licenses/by-nc-nd/3.0/" TargetMode="External"/><Relationship Id="rId4" Type="http://schemas.openxmlformats.org/officeDocument/2006/relationships/hyperlink" Target="http://www.internetmonk.com/archive/imonk-classic-we-thought-he-was-such-a-nice-boy%E2%80%94and-then-we-found-out-he-didnt-believe-in-inerrancy"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hyperlink" Target="https://creativecommons.org/licenses/by-nc-nd/3.0/" TargetMode="External"/><Relationship Id="rId4" Type="http://schemas.openxmlformats.org/officeDocument/2006/relationships/hyperlink" Target="http://www.internetmonk.com/archive/imonk-classic-we-thought-he-was-such-a-nice-boy%E2%80%94and-then-we-found-out-he-didnt-believe-in-inerranc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derrubrik 1"/>
          <p:cNvSpPr>
            <a:spLocks noGrp="1"/>
          </p:cNvSpPr>
          <p:nvPr>
            <p:ph type="subTitle" idx="1"/>
          </p:nvPr>
        </p:nvSpPr>
        <p:spPr>
          <a:xfrm>
            <a:off x="1514474" y="2205285"/>
            <a:ext cx="7000876" cy="1655762"/>
          </a:xfrm>
        </p:spPr>
        <p:txBody>
          <a:bodyPr/>
          <a:lstStyle/>
          <a:p>
            <a:endParaRPr lang="en-US" dirty="0"/>
          </a:p>
          <a:p>
            <a:r>
              <a:rPr lang="en-US" dirty="0" smtClean="0"/>
              <a:t>Barbro Fröding, babbi@kth.se</a:t>
            </a:r>
            <a:endParaRPr lang="en-US" dirty="0"/>
          </a:p>
          <a:p>
            <a:r>
              <a:rPr lang="en-US" dirty="0"/>
              <a:t>Ethics of Medical Technology </a:t>
            </a:r>
            <a:r>
              <a:rPr lang="en-US" dirty="0" smtClean="0"/>
              <a:t>2024</a:t>
            </a:r>
            <a:endParaRPr lang="en-US" dirty="0"/>
          </a:p>
        </p:txBody>
      </p:sp>
      <p:sp>
        <p:nvSpPr>
          <p:cNvPr id="3" name="Rubrik 2"/>
          <p:cNvSpPr>
            <a:spLocks noGrp="1"/>
          </p:cNvSpPr>
          <p:nvPr>
            <p:ph type="title"/>
          </p:nvPr>
        </p:nvSpPr>
        <p:spPr>
          <a:xfrm>
            <a:off x="1514474" y="425956"/>
            <a:ext cx="6789267" cy="1655762"/>
          </a:xfrm>
        </p:spPr>
        <p:txBody>
          <a:bodyPr>
            <a:normAutofit fontScale="90000"/>
          </a:bodyPr>
          <a:lstStyle/>
          <a:p>
            <a:r>
              <a:rPr lang="en-US" dirty="0"/>
              <a:t/>
            </a:r>
            <a:br>
              <a:rPr lang="en-US" dirty="0"/>
            </a:br>
            <a:r>
              <a:rPr lang="en-US" dirty="0"/>
              <a:t>Ethics of medical technology</a:t>
            </a:r>
          </a:p>
        </p:txBody>
      </p:sp>
    </p:spTree>
    <p:extLst>
      <p:ext uri="{BB962C8B-B14F-4D97-AF65-F5344CB8AC3E}">
        <p14:creationId xmlns:p14="http://schemas.microsoft.com/office/powerpoint/2010/main" val="19925350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603122" y="728210"/>
            <a:ext cx="5937755" cy="1188720"/>
          </a:xfrm>
        </p:spPr>
        <p:txBody>
          <a:bodyPr/>
          <a:lstStyle/>
          <a:p>
            <a:r>
              <a:rPr lang="en-US" dirty="0"/>
              <a:t>Practical information</a:t>
            </a:r>
          </a:p>
        </p:txBody>
      </p:sp>
      <p:sp>
        <p:nvSpPr>
          <p:cNvPr id="3" name="Platshållare för innehåll 2"/>
          <p:cNvSpPr>
            <a:spLocks noGrp="1"/>
          </p:cNvSpPr>
          <p:nvPr>
            <p:ph idx="1"/>
          </p:nvPr>
        </p:nvSpPr>
        <p:spPr>
          <a:xfrm>
            <a:off x="408598" y="2291368"/>
            <a:ext cx="8326801" cy="3478372"/>
          </a:xfrm>
        </p:spPr>
        <p:txBody>
          <a:bodyPr>
            <a:normAutofit fontScale="92500"/>
          </a:bodyPr>
          <a:lstStyle/>
          <a:p>
            <a:pPr marL="0" indent="0">
              <a:buNone/>
            </a:pPr>
            <a:r>
              <a:rPr lang="en" b="1" dirty="0"/>
              <a:t>Learning goals:</a:t>
            </a:r>
          </a:p>
          <a:p>
            <a:pPr marL="0" indent="0">
              <a:buNone/>
            </a:pPr>
            <a:r>
              <a:rPr lang="en" dirty="0"/>
              <a:t>After taking this module </a:t>
            </a:r>
            <a:r>
              <a:rPr lang="en" dirty="0" smtClean="0"/>
              <a:t>you </a:t>
            </a:r>
            <a:r>
              <a:rPr lang="en" dirty="0"/>
              <a:t>should be familiar with the most common theories and methods of applied ethics and their relevance for medical technology. </a:t>
            </a:r>
            <a:r>
              <a:rPr lang="en" dirty="0" smtClean="0"/>
              <a:t>Further, you </a:t>
            </a:r>
            <a:r>
              <a:rPr lang="en" dirty="0"/>
              <a:t>should be able to conduct independent moral reflections on practical problems in the ethics of medical technology both verbally and in writing.</a:t>
            </a:r>
          </a:p>
          <a:p>
            <a:pPr marL="0" indent="0">
              <a:buNone/>
            </a:pPr>
            <a:endParaRPr lang="en" dirty="0"/>
          </a:p>
          <a:p>
            <a:pPr marL="0" indent="0">
              <a:buNone/>
            </a:pPr>
            <a:r>
              <a:rPr lang="en" b="1" dirty="0"/>
              <a:t>How to reach the goals:</a:t>
            </a:r>
          </a:p>
          <a:p>
            <a:r>
              <a:rPr lang="en" dirty="0"/>
              <a:t>Three lectures and two seminars (all are mandatory)</a:t>
            </a:r>
          </a:p>
          <a:p>
            <a:r>
              <a:rPr lang="en" dirty="0"/>
              <a:t>Home assignments (Canvas submissions with non-negotiable deadlines and requirements)</a:t>
            </a:r>
          </a:p>
          <a:p>
            <a:r>
              <a:rPr lang="en" dirty="0">
                <a:solidFill>
                  <a:schemeClr val="tx1"/>
                </a:solidFill>
              </a:rPr>
              <a:t>Final </a:t>
            </a:r>
            <a:r>
              <a:rPr lang="en" dirty="0" smtClean="0">
                <a:solidFill>
                  <a:schemeClr val="tx1"/>
                </a:solidFill>
              </a:rPr>
              <a:t>essay writing seminar (December </a:t>
            </a:r>
            <a:r>
              <a:rPr lang="en" dirty="0">
                <a:solidFill>
                  <a:schemeClr val="tx1"/>
                </a:solidFill>
              </a:rPr>
              <a:t>6</a:t>
            </a:r>
            <a:r>
              <a:rPr lang="en" baseline="30000" dirty="0" smtClean="0">
                <a:solidFill>
                  <a:schemeClr val="tx1"/>
                </a:solidFill>
              </a:rPr>
              <a:t>th</a:t>
            </a:r>
            <a:r>
              <a:rPr lang="en" dirty="0" smtClean="0">
                <a:solidFill>
                  <a:schemeClr val="tx1"/>
                </a:solidFill>
              </a:rPr>
              <a:t>, re-take in January)</a:t>
            </a:r>
            <a:endParaRPr lang="en" dirty="0">
              <a:solidFill>
                <a:schemeClr val="tx1"/>
              </a:solidFill>
            </a:endParaRPr>
          </a:p>
          <a:p>
            <a:endParaRPr lang="en" dirty="0"/>
          </a:p>
          <a:p>
            <a:endParaRPr lang="sv-SE" dirty="0"/>
          </a:p>
        </p:txBody>
      </p:sp>
    </p:spTree>
    <p:extLst>
      <p:ext uri="{BB962C8B-B14F-4D97-AF65-F5344CB8AC3E}">
        <p14:creationId xmlns:p14="http://schemas.microsoft.com/office/powerpoint/2010/main" val="1360276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BB30F4C-B06C-C84E-B412-4F4AC047BAD6}"/>
              </a:ext>
            </a:extLst>
          </p:cNvPr>
          <p:cNvSpPr>
            <a:spLocks noGrp="1"/>
          </p:cNvSpPr>
          <p:nvPr>
            <p:ph type="title"/>
          </p:nvPr>
        </p:nvSpPr>
        <p:spPr/>
        <p:txBody>
          <a:bodyPr/>
          <a:lstStyle/>
          <a:p>
            <a:r>
              <a:rPr lang="en-US" dirty="0"/>
              <a:t>Practical information</a:t>
            </a:r>
          </a:p>
        </p:txBody>
      </p:sp>
      <p:sp>
        <p:nvSpPr>
          <p:cNvPr id="3" name="Platshållare för innehåll 2">
            <a:extLst>
              <a:ext uri="{FF2B5EF4-FFF2-40B4-BE49-F238E27FC236}">
                <a16:creationId xmlns:a16="http://schemas.microsoft.com/office/drawing/2014/main" id="{B87E0804-F8CC-F149-A850-CF68056EF408}"/>
              </a:ext>
            </a:extLst>
          </p:cNvPr>
          <p:cNvSpPr>
            <a:spLocks noGrp="1"/>
          </p:cNvSpPr>
          <p:nvPr>
            <p:ph idx="1"/>
          </p:nvPr>
        </p:nvSpPr>
        <p:spPr>
          <a:xfrm>
            <a:off x="1606045" y="2507417"/>
            <a:ext cx="5937755" cy="3676407"/>
          </a:xfrm>
        </p:spPr>
        <p:txBody>
          <a:bodyPr>
            <a:normAutofit/>
          </a:bodyPr>
          <a:lstStyle/>
          <a:p>
            <a:pPr marL="0" indent="0">
              <a:buNone/>
            </a:pPr>
            <a:r>
              <a:rPr lang="en-US" b="1" dirty="0" smtClean="0"/>
              <a:t>Two seminar </a:t>
            </a:r>
            <a:r>
              <a:rPr lang="en-US" b="1" dirty="0"/>
              <a:t>g</a:t>
            </a:r>
            <a:r>
              <a:rPr lang="en-US" b="1" dirty="0" smtClean="0"/>
              <a:t>roups: </a:t>
            </a:r>
          </a:p>
          <a:p>
            <a:pPr marL="0" indent="0">
              <a:buNone/>
            </a:pPr>
            <a:endParaRPr lang="en-US" b="1" dirty="0" smtClean="0"/>
          </a:p>
          <a:p>
            <a:pPr marL="0" indent="0">
              <a:buNone/>
            </a:pPr>
            <a:r>
              <a:rPr lang="en-US" b="1" dirty="0" smtClean="0"/>
              <a:t>Group </a:t>
            </a:r>
            <a:r>
              <a:rPr lang="en-US" b="1" dirty="0"/>
              <a:t>1</a:t>
            </a:r>
            <a:r>
              <a:rPr lang="en-US" dirty="0"/>
              <a:t>  Me</a:t>
            </a:r>
            <a:br>
              <a:rPr lang="en-US" dirty="0"/>
            </a:br>
            <a:r>
              <a:rPr lang="en-US" b="1" dirty="0"/>
              <a:t>Group </a:t>
            </a:r>
            <a:r>
              <a:rPr lang="en-US" b="1" dirty="0" smtClean="0"/>
              <a:t>2  </a:t>
            </a:r>
            <a:r>
              <a:rPr lang="en-US" dirty="0" smtClean="0"/>
              <a:t>Martin </a:t>
            </a:r>
            <a:r>
              <a:rPr lang="en-US" dirty="0" err="1" smtClean="0"/>
              <a:t>Rissler</a:t>
            </a:r>
            <a:endParaRPr lang="en-US" dirty="0" smtClean="0"/>
          </a:p>
          <a:p>
            <a:pPr marL="0" indent="0">
              <a:buNone/>
            </a:pPr>
            <a:r>
              <a:rPr lang="en-US" dirty="0" smtClean="0"/>
              <a:t>Please </a:t>
            </a:r>
            <a:r>
              <a:rPr lang="en-US" dirty="0"/>
              <a:t>contact your seminar teacher(s) for practical questions about the seminars</a:t>
            </a:r>
            <a:r>
              <a:rPr lang="en-US" dirty="0" smtClean="0"/>
              <a:t>.</a:t>
            </a:r>
          </a:p>
          <a:p>
            <a:pPr marL="0" indent="0">
              <a:buNone/>
            </a:pPr>
            <a:endParaRPr lang="en-US" dirty="0"/>
          </a:p>
          <a:p>
            <a:pPr marL="0" indent="0">
              <a:buNone/>
            </a:pPr>
            <a:r>
              <a:rPr lang="en-US" dirty="0" smtClean="0"/>
              <a:t>Seminar 1 – on zoom, link on Canvas</a:t>
            </a:r>
          </a:p>
          <a:p>
            <a:pPr marL="0" indent="0">
              <a:buNone/>
            </a:pPr>
            <a:r>
              <a:rPr lang="en-US" dirty="0" smtClean="0"/>
              <a:t>Seminar 2 – on </a:t>
            </a:r>
            <a:r>
              <a:rPr lang="en-US" dirty="0"/>
              <a:t>zoom, link on Canvas</a:t>
            </a:r>
          </a:p>
          <a:p>
            <a:pPr marL="0" indent="0">
              <a:buNone/>
            </a:pPr>
            <a:endParaRPr lang="en-US" dirty="0"/>
          </a:p>
        </p:txBody>
      </p:sp>
    </p:spTree>
    <p:extLst>
      <p:ext uri="{BB962C8B-B14F-4D97-AF65-F5344CB8AC3E}">
        <p14:creationId xmlns:p14="http://schemas.microsoft.com/office/powerpoint/2010/main" val="1401566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51CB16B-B44F-9A46-8AB5-EC1BA0460132}"/>
              </a:ext>
            </a:extLst>
          </p:cNvPr>
          <p:cNvSpPr>
            <a:spLocks noGrp="1"/>
          </p:cNvSpPr>
          <p:nvPr>
            <p:ph type="title"/>
          </p:nvPr>
        </p:nvSpPr>
        <p:spPr>
          <a:xfrm>
            <a:off x="2038551" y="757863"/>
            <a:ext cx="5066898" cy="679051"/>
          </a:xfrm>
        </p:spPr>
        <p:txBody>
          <a:bodyPr>
            <a:normAutofit fontScale="90000"/>
          </a:bodyPr>
          <a:lstStyle/>
          <a:p>
            <a:r>
              <a:rPr lang="en-US" dirty="0"/>
              <a:t>Important points</a:t>
            </a:r>
          </a:p>
        </p:txBody>
      </p:sp>
      <p:sp>
        <p:nvSpPr>
          <p:cNvPr id="3" name="Platshållare för innehåll 2">
            <a:extLst>
              <a:ext uri="{FF2B5EF4-FFF2-40B4-BE49-F238E27FC236}">
                <a16:creationId xmlns:a16="http://schemas.microsoft.com/office/drawing/2014/main" id="{7392D5C3-DAA6-B94D-8A1C-71379AC343AF}"/>
              </a:ext>
            </a:extLst>
          </p:cNvPr>
          <p:cNvSpPr>
            <a:spLocks noGrp="1"/>
          </p:cNvSpPr>
          <p:nvPr>
            <p:ph idx="1"/>
          </p:nvPr>
        </p:nvSpPr>
        <p:spPr>
          <a:xfrm>
            <a:off x="632580" y="1921933"/>
            <a:ext cx="8175172" cy="4441371"/>
          </a:xfrm>
        </p:spPr>
        <p:txBody>
          <a:bodyPr>
            <a:normAutofit fontScale="92500" lnSpcReduction="10000"/>
          </a:bodyPr>
          <a:lstStyle/>
          <a:p>
            <a:r>
              <a:rPr lang="en-US" dirty="0"/>
              <a:t>Carefully read through the entire Canvas page</a:t>
            </a:r>
          </a:p>
          <a:p>
            <a:r>
              <a:rPr lang="en-US" dirty="0" smtClean="0"/>
              <a:t>All </a:t>
            </a:r>
            <a:r>
              <a:rPr lang="en-US" dirty="0"/>
              <a:t>submissions </a:t>
            </a:r>
            <a:r>
              <a:rPr lang="en-US" dirty="0" smtClean="0"/>
              <a:t>of the assignments should </a:t>
            </a:r>
            <a:r>
              <a:rPr lang="en-US" dirty="0"/>
              <a:t>be made through Canvas</a:t>
            </a:r>
          </a:p>
          <a:p>
            <a:pPr lvl="1"/>
            <a:r>
              <a:rPr lang="en-US" dirty="0"/>
              <a:t>Submission forms for home assignments close at the start of each session</a:t>
            </a:r>
          </a:p>
          <a:p>
            <a:pPr lvl="1"/>
            <a:r>
              <a:rPr lang="en-US" dirty="0"/>
              <a:t>Submission forms for compensation assignments open at the end of each session and close </a:t>
            </a:r>
            <a:r>
              <a:rPr lang="en-US" dirty="0">
                <a:solidFill>
                  <a:schemeClr val="tx1"/>
                </a:solidFill>
              </a:rPr>
              <a:t>i</a:t>
            </a:r>
            <a:r>
              <a:rPr lang="en-US" dirty="0" smtClean="0">
                <a:solidFill>
                  <a:schemeClr val="tx1"/>
                </a:solidFill>
              </a:rPr>
              <a:t>n January </a:t>
            </a:r>
            <a:endParaRPr lang="en-US" dirty="0">
              <a:solidFill>
                <a:schemeClr val="tx1"/>
              </a:solidFill>
            </a:endParaRPr>
          </a:p>
          <a:p>
            <a:pPr marL="228600" lvl="1" indent="0">
              <a:buNone/>
            </a:pPr>
            <a:endParaRPr lang="en-US" dirty="0"/>
          </a:p>
          <a:p>
            <a:r>
              <a:rPr lang="en-US" dirty="0" smtClean="0">
                <a:solidFill>
                  <a:schemeClr val="tx1"/>
                </a:solidFill>
              </a:rPr>
              <a:t>The </a:t>
            </a:r>
            <a:r>
              <a:rPr lang="en-US" dirty="0">
                <a:solidFill>
                  <a:schemeClr val="tx1"/>
                </a:solidFill>
              </a:rPr>
              <a:t>final essay writing </a:t>
            </a:r>
            <a:r>
              <a:rPr lang="en-US" dirty="0" smtClean="0">
                <a:solidFill>
                  <a:schemeClr val="tx1"/>
                </a:solidFill>
              </a:rPr>
              <a:t>session </a:t>
            </a:r>
            <a:r>
              <a:rPr lang="en-US" dirty="0">
                <a:solidFill>
                  <a:schemeClr val="tx1"/>
                </a:solidFill>
              </a:rPr>
              <a:t>will take place </a:t>
            </a:r>
            <a:r>
              <a:rPr lang="en-US">
                <a:solidFill>
                  <a:schemeClr val="tx1"/>
                </a:solidFill>
              </a:rPr>
              <a:t>in </a:t>
            </a:r>
            <a:r>
              <a:rPr lang="en-US" smtClean="0"/>
              <a:t>Room</a:t>
            </a:r>
            <a:r>
              <a:rPr lang="en-US" dirty="0"/>
              <a:t>: K1 on the KTH Campus Date: 6th of December, 2024, Time</a:t>
            </a:r>
            <a:r>
              <a:rPr lang="en-US"/>
              <a:t>; </a:t>
            </a:r>
            <a:r>
              <a:rPr lang="en-US" smtClean="0"/>
              <a:t>13:00-17:00.</a:t>
            </a:r>
            <a:endParaRPr lang="en-US" dirty="0" smtClean="0"/>
          </a:p>
          <a:p>
            <a:r>
              <a:rPr lang="en-US" dirty="0" smtClean="0">
                <a:solidFill>
                  <a:schemeClr val="tx1"/>
                </a:solidFill>
              </a:rPr>
              <a:t>There will be a re-take in January (dates will be posted shortly) </a:t>
            </a:r>
          </a:p>
          <a:p>
            <a:pPr lvl="1"/>
            <a:r>
              <a:rPr lang="en-US" dirty="0" smtClean="0">
                <a:solidFill>
                  <a:schemeClr val="tx1"/>
                </a:solidFill>
              </a:rPr>
              <a:t>Each </a:t>
            </a:r>
            <a:r>
              <a:rPr lang="en-US" dirty="0">
                <a:solidFill>
                  <a:schemeClr val="tx1"/>
                </a:solidFill>
              </a:rPr>
              <a:t>student will write </a:t>
            </a:r>
            <a:r>
              <a:rPr lang="en-US" dirty="0" smtClean="0">
                <a:solidFill>
                  <a:schemeClr val="tx1"/>
                </a:solidFill>
              </a:rPr>
              <a:t>two short </a:t>
            </a:r>
            <a:r>
              <a:rPr lang="en-US" dirty="0">
                <a:solidFill>
                  <a:schemeClr val="tx1"/>
                </a:solidFill>
              </a:rPr>
              <a:t>essays on different problems in the ethics of medical </a:t>
            </a:r>
            <a:r>
              <a:rPr lang="en-US" dirty="0" smtClean="0">
                <a:solidFill>
                  <a:schemeClr val="tx1"/>
                </a:solidFill>
              </a:rPr>
              <a:t>technology, </a:t>
            </a:r>
            <a:r>
              <a:rPr lang="en-US" dirty="0">
                <a:solidFill>
                  <a:schemeClr val="tx1"/>
                </a:solidFill>
              </a:rPr>
              <a:t>e</a:t>
            </a:r>
            <a:r>
              <a:rPr lang="en-US" dirty="0" smtClean="0">
                <a:solidFill>
                  <a:schemeClr val="tx1"/>
                </a:solidFill>
              </a:rPr>
              <a:t>ach </a:t>
            </a:r>
            <a:r>
              <a:rPr lang="en-US" dirty="0">
                <a:solidFill>
                  <a:schemeClr val="tx1"/>
                </a:solidFill>
              </a:rPr>
              <a:t>answer should be 400-600 </a:t>
            </a:r>
            <a:r>
              <a:rPr lang="en-US" dirty="0" smtClean="0">
                <a:solidFill>
                  <a:schemeClr val="tx1"/>
                </a:solidFill>
              </a:rPr>
              <a:t>words</a:t>
            </a:r>
          </a:p>
          <a:p>
            <a:pPr lvl="1"/>
            <a:r>
              <a:rPr lang="en-US" dirty="0" smtClean="0">
                <a:solidFill>
                  <a:schemeClr val="tx1"/>
                </a:solidFill>
              </a:rPr>
              <a:t>You are not allowed a computer or books etc. in the exam. </a:t>
            </a:r>
          </a:p>
          <a:p>
            <a:pPr lvl="2"/>
            <a:r>
              <a:rPr lang="en-US" dirty="0" smtClean="0">
                <a:solidFill>
                  <a:schemeClr val="tx1"/>
                </a:solidFill>
              </a:rPr>
              <a:t>Read </a:t>
            </a:r>
            <a:r>
              <a:rPr lang="en-US" dirty="0">
                <a:solidFill>
                  <a:schemeClr val="tx1"/>
                </a:solidFill>
              </a:rPr>
              <a:t>the example </a:t>
            </a:r>
            <a:r>
              <a:rPr lang="en-US" dirty="0" smtClean="0">
                <a:solidFill>
                  <a:schemeClr val="tx1"/>
                </a:solidFill>
              </a:rPr>
              <a:t>essays on Canvas for inspiration but note that the ones you are supposed to write will be much shorter.</a:t>
            </a:r>
            <a:endParaRPr lang="en-US" dirty="0">
              <a:solidFill>
                <a:schemeClr val="tx1"/>
              </a:solidFill>
            </a:endParaRPr>
          </a:p>
        </p:txBody>
      </p:sp>
    </p:spTree>
    <p:extLst>
      <p:ext uri="{BB962C8B-B14F-4D97-AF65-F5344CB8AC3E}">
        <p14:creationId xmlns:p14="http://schemas.microsoft.com/office/powerpoint/2010/main" val="1171720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p:cNvSpPr>
            <a:spLocks noGrp="1"/>
          </p:cNvSpPr>
          <p:nvPr>
            <p:ph type="title"/>
          </p:nvPr>
        </p:nvSpPr>
        <p:spPr>
          <a:xfrm>
            <a:off x="1343992" y="2601119"/>
            <a:ext cx="6789267" cy="1655762"/>
          </a:xfrm>
        </p:spPr>
        <p:txBody>
          <a:bodyPr>
            <a:normAutofit fontScale="90000"/>
          </a:bodyPr>
          <a:lstStyle/>
          <a:p>
            <a:r>
              <a:rPr lang="en-US" dirty="0"/>
              <a:t/>
            </a:r>
            <a:br>
              <a:rPr lang="en-US" dirty="0"/>
            </a:br>
            <a:r>
              <a:rPr lang="en-US" dirty="0"/>
              <a:t>lecture 1. Aim and method of applied ethics </a:t>
            </a:r>
          </a:p>
        </p:txBody>
      </p:sp>
    </p:spTree>
    <p:extLst>
      <p:ext uri="{BB962C8B-B14F-4D97-AF65-F5344CB8AC3E}">
        <p14:creationId xmlns:p14="http://schemas.microsoft.com/office/powerpoint/2010/main" val="6181706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1D8261-8857-194D-9449-FED5F6E35B54}"/>
              </a:ext>
            </a:extLst>
          </p:cNvPr>
          <p:cNvSpPr txBox="1"/>
          <p:nvPr/>
        </p:nvSpPr>
        <p:spPr>
          <a:xfrm>
            <a:off x="762000" y="6312980"/>
            <a:ext cx="3050583" cy="230832"/>
          </a:xfrm>
          <a:prstGeom prst="rect">
            <a:avLst/>
          </a:prstGeom>
          <a:noFill/>
        </p:spPr>
        <p:txBody>
          <a:bodyPr wrap="square" rtlCol="0">
            <a:spAutoFit/>
          </a:bodyPr>
          <a:lstStyle/>
          <a:p>
            <a:r>
              <a:rPr lang="en-GB" sz="900">
                <a:hlinkClick r:id="rId2" tooltip="https://en.wikipedia.org/wiki/Tuskegee_syphilis_experiment"/>
              </a:rPr>
              <a:t>This Photo</a:t>
            </a:r>
            <a:r>
              <a:rPr lang="en-GB" sz="900"/>
              <a:t> by Unknown Author is licensed under </a:t>
            </a:r>
            <a:r>
              <a:rPr lang="en-GB" sz="900">
                <a:hlinkClick r:id="rId3" tooltip="https://creativecommons.org/licenses/by-sa/3.0/"/>
              </a:rPr>
              <a:t>CC BY-SA</a:t>
            </a:r>
            <a:endParaRPr lang="en-GB" sz="900"/>
          </a:p>
        </p:txBody>
      </p:sp>
      <p:pic>
        <p:nvPicPr>
          <p:cNvPr id="6" name="Picture 5">
            <a:extLst>
              <a:ext uri="{FF2B5EF4-FFF2-40B4-BE49-F238E27FC236}">
                <a16:creationId xmlns:a16="http://schemas.microsoft.com/office/drawing/2014/main" id="{DA7423E6-A25B-0A4F-8AB6-38DC36258476}"/>
              </a:ext>
            </a:extLst>
          </p:cNvPr>
          <p:cNvPicPr>
            <a:picLocks noChangeAspect="1"/>
          </p:cNvPicPr>
          <p:nvPr/>
        </p:nvPicPr>
        <p:blipFill>
          <a:blip r:embed="rId4">
            <a:extLst>
              <a:ext uri="{837473B0-CC2E-450A-ABE3-18F120FF3D39}">
                <a1611:picAttrSrcUrl xmlns="" xmlns:a1611="http://schemas.microsoft.com/office/drawing/2016/11/main" r:id="rId6"/>
              </a:ext>
            </a:extLst>
          </a:blip>
          <a:stretch>
            <a:fillRect/>
          </a:stretch>
        </p:blipFill>
        <p:spPr>
          <a:xfrm>
            <a:off x="2263370" y="3265127"/>
            <a:ext cx="3998563" cy="2943387"/>
          </a:xfrm>
          <a:prstGeom prst="rect">
            <a:avLst/>
          </a:prstGeom>
        </p:spPr>
      </p:pic>
      <p:sp>
        <p:nvSpPr>
          <p:cNvPr id="7" name="TextBox 6">
            <a:extLst>
              <a:ext uri="{FF2B5EF4-FFF2-40B4-BE49-F238E27FC236}">
                <a16:creationId xmlns:a16="http://schemas.microsoft.com/office/drawing/2014/main" id="{43915B67-20A3-7C4B-B138-F40656ABFBDD}"/>
              </a:ext>
            </a:extLst>
          </p:cNvPr>
          <p:cNvSpPr txBox="1"/>
          <p:nvPr/>
        </p:nvSpPr>
        <p:spPr>
          <a:xfrm>
            <a:off x="4572000" y="6395279"/>
            <a:ext cx="3998563" cy="230832"/>
          </a:xfrm>
          <a:prstGeom prst="rect">
            <a:avLst/>
          </a:prstGeom>
          <a:noFill/>
        </p:spPr>
        <p:txBody>
          <a:bodyPr wrap="square" rtlCol="0">
            <a:spAutoFit/>
          </a:bodyPr>
          <a:lstStyle/>
          <a:p>
            <a:r>
              <a:rPr lang="en-GB" sz="900">
                <a:hlinkClick r:id="rId6" tooltip="http://www.conversationx.com/2015/12/01/on-science-and-racial-violence/"/>
              </a:rPr>
              <a:t>This Photo</a:t>
            </a:r>
            <a:r>
              <a:rPr lang="en-GB" sz="900"/>
              <a:t> by Unknown Author is licensed under </a:t>
            </a:r>
            <a:r>
              <a:rPr lang="en-GB" sz="900">
                <a:hlinkClick r:id="rId7" tooltip="https://creativecommons.org/licenses/by-nc-nd/3.0/"/>
              </a:rPr>
              <a:t>CC BY-NC-ND</a:t>
            </a:r>
            <a:endParaRPr lang="en-GB" sz="900"/>
          </a:p>
        </p:txBody>
      </p:sp>
      <p:pic>
        <p:nvPicPr>
          <p:cNvPr id="9" name="Picture 8">
            <a:extLst>
              <a:ext uri="{FF2B5EF4-FFF2-40B4-BE49-F238E27FC236}">
                <a16:creationId xmlns:a16="http://schemas.microsoft.com/office/drawing/2014/main" id="{10BCD79F-41ED-CA46-86F5-3117B067EE07}"/>
              </a:ext>
            </a:extLst>
          </p:cNvPr>
          <p:cNvPicPr>
            <a:picLocks noChangeAspect="1"/>
          </p:cNvPicPr>
          <p:nvPr/>
        </p:nvPicPr>
        <p:blipFill>
          <a:blip r:embed="rId8">
            <a:extLst>
              <a:ext uri="{837473B0-CC2E-450A-ABE3-18F120FF3D39}">
                <a1611:picAttrSrcUrl xmlns="" xmlns:a1611="http://schemas.microsoft.com/office/drawing/2016/11/main" r:id="rId9"/>
              </a:ext>
            </a:extLst>
          </a:blip>
          <a:stretch>
            <a:fillRect/>
          </a:stretch>
        </p:blipFill>
        <p:spPr>
          <a:xfrm>
            <a:off x="2825440" y="1011784"/>
            <a:ext cx="3367965" cy="1905006"/>
          </a:xfrm>
          <a:prstGeom prst="rect">
            <a:avLst/>
          </a:prstGeom>
        </p:spPr>
      </p:pic>
      <p:pic>
        <p:nvPicPr>
          <p:cNvPr id="12" name="Picture 11">
            <a:extLst>
              <a:ext uri="{FF2B5EF4-FFF2-40B4-BE49-F238E27FC236}">
                <a16:creationId xmlns:a16="http://schemas.microsoft.com/office/drawing/2014/main" id="{2DC8F78A-8627-9B40-93CD-6DCAC064C4C2}"/>
              </a:ext>
            </a:extLst>
          </p:cNvPr>
          <p:cNvPicPr>
            <a:picLocks noChangeAspect="1"/>
          </p:cNvPicPr>
          <p:nvPr/>
        </p:nvPicPr>
        <p:blipFill>
          <a:blip r:embed="rId10">
            <a:extLst>
              <a:ext uri="{837473B0-CC2E-450A-ABE3-18F120FF3D39}">
                <a1611:picAttrSrcUrl xmlns="" xmlns:a1611="http://schemas.microsoft.com/office/drawing/2016/11/main" r:id="rId11"/>
              </a:ext>
            </a:extLst>
          </a:blip>
          <a:stretch>
            <a:fillRect/>
          </a:stretch>
        </p:blipFill>
        <p:spPr>
          <a:xfrm>
            <a:off x="6330462" y="680643"/>
            <a:ext cx="2536450" cy="3898617"/>
          </a:xfrm>
          <a:prstGeom prst="rect">
            <a:avLst/>
          </a:prstGeom>
        </p:spPr>
      </p:pic>
      <p:pic>
        <p:nvPicPr>
          <p:cNvPr id="2" name="Picture 1"/>
          <p:cNvPicPr>
            <a:picLocks noChangeAspect="1"/>
          </p:cNvPicPr>
          <p:nvPr/>
        </p:nvPicPr>
        <p:blipFill>
          <a:blip r:embed="rId12"/>
          <a:stretch>
            <a:fillRect/>
          </a:stretch>
        </p:blipFill>
        <p:spPr>
          <a:xfrm>
            <a:off x="440215" y="227587"/>
            <a:ext cx="2308480" cy="2792656"/>
          </a:xfrm>
          <a:prstGeom prst="rect">
            <a:avLst/>
          </a:prstGeom>
        </p:spPr>
      </p:pic>
    </p:spTree>
    <p:extLst>
      <p:ext uri="{BB962C8B-B14F-4D97-AF65-F5344CB8AC3E}">
        <p14:creationId xmlns:p14="http://schemas.microsoft.com/office/powerpoint/2010/main" val="1787098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4B5DA4-72C8-EF46-BE90-3C480B564EEA}"/>
              </a:ext>
            </a:extLst>
          </p:cNvPr>
          <p:cNvSpPr txBox="1"/>
          <p:nvPr/>
        </p:nvSpPr>
        <p:spPr>
          <a:xfrm>
            <a:off x="2319453" y="1081668"/>
            <a:ext cx="5486401" cy="6247864"/>
          </a:xfrm>
          <a:prstGeom prst="rect">
            <a:avLst/>
          </a:prstGeom>
          <a:noFill/>
        </p:spPr>
        <p:txBody>
          <a:bodyPr wrap="square" rtlCol="0">
            <a:spAutoFit/>
          </a:bodyPr>
          <a:lstStyle/>
          <a:p>
            <a:r>
              <a:rPr lang="en-GB" sz="2800" dirty="0"/>
              <a:t>Lecture 1:  </a:t>
            </a:r>
            <a:r>
              <a:rPr lang="en-GB" sz="2800" dirty="0" smtClean="0"/>
              <a:t>Aim </a:t>
            </a:r>
            <a:r>
              <a:rPr lang="en-GB" sz="2800" dirty="0"/>
              <a:t>and </a:t>
            </a:r>
          </a:p>
          <a:p>
            <a:r>
              <a:rPr lang="en-GB" sz="2800" dirty="0" smtClean="0"/>
              <a:t>methods </a:t>
            </a:r>
            <a:r>
              <a:rPr lang="en-GB" sz="2800" dirty="0"/>
              <a:t>of applied ethics</a:t>
            </a:r>
          </a:p>
          <a:p>
            <a:pPr marL="457200" indent="-457200">
              <a:buFont typeface="Arial" panose="020B0604020202020204" pitchFamily="34" charset="0"/>
              <a:buChar char="•"/>
            </a:pPr>
            <a:r>
              <a:rPr lang="en-US" sz="2000" dirty="0"/>
              <a:t>What is applied ethics?</a:t>
            </a:r>
          </a:p>
          <a:p>
            <a:pPr marL="457200" indent="-457200">
              <a:buFont typeface="Arial" panose="020B0604020202020204" pitchFamily="34" charset="0"/>
              <a:buChar char="•"/>
            </a:pPr>
            <a:r>
              <a:rPr lang="en-US" sz="2000" dirty="0"/>
              <a:t>Justification and methods in applied ethics</a:t>
            </a:r>
          </a:p>
          <a:p>
            <a:pPr marL="457200" indent="-457200">
              <a:buFont typeface="Arial" panose="020B0604020202020204" pitchFamily="34" charset="0"/>
              <a:buChar char="•"/>
            </a:pPr>
            <a:r>
              <a:rPr lang="en-US" sz="2000" dirty="0" err="1" smtClean="0"/>
              <a:t>Principlism</a:t>
            </a:r>
            <a:endParaRPr lang="en-US" sz="2000" dirty="0"/>
          </a:p>
          <a:p>
            <a:endParaRPr lang="en-GB" sz="2800" dirty="0"/>
          </a:p>
          <a:p>
            <a:r>
              <a:rPr lang="en-GB" sz="2800" dirty="0"/>
              <a:t>Lecture 2: Paternalism in medical technologies</a:t>
            </a:r>
          </a:p>
          <a:p>
            <a:endParaRPr lang="en-GB" sz="2800" dirty="0"/>
          </a:p>
          <a:p>
            <a:r>
              <a:rPr lang="en-GB" sz="2800" dirty="0"/>
              <a:t>Lecture 3: Bias and algorithms</a:t>
            </a:r>
          </a:p>
          <a:p>
            <a:endParaRPr lang="en-GB" sz="3600" dirty="0"/>
          </a:p>
          <a:p>
            <a:r>
              <a:rPr lang="en-GB" sz="3600" dirty="0"/>
              <a:t/>
            </a:r>
            <a:br>
              <a:rPr lang="en-GB" sz="3600" dirty="0"/>
            </a:br>
            <a:endParaRPr lang="en-GB" sz="3600" dirty="0"/>
          </a:p>
          <a:p>
            <a:endParaRPr lang="en-GB" sz="3600" dirty="0"/>
          </a:p>
        </p:txBody>
      </p:sp>
      <p:sp>
        <p:nvSpPr>
          <p:cNvPr id="3" name="Right Brace 2">
            <a:extLst>
              <a:ext uri="{FF2B5EF4-FFF2-40B4-BE49-F238E27FC236}">
                <a16:creationId xmlns:a16="http://schemas.microsoft.com/office/drawing/2014/main" id="{5ACEC075-AD79-634F-A876-D7441E0850BA}"/>
              </a:ext>
            </a:extLst>
          </p:cNvPr>
          <p:cNvSpPr/>
          <p:nvPr/>
        </p:nvSpPr>
        <p:spPr>
          <a:xfrm>
            <a:off x="7091317" y="1037493"/>
            <a:ext cx="669074" cy="3199970"/>
          </a:xfrm>
          <a:prstGeom prst="rightBrace">
            <a:avLst>
              <a:gd name="adj1" fmla="val 8333"/>
              <a:gd name="adj2" fmla="val 51449"/>
            </a:avLst>
          </a:prstGeom>
          <a:ln w="762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 name="Left Brace 3">
            <a:extLst>
              <a:ext uri="{FF2B5EF4-FFF2-40B4-BE49-F238E27FC236}">
                <a16:creationId xmlns:a16="http://schemas.microsoft.com/office/drawing/2014/main" id="{27347D91-8D10-1844-9D59-95282B7D4F6B}"/>
              </a:ext>
            </a:extLst>
          </p:cNvPr>
          <p:cNvSpPr/>
          <p:nvPr/>
        </p:nvSpPr>
        <p:spPr>
          <a:xfrm>
            <a:off x="1843528" y="4237463"/>
            <a:ext cx="489367" cy="1383752"/>
          </a:xfrm>
          <a:prstGeom prst="leftBrace">
            <a:avLst/>
          </a:prstGeom>
          <a:ln w="571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 name="TextBox 4">
            <a:extLst>
              <a:ext uri="{FF2B5EF4-FFF2-40B4-BE49-F238E27FC236}">
                <a16:creationId xmlns:a16="http://schemas.microsoft.com/office/drawing/2014/main" id="{D8DA1CB6-7B08-984B-B07B-D4923D238555}"/>
              </a:ext>
            </a:extLst>
          </p:cNvPr>
          <p:cNvSpPr txBox="1"/>
          <p:nvPr/>
        </p:nvSpPr>
        <p:spPr>
          <a:xfrm>
            <a:off x="7801002" y="2005792"/>
            <a:ext cx="1282390" cy="1200329"/>
          </a:xfrm>
          <a:prstGeom prst="rect">
            <a:avLst/>
          </a:prstGeom>
          <a:noFill/>
        </p:spPr>
        <p:txBody>
          <a:bodyPr wrap="square" rtlCol="0">
            <a:spAutoFit/>
          </a:bodyPr>
          <a:lstStyle/>
          <a:p>
            <a:r>
              <a:rPr lang="en-GB" dirty="0"/>
              <a:t>How to justify normative claims</a:t>
            </a:r>
          </a:p>
        </p:txBody>
      </p:sp>
      <p:sp>
        <p:nvSpPr>
          <p:cNvPr id="6" name="TextBox 5">
            <a:extLst>
              <a:ext uri="{FF2B5EF4-FFF2-40B4-BE49-F238E27FC236}">
                <a16:creationId xmlns:a16="http://schemas.microsoft.com/office/drawing/2014/main" id="{CAAA3105-FAC2-2847-9E0F-92CF11BCACA6}"/>
              </a:ext>
            </a:extLst>
          </p:cNvPr>
          <p:cNvSpPr txBox="1"/>
          <p:nvPr/>
        </p:nvSpPr>
        <p:spPr>
          <a:xfrm>
            <a:off x="482290" y="4237463"/>
            <a:ext cx="1377176" cy="1477328"/>
          </a:xfrm>
          <a:prstGeom prst="rect">
            <a:avLst/>
          </a:prstGeom>
          <a:noFill/>
        </p:spPr>
        <p:txBody>
          <a:bodyPr wrap="square" rtlCol="0">
            <a:spAutoFit/>
          </a:bodyPr>
          <a:lstStyle/>
          <a:p>
            <a:r>
              <a:rPr lang="en-GB" dirty="0"/>
              <a:t>Helping the developer to be more mindful about ethics </a:t>
            </a:r>
          </a:p>
        </p:txBody>
      </p:sp>
    </p:spTree>
    <p:extLst>
      <p:ext uri="{BB962C8B-B14F-4D97-AF65-F5344CB8AC3E}">
        <p14:creationId xmlns:p14="http://schemas.microsoft.com/office/powerpoint/2010/main" val="2161320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3708B67-23EE-694F-9C30-ACF0569296F0}"/>
              </a:ext>
            </a:extLst>
          </p:cNvPr>
          <p:cNvSpPr>
            <a:spLocks noGrp="1"/>
          </p:cNvSpPr>
          <p:nvPr>
            <p:ph type="title"/>
          </p:nvPr>
        </p:nvSpPr>
        <p:spPr>
          <a:xfrm>
            <a:off x="1443485" y="1005332"/>
            <a:ext cx="5937755" cy="1188720"/>
          </a:xfrm>
        </p:spPr>
        <p:txBody>
          <a:bodyPr/>
          <a:lstStyle/>
          <a:p>
            <a:r>
              <a:rPr lang="en-US" dirty="0"/>
              <a:t>Smith and the exoskeleton</a:t>
            </a:r>
          </a:p>
        </p:txBody>
      </p:sp>
      <p:sp>
        <p:nvSpPr>
          <p:cNvPr id="3" name="Platshållare för innehåll 2">
            <a:extLst>
              <a:ext uri="{FF2B5EF4-FFF2-40B4-BE49-F238E27FC236}">
                <a16:creationId xmlns:a16="http://schemas.microsoft.com/office/drawing/2014/main" id="{67C00D19-CAC1-3E46-88C7-16FA131805D3}"/>
              </a:ext>
            </a:extLst>
          </p:cNvPr>
          <p:cNvSpPr>
            <a:spLocks noGrp="1"/>
          </p:cNvSpPr>
          <p:nvPr>
            <p:ph idx="1"/>
          </p:nvPr>
        </p:nvSpPr>
        <p:spPr>
          <a:xfrm>
            <a:off x="569725" y="2638045"/>
            <a:ext cx="4916675" cy="3437635"/>
          </a:xfrm>
        </p:spPr>
        <p:txBody>
          <a:bodyPr>
            <a:normAutofit lnSpcReduction="10000"/>
          </a:bodyPr>
          <a:lstStyle/>
          <a:p>
            <a:pPr marL="0" indent="0">
              <a:buNone/>
            </a:pPr>
            <a:r>
              <a:rPr lang="en-US" dirty="0"/>
              <a:t>Smith is 95 years old. She has a limited understanding of the world around her and cannot move much without the help of her caretakers.  A new technological device, a so-called exoskeleton, could increase her autonomy as it would enable her to move around her apartment without help. However, such autonomy would also enable her to, e.g., leave her building and wander off and do things that may not be good for her. </a:t>
            </a:r>
            <a:r>
              <a:rPr lang="en-US" dirty="0" smtClean="0"/>
              <a:t>She might have an accident or get lost.</a:t>
            </a:r>
          </a:p>
          <a:p>
            <a:pPr>
              <a:buFont typeface="Wingdings" panose="05000000000000000000" pitchFamily="2" charset="2"/>
              <a:buChar char="Ø"/>
            </a:pPr>
            <a:r>
              <a:rPr lang="en-US" b="1" dirty="0" smtClean="0"/>
              <a:t>Should </a:t>
            </a:r>
            <a:r>
              <a:rPr lang="en-US" b="1" dirty="0"/>
              <a:t>Smith be provided with an exoskeleton?</a:t>
            </a:r>
          </a:p>
        </p:txBody>
      </p:sp>
      <p:pic>
        <p:nvPicPr>
          <p:cNvPr id="5" name="Bildobjekt 4">
            <a:extLst>
              <a:ext uri="{FF2B5EF4-FFF2-40B4-BE49-F238E27FC236}">
                <a16:creationId xmlns:a16="http://schemas.microsoft.com/office/drawing/2014/main" id="{9FFA8816-FD37-B54F-9CD2-336818E5358C}"/>
              </a:ext>
            </a:extLst>
          </p:cNvPr>
          <p:cNvPicPr>
            <a:picLocks noChangeAspect="1"/>
          </p:cNvPicPr>
          <p:nvPr/>
        </p:nvPicPr>
        <p:blipFill>
          <a:blip r:embed="rId3"/>
          <a:stretch>
            <a:fillRect/>
          </a:stretch>
        </p:blipFill>
        <p:spPr>
          <a:xfrm>
            <a:off x="5872746" y="4500562"/>
            <a:ext cx="3016987" cy="1772870"/>
          </a:xfrm>
          <a:prstGeom prst="rect">
            <a:avLst/>
          </a:prstGeom>
        </p:spPr>
      </p:pic>
      <p:sp>
        <p:nvSpPr>
          <p:cNvPr id="7" name="TextBox 6">
            <a:extLst>
              <a:ext uri="{FF2B5EF4-FFF2-40B4-BE49-F238E27FC236}">
                <a16:creationId xmlns:a16="http://schemas.microsoft.com/office/drawing/2014/main" id="{EACA4329-0B6B-AA4B-85F6-0D6E8D667ACB}"/>
              </a:ext>
            </a:extLst>
          </p:cNvPr>
          <p:cNvSpPr txBox="1"/>
          <p:nvPr/>
        </p:nvSpPr>
        <p:spPr>
          <a:xfrm>
            <a:off x="6866623" y="6419106"/>
            <a:ext cx="2012950" cy="307777"/>
          </a:xfrm>
          <a:prstGeom prst="rect">
            <a:avLst/>
          </a:prstGeom>
          <a:noFill/>
        </p:spPr>
        <p:txBody>
          <a:bodyPr wrap="square" rtlCol="0">
            <a:spAutoFit/>
          </a:bodyPr>
          <a:lstStyle/>
          <a:p>
            <a:r>
              <a:rPr lang="en-GB" sz="700" dirty="0">
                <a:hlinkClick r:id="rId4" tooltip="http://www.internetmonk.com/archive/imonk-classic-we-thought-he-was-such-a-nice-boy%E2%80%94and-then-we-found-out-he-didnt-believe-in-inerrancy"/>
              </a:rPr>
              <a:t>This Photo</a:t>
            </a:r>
            <a:r>
              <a:rPr lang="en-GB" sz="700" dirty="0"/>
              <a:t> by Unknown Author is licensed under </a:t>
            </a:r>
            <a:r>
              <a:rPr lang="en-GB" sz="700" dirty="0">
                <a:hlinkClick r:id="rId5" tooltip="https://creativecommons.org/licenses/by-nc-nd/3.0/"/>
              </a:rPr>
              <a:t>CC BY-NC-ND</a:t>
            </a:r>
            <a:endParaRPr lang="en-GB" sz="700" dirty="0"/>
          </a:p>
        </p:txBody>
      </p:sp>
      <p:pic>
        <p:nvPicPr>
          <p:cNvPr id="4" name="Picture 3"/>
          <p:cNvPicPr>
            <a:picLocks noChangeAspect="1"/>
          </p:cNvPicPr>
          <p:nvPr/>
        </p:nvPicPr>
        <p:blipFill>
          <a:blip r:embed="rId6"/>
          <a:stretch>
            <a:fillRect/>
          </a:stretch>
        </p:blipFill>
        <p:spPr>
          <a:xfrm>
            <a:off x="6220191" y="2339726"/>
            <a:ext cx="2143125" cy="2143125"/>
          </a:xfrm>
          <a:prstGeom prst="rect">
            <a:avLst/>
          </a:prstGeom>
        </p:spPr>
      </p:pic>
    </p:spTree>
    <p:extLst>
      <p:ext uri="{BB962C8B-B14F-4D97-AF65-F5344CB8AC3E}">
        <p14:creationId xmlns:p14="http://schemas.microsoft.com/office/powerpoint/2010/main" val="4225686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6823CB5-87EB-5D43-A30B-012055B6415B}"/>
              </a:ext>
            </a:extLst>
          </p:cNvPr>
          <p:cNvSpPr>
            <a:spLocks noGrp="1"/>
          </p:cNvSpPr>
          <p:nvPr>
            <p:ph type="title"/>
          </p:nvPr>
        </p:nvSpPr>
        <p:spPr>
          <a:xfrm>
            <a:off x="1606045" y="523612"/>
            <a:ext cx="5937755" cy="1188720"/>
          </a:xfrm>
        </p:spPr>
        <p:txBody>
          <a:bodyPr/>
          <a:lstStyle/>
          <a:p>
            <a:r>
              <a:rPr lang="en-US" dirty="0" smtClean="0"/>
              <a:t>Different types of claims </a:t>
            </a:r>
            <a:endParaRPr lang="en-US" dirty="0"/>
          </a:p>
        </p:txBody>
      </p:sp>
      <p:sp>
        <p:nvSpPr>
          <p:cNvPr id="3" name="Platshållare för innehåll 2">
            <a:extLst>
              <a:ext uri="{FF2B5EF4-FFF2-40B4-BE49-F238E27FC236}">
                <a16:creationId xmlns:a16="http://schemas.microsoft.com/office/drawing/2014/main" id="{2FA96C8E-8D6E-A240-8EAC-19FA75DDA6EF}"/>
              </a:ext>
            </a:extLst>
          </p:cNvPr>
          <p:cNvSpPr>
            <a:spLocks noGrp="1"/>
          </p:cNvSpPr>
          <p:nvPr>
            <p:ph idx="1"/>
          </p:nvPr>
        </p:nvSpPr>
        <p:spPr>
          <a:xfrm>
            <a:off x="1603122" y="2180845"/>
            <a:ext cx="5937755" cy="3962047"/>
          </a:xfrm>
        </p:spPr>
        <p:txBody>
          <a:bodyPr>
            <a:normAutofit/>
          </a:bodyPr>
          <a:lstStyle/>
          <a:p>
            <a:r>
              <a:rPr lang="en-US" i="1" dirty="0"/>
              <a:t>Descriptive claims</a:t>
            </a:r>
            <a:r>
              <a:rPr lang="en-US" dirty="0"/>
              <a:t>: “Smith is 95 years old</a:t>
            </a:r>
            <a:r>
              <a:rPr lang="en-US" dirty="0" smtClean="0"/>
              <a:t>.”</a:t>
            </a:r>
          </a:p>
          <a:p>
            <a:pPr lvl="1"/>
            <a:r>
              <a:rPr lang="en-US" dirty="0" smtClean="0"/>
              <a:t>This is a non-moral claim about a state of affairs in the past or present</a:t>
            </a:r>
            <a:endParaRPr lang="en-US" dirty="0"/>
          </a:p>
          <a:p>
            <a:r>
              <a:rPr lang="en-US" i="1" dirty="0" err="1" smtClean="0"/>
              <a:t>Predicitive</a:t>
            </a:r>
            <a:r>
              <a:rPr lang="en-US" i="1" dirty="0" smtClean="0"/>
              <a:t> claims: </a:t>
            </a:r>
            <a:r>
              <a:rPr lang="en-US" dirty="0" smtClean="0"/>
              <a:t>“Smith will spend all her money on books.”</a:t>
            </a:r>
          </a:p>
          <a:p>
            <a:pPr lvl="1"/>
            <a:r>
              <a:rPr lang="en-US" dirty="0"/>
              <a:t>This is a non-moral claim about a state of affairs in </a:t>
            </a:r>
            <a:r>
              <a:rPr lang="en-US" dirty="0" smtClean="0"/>
              <a:t>the future.</a:t>
            </a:r>
            <a:endParaRPr lang="en-US" i="1" dirty="0" smtClean="0"/>
          </a:p>
          <a:p>
            <a:r>
              <a:rPr lang="en-US" i="1" dirty="0" smtClean="0"/>
              <a:t>Evaluative </a:t>
            </a:r>
            <a:r>
              <a:rPr lang="en-US" i="1" dirty="0"/>
              <a:t>claims</a:t>
            </a:r>
            <a:r>
              <a:rPr lang="en-US" dirty="0"/>
              <a:t>: “It is good, for some, to have exoskeletons</a:t>
            </a:r>
            <a:r>
              <a:rPr lang="en-US" dirty="0" smtClean="0"/>
              <a:t>.”</a:t>
            </a:r>
          </a:p>
          <a:p>
            <a:pPr lvl="1"/>
            <a:r>
              <a:rPr lang="en-US" dirty="0" smtClean="0"/>
              <a:t>This is a moral claim which can be set in the present or the past</a:t>
            </a:r>
            <a:endParaRPr lang="en-US" dirty="0"/>
          </a:p>
          <a:p>
            <a:r>
              <a:rPr lang="en-US" i="1" dirty="0"/>
              <a:t>Prescriptive claims</a:t>
            </a:r>
            <a:r>
              <a:rPr lang="en-US" dirty="0"/>
              <a:t>: “Smith should/should not be given an exoskeleton</a:t>
            </a:r>
            <a:r>
              <a:rPr lang="en-US" dirty="0" smtClean="0"/>
              <a:t>.”</a:t>
            </a:r>
          </a:p>
          <a:p>
            <a:pPr lvl="1"/>
            <a:r>
              <a:rPr lang="en-US" dirty="0" smtClean="0"/>
              <a:t>This is a moral claim set in the future</a:t>
            </a:r>
            <a:endParaRPr lang="en-US" dirty="0"/>
          </a:p>
          <a:p>
            <a:pPr fontAlgn="ctr"/>
            <a:endParaRPr lang="sv-SE" dirty="0"/>
          </a:p>
          <a:p>
            <a:endParaRPr lang="en-US" dirty="0"/>
          </a:p>
        </p:txBody>
      </p:sp>
    </p:spTree>
    <p:extLst>
      <p:ext uri="{BB962C8B-B14F-4D97-AF65-F5344CB8AC3E}">
        <p14:creationId xmlns:p14="http://schemas.microsoft.com/office/powerpoint/2010/main" val="655171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F2D09DD2-F5C6-834A-81C3-5532A975A139}"/>
              </a:ext>
            </a:extLst>
          </p:cNvPr>
          <p:cNvSpPr>
            <a:spLocks noGrp="1"/>
          </p:cNvSpPr>
          <p:nvPr>
            <p:ph idx="1"/>
          </p:nvPr>
        </p:nvSpPr>
        <p:spPr>
          <a:xfrm>
            <a:off x="185737" y="250166"/>
            <a:ext cx="8758237" cy="5813751"/>
          </a:xfrm>
        </p:spPr>
        <p:txBody>
          <a:bodyPr anchor="ctr"/>
          <a:lstStyle/>
          <a:p>
            <a:pPr marL="0" indent="0" algn="ctr">
              <a:buNone/>
            </a:pPr>
            <a:r>
              <a:rPr lang="en-US" sz="2400" dirty="0"/>
              <a:t>The aim of applied ethics is to provide normative guidance, i.e., </a:t>
            </a:r>
            <a:r>
              <a:rPr lang="en-US" sz="2400" i="1" dirty="0"/>
              <a:t>prescriptions</a:t>
            </a:r>
            <a:r>
              <a:rPr lang="en-US" sz="2400" dirty="0"/>
              <a:t> or </a:t>
            </a:r>
            <a:r>
              <a:rPr lang="en-US" sz="2400" i="1" dirty="0"/>
              <a:t>evaluations</a:t>
            </a:r>
            <a:r>
              <a:rPr lang="en-US" sz="2400" dirty="0"/>
              <a:t>, with regard to practical moral problems.</a:t>
            </a:r>
          </a:p>
        </p:txBody>
      </p:sp>
    </p:spTree>
    <p:extLst>
      <p:ext uri="{BB962C8B-B14F-4D97-AF65-F5344CB8AC3E}">
        <p14:creationId xmlns:p14="http://schemas.microsoft.com/office/powerpoint/2010/main" val="1378902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AA98BE2-9FB9-2746-839B-1DFE1E808B9A}"/>
              </a:ext>
            </a:extLst>
          </p:cNvPr>
          <p:cNvSpPr>
            <a:spLocks noGrp="1"/>
          </p:cNvSpPr>
          <p:nvPr>
            <p:ph type="title"/>
          </p:nvPr>
        </p:nvSpPr>
        <p:spPr>
          <a:xfrm>
            <a:off x="1606045" y="691662"/>
            <a:ext cx="5937755" cy="1461750"/>
          </a:xfrm>
        </p:spPr>
        <p:txBody>
          <a:bodyPr>
            <a:normAutofit fontScale="90000"/>
          </a:bodyPr>
          <a:lstStyle/>
          <a:p>
            <a:r>
              <a:rPr lang="en-US" cap="none" dirty="0"/>
              <a:t>T</a:t>
            </a:r>
            <a:r>
              <a:rPr lang="en-US" cap="none" dirty="0" smtClean="0"/>
              <a:t>ake 5 min and think for yourself – are the claims below descriptive, predictive, prescriptive, or evaluative?</a:t>
            </a:r>
            <a:endParaRPr lang="en-US" cap="none" dirty="0"/>
          </a:p>
        </p:txBody>
      </p:sp>
      <p:sp>
        <p:nvSpPr>
          <p:cNvPr id="3" name="Platshållare för innehåll 2">
            <a:extLst>
              <a:ext uri="{FF2B5EF4-FFF2-40B4-BE49-F238E27FC236}">
                <a16:creationId xmlns:a16="http://schemas.microsoft.com/office/drawing/2014/main" id="{E7BEBCAD-E181-D348-BE1B-8D0248D10DE2}"/>
              </a:ext>
            </a:extLst>
          </p:cNvPr>
          <p:cNvSpPr>
            <a:spLocks noGrp="1"/>
          </p:cNvSpPr>
          <p:nvPr>
            <p:ph idx="1"/>
          </p:nvPr>
        </p:nvSpPr>
        <p:spPr/>
        <p:txBody>
          <a:bodyPr>
            <a:normAutofit/>
          </a:bodyPr>
          <a:lstStyle/>
          <a:p>
            <a:pPr marL="342900" indent="-342900">
              <a:buFont typeface="+mj-lt"/>
              <a:buAutoNum type="arabicPeriod"/>
            </a:pPr>
            <a:r>
              <a:rPr lang="en-US" dirty="0"/>
              <a:t>“The care providers will </a:t>
            </a:r>
            <a:r>
              <a:rPr lang="en-US" dirty="0" smtClean="0"/>
              <a:t>do a good job helping patients.”</a:t>
            </a:r>
            <a:endParaRPr lang="en-US" dirty="0"/>
          </a:p>
          <a:p>
            <a:pPr marL="342900" indent="-342900">
              <a:buFont typeface="+mj-lt"/>
              <a:buAutoNum type="arabicPeriod"/>
            </a:pPr>
            <a:r>
              <a:rPr lang="en-US" dirty="0" smtClean="0"/>
              <a:t>“The woman </a:t>
            </a:r>
            <a:r>
              <a:rPr lang="en-US" dirty="0"/>
              <a:t>is dying, help her!”</a:t>
            </a:r>
          </a:p>
          <a:p>
            <a:pPr marL="342900" indent="-342900">
              <a:buFont typeface="+mj-lt"/>
              <a:buAutoNum type="arabicPeriod"/>
            </a:pPr>
            <a:r>
              <a:rPr lang="en-US" dirty="0"/>
              <a:t>“Jones is specialized in treating lung cancer. She would prefer to focus all her available healthcare resources on non-smokers, if she could.”</a:t>
            </a:r>
          </a:p>
          <a:p>
            <a:pPr marL="342900" indent="-342900">
              <a:buFont typeface="+mj-lt"/>
              <a:buAutoNum type="arabicPeriod"/>
            </a:pPr>
            <a:r>
              <a:rPr lang="en-US" dirty="0"/>
              <a:t>“Providing expensive treatments to terminally ill people is wasteful</a:t>
            </a:r>
            <a:r>
              <a:rPr lang="en-US" dirty="0" smtClean="0"/>
              <a:t>.”</a:t>
            </a:r>
            <a:endParaRPr lang="en-US" dirty="0"/>
          </a:p>
        </p:txBody>
      </p:sp>
    </p:spTree>
    <p:extLst>
      <p:ext uri="{BB962C8B-B14F-4D97-AF65-F5344CB8AC3E}">
        <p14:creationId xmlns:p14="http://schemas.microsoft.com/office/powerpoint/2010/main" val="1996158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AA98BE2-9FB9-2746-839B-1DFE1E808B9A}"/>
              </a:ext>
            </a:extLst>
          </p:cNvPr>
          <p:cNvSpPr>
            <a:spLocks noGrp="1"/>
          </p:cNvSpPr>
          <p:nvPr>
            <p:ph type="title"/>
          </p:nvPr>
        </p:nvSpPr>
        <p:spPr/>
        <p:txBody>
          <a:bodyPr/>
          <a:lstStyle/>
          <a:p>
            <a:r>
              <a:rPr lang="en-US" dirty="0"/>
              <a:t>Descriptive, predictive, prescriptive, or evaluative?</a:t>
            </a:r>
          </a:p>
        </p:txBody>
      </p:sp>
      <p:sp>
        <p:nvSpPr>
          <p:cNvPr id="3" name="Platshållare för innehåll 2">
            <a:extLst>
              <a:ext uri="{FF2B5EF4-FFF2-40B4-BE49-F238E27FC236}">
                <a16:creationId xmlns:a16="http://schemas.microsoft.com/office/drawing/2014/main" id="{E7BEBCAD-E181-D348-BE1B-8D0248D10DE2}"/>
              </a:ext>
            </a:extLst>
          </p:cNvPr>
          <p:cNvSpPr>
            <a:spLocks noGrp="1"/>
          </p:cNvSpPr>
          <p:nvPr>
            <p:ph idx="1"/>
          </p:nvPr>
        </p:nvSpPr>
        <p:spPr/>
        <p:txBody>
          <a:bodyPr>
            <a:normAutofit/>
          </a:bodyPr>
          <a:lstStyle/>
          <a:p>
            <a:pPr marL="342900" indent="-342900">
              <a:buFont typeface="+mj-lt"/>
              <a:buAutoNum type="arabicPeriod"/>
            </a:pPr>
            <a:r>
              <a:rPr lang="en-US" dirty="0"/>
              <a:t>“The care providers will </a:t>
            </a:r>
            <a:r>
              <a:rPr lang="en-US" dirty="0" smtClean="0"/>
              <a:t>do their job helping patients.” </a:t>
            </a:r>
            <a:r>
              <a:rPr lang="en-US" dirty="0">
                <a:solidFill>
                  <a:srgbClr val="C00000"/>
                </a:solidFill>
              </a:rPr>
              <a:t>Predictive</a:t>
            </a:r>
          </a:p>
          <a:p>
            <a:pPr marL="342900" indent="-342900">
              <a:buFont typeface="+mj-lt"/>
              <a:buAutoNum type="arabicPeriod"/>
            </a:pPr>
            <a:r>
              <a:rPr lang="en-US" dirty="0" smtClean="0"/>
              <a:t>“The woman </a:t>
            </a:r>
            <a:r>
              <a:rPr lang="en-US" dirty="0"/>
              <a:t>is dying, help her!” </a:t>
            </a:r>
            <a:r>
              <a:rPr lang="en-US" dirty="0">
                <a:solidFill>
                  <a:srgbClr val="C00000"/>
                </a:solidFill>
              </a:rPr>
              <a:t>Prescriptive</a:t>
            </a:r>
          </a:p>
          <a:p>
            <a:pPr marL="342900" indent="-342900">
              <a:buFont typeface="+mj-lt"/>
              <a:buAutoNum type="arabicPeriod"/>
            </a:pPr>
            <a:r>
              <a:rPr lang="en-US" dirty="0"/>
              <a:t>“Jones is specialized in treating lung cancer. She would prefer to focus all her available healthcare resources on non-smokers, if she could.” </a:t>
            </a:r>
            <a:r>
              <a:rPr lang="en-US" dirty="0">
                <a:solidFill>
                  <a:srgbClr val="C00000"/>
                </a:solidFill>
              </a:rPr>
              <a:t>Descriptive</a:t>
            </a:r>
          </a:p>
          <a:p>
            <a:pPr marL="342900" indent="-342900">
              <a:buFont typeface="+mj-lt"/>
              <a:buAutoNum type="arabicPeriod"/>
            </a:pPr>
            <a:r>
              <a:rPr lang="en-US" dirty="0"/>
              <a:t>“Providing expensive treatments to terminally ill people is wasteful.” </a:t>
            </a:r>
            <a:r>
              <a:rPr lang="en-US" dirty="0">
                <a:solidFill>
                  <a:srgbClr val="C00000"/>
                </a:solidFill>
              </a:rPr>
              <a:t>Evaluative</a:t>
            </a:r>
          </a:p>
          <a:p>
            <a:pPr marL="0" indent="0">
              <a:buNone/>
            </a:pPr>
            <a:endParaRPr lang="en-US" dirty="0">
              <a:solidFill>
                <a:srgbClr val="C00000"/>
              </a:solidFill>
            </a:endParaRPr>
          </a:p>
        </p:txBody>
      </p:sp>
      <p:sp>
        <p:nvSpPr>
          <p:cNvPr id="4" name="TextBox 3">
            <a:extLst>
              <a:ext uri="{FF2B5EF4-FFF2-40B4-BE49-F238E27FC236}">
                <a16:creationId xmlns:a16="http://schemas.microsoft.com/office/drawing/2014/main" id="{60CAE07A-CADA-C943-B259-1AAF1B2DA820}"/>
              </a:ext>
            </a:extLst>
          </p:cNvPr>
          <p:cNvSpPr txBox="1"/>
          <p:nvPr/>
        </p:nvSpPr>
        <p:spPr>
          <a:xfrm>
            <a:off x="808892" y="5762996"/>
            <a:ext cx="8088923" cy="923330"/>
          </a:xfrm>
          <a:prstGeom prst="rect">
            <a:avLst/>
          </a:prstGeom>
          <a:noFill/>
        </p:spPr>
        <p:txBody>
          <a:bodyPr wrap="square" rtlCol="0">
            <a:spAutoFit/>
          </a:bodyPr>
          <a:lstStyle/>
          <a:p>
            <a:r>
              <a:rPr lang="en-US" dirty="0"/>
              <a:t>The claims in </a:t>
            </a:r>
            <a:r>
              <a:rPr lang="en-US" dirty="0" smtClean="0"/>
              <a:t>1</a:t>
            </a:r>
            <a:r>
              <a:rPr lang="en-US" dirty="0"/>
              <a:t> </a:t>
            </a:r>
            <a:r>
              <a:rPr lang="en-US" dirty="0" smtClean="0"/>
              <a:t>and 3 </a:t>
            </a:r>
            <a:r>
              <a:rPr lang="en-US" dirty="0"/>
              <a:t>are easily assessed; just check the facts. But what about 2 and 4? </a:t>
            </a:r>
            <a:r>
              <a:rPr lang="en-US" b="1" dirty="0"/>
              <a:t>How are normative claims justified?</a:t>
            </a:r>
          </a:p>
          <a:p>
            <a:endParaRPr lang="en-GB" dirty="0"/>
          </a:p>
        </p:txBody>
      </p:sp>
    </p:spTree>
    <p:extLst>
      <p:ext uri="{BB962C8B-B14F-4D97-AF65-F5344CB8AC3E}">
        <p14:creationId xmlns:p14="http://schemas.microsoft.com/office/powerpoint/2010/main" val="8189092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5A5CE69-5B39-BA44-894C-A9FCD3C60E80}"/>
              </a:ext>
            </a:extLst>
          </p:cNvPr>
          <p:cNvSpPr>
            <a:spLocks noGrp="1"/>
          </p:cNvSpPr>
          <p:nvPr>
            <p:ph type="title"/>
          </p:nvPr>
        </p:nvSpPr>
        <p:spPr/>
        <p:txBody>
          <a:bodyPr/>
          <a:lstStyle/>
          <a:p>
            <a:r>
              <a:rPr lang="en-US" dirty="0" smtClean="0"/>
              <a:t>Justification of descriptive and predictive claims </a:t>
            </a:r>
            <a:endParaRPr lang="en-US" dirty="0"/>
          </a:p>
        </p:txBody>
      </p:sp>
      <p:sp>
        <p:nvSpPr>
          <p:cNvPr id="3" name="Platshållare för innehåll 2">
            <a:extLst>
              <a:ext uri="{FF2B5EF4-FFF2-40B4-BE49-F238E27FC236}">
                <a16:creationId xmlns:a16="http://schemas.microsoft.com/office/drawing/2014/main" id="{5A2F4F42-92ED-7941-B291-C6B7D3B5BC30}"/>
              </a:ext>
            </a:extLst>
          </p:cNvPr>
          <p:cNvSpPr>
            <a:spLocks noGrp="1"/>
          </p:cNvSpPr>
          <p:nvPr>
            <p:ph idx="1"/>
          </p:nvPr>
        </p:nvSpPr>
        <p:spPr>
          <a:xfrm>
            <a:off x="1606045" y="2638045"/>
            <a:ext cx="5937755" cy="3399340"/>
          </a:xfrm>
        </p:spPr>
        <p:txBody>
          <a:bodyPr>
            <a:normAutofit fontScale="85000" lnSpcReduction="20000"/>
          </a:bodyPr>
          <a:lstStyle/>
          <a:p>
            <a:pPr marL="0" indent="0">
              <a:buNone/>
            </a:pPr>
            <a:r>
              <a:rPr lang="en" b="1" dirty="0"/>
              <a:t>To justify a claim is to propose convincing reasons in favor of </a:t>
            </a:r>
            <a:r>
              <a:rPr lang="en" b="1" dirty="0" smtClean="0"/>
              <a:t>it</a:t>
            </a:r>
          </a:p>
          <a:p>
            <a:pPr marL="0" indent="0">
              <a:buNone/>
            </a:pPr>
            <a:endParaRPr lang="en-US" b="1" dirty="0"/>
          </a:p>
          <a:p>
            <a:r>
              <a:rPr lang="en-US" dirty="0"/>
              <a:t>Justifying descriptive claims</a:t>
            </a:r>
          </a:p>
          <a:p>
            <a:pPr lvl="1"/>
            <a:r>
              <a:rPr lang="en-US" dirty="0"/>
              <a:t>“Smith is 95 years old.”</a:t>
            </a:r>
          </a:p>
          <a:p>
            <a:pPr lvl="1"/>
            <a:r>
              <a:rPr lang="en-US" dirty="0"/>
              <a:t>Descriptive claims can be true or false, accurate and inaccurate, etc.</a:t>
            </a:r>
          </a:p>
          <a:p>
            <a:pPr lvl="1"/>
            <a:r>
              <a:rPr lang="en-US" dirty="0"/>
              <a:t>Justifying the claim involves observing Smith’s birth certificate and the current year</a:t>
            </a:r>
          </a:p>
          <a:p>
            <a:r>
              <a:rPr lang="en-US" dirty="0"/>
              <a:t>Justifying predictive claims</a:t>
            </a:r>
          </a:p>
          <a:p>
            <a:pPr lvl="1"/>
            <a:r>
              <a:rPr lang="en-US" dirty="0"/>
              <a:t>“Smith will </a:t>
            </a:r>
            <a:r>
              <a:rPr lang="en-US" dirty="0" smtClean="0"/>
              <a:t>spend all her money on books.”</a:t>
            </a:r>
            <a:endParaRPr lang="en-US" dirty="0"/>
          </a:p>
          <a:p>
            <a:pPr lvl="1"/>
            <a:r>
              <a:rPr lang="en-US" dirty="0"/>
              <a:t>Predictive claims can be true or false, likely and unlikely, etc.</a:t>
            </a:r>
          </a:p>
          <a:p>
            <a:pPr lvl="1"/>
            <a:r>
              <a:rPr lang="en-US" dirty="0"/>
              <a:t>Justifying the claim involves observing Smith’s </a:t>
            </a:r>
            <a:r>
              <a:rPr lang="en-US" dirty="0" smtClean="0"/>
              <a:t>history, her preferences etc.</a:t>
            </a:r>
            <a:endParaRPr lang="en-US" dirty="0"/>
          </a:p>
        </p:txBody>
      </p:sp>
    </p:spTree>
    <p:extLst>
      <p:ext uri="{BB962C8B-B14F-4D97-AF65-F5344CB8AC3E}">
        <p14:creationId xmlns:p14="http://schemas.microsoft.com/office/powerpoint/2010/main" val="601494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A50A6DD-48E4-F245-8AEE-ED7169CBF37F}"/>
              </a:ext>
            </a:extLst>
          </p:cNvPr>
          <p:cNvSpPr>
            <a:spLocks noGrp="1"/>
          </p:cNvSpPr>
          <p:nvPr>
            <p:ph type="title"/>
          </p:nvPr>
        </p:nvSpPr>
        <p:spPr/>
        <p:txBody>
          <a:bodyPr/>
          <a:lstStyle/>
          <a:p>
            <a:r>
              <a:rPr lang="en-US" dirty="0" smtClean="0"/>
              <a:t>Justification of normative claims </a:t>
            </a:r>
            <a:endParaRPr lang="en-US" dirty="0"/>
          </a:p>
        </p:txBody>
      </p:sp>
      <p:sp>
        <p:nvSpPr>
          <p:cNvPr id="3" name="Platshållare för innehåll 2">
            <a:extLst>
              <a:ext uri="{FF2B5EF4-FFF2-40B4-BE49-F238E27FC236}">
                <a16:creationId xmlns:a16="http://schemas.microsoft.com/office/drawing/2014/main" id="{78AE3131-27F6-2D4D-8DD0-9E0A5454B9EC}"/>
              </a:ext>
            </a:extLst>
          </p:cNvPr>
          <p:cNvSpPr>
            <a:spLocks noGrp="1"/>
          </p:cNvSpPr>
          <p:nvPr>
            <p:ph idx="1"/>
          </p:nvPr>
        </p:nvSpPr>
        <p:spPr>
          <a:xfrm>
            <a:off x="926123" y="2297664"/>
            <a:ext cx="7321062" cy="4349321"/>
          </a:xfrm>
        </p:spPr>
        <p:txBody>
          <a:bodyPr>
            <a:normAutofit/>
          </a:bodyPr>
          <a:lstStyle/>
          <a:p>
            <a:pPr marL="0" indent="0">
              <a:buNone/>
            </a:pPr>
            <a:r>
              <a:rPr lang="en" sz="1700" b="1" dirty="0"/>
              <a:t>To justify a claim is to propose convincing reasons in favor of it</a:t>
            </a:r>
          </a:p>
          <a:p>
            <a:r>
              <a:rPr lang="en-US" sz="1700" dirty="0" smtClean="0"/>
              <a:t>Justifying </a:t>
            </a:r>
            <a:r>
              <a:rPr lang="en-US" sz="1700" dirty="0"/>
              <a:t>normative claims</a:t>
            </a:r>
          </a:p>
          <a:p>
            <a:pPr lvl="1"/>
            <a:r>
              <a:rPr lang="en-US" sz="1700" dirty="0"/>
              <a:t>“Smith should be provided with an exoskeleton.”</a:t>
            </a:r>
          </a:p>
          <a:p>
            <a:pPr lvl="1"/>
            <a:r>
              <a:rPr lang="en-US" sz="1700" dirty="0"/>
              <a:t>Can normative claims be true or </a:t>
            </a:r>
            <a:r>
              <a:rPr lang="en-US" sz="1700" dirty="0" smtClean="0"/>
              <a:t>false? </a:t>
            </a:r>
          </a:p>
          <a:p>
            <a:r>
              <a:rPr lang="en-US" sz="1700" dirty="0" smtClean="0"/>
              <a:t>Justifying </a:t>
            </a:r>
            <a:r>
              <a:rPr lang="en-US" sz="1700" i="1" dirty="0"/>
              <a:t>normative claims </a:t>
            </a:r>
            <a:r>
              <a:rPr lang="en-US" sz="1700" dirty="0"/>
              <a:t>involves critical reflection on reasons that carry moral relevance.</a:t>
            </a:r>
          </a:p>
          <a:p>
            <a:pPr lvl="1"/>
            <a:r>
              <a:rPr lang="en-US" sz="1700" dirty="0"/>
              <a:t>Identify and take into account relevant facts</a:t>
            </a:r>
          </a:p>
          <a:p>
            <a:pPr lvl="1"/>
            <a:r>
              <a:rPr lang="en-US" sz="1700" dirty="0"/>
              <a:t>Identify the </a:t>
            </a:r>
            <a:r>
              <a:rPr lang="en-US" sz="1700" i="1" dirty="0"/>
              <a:t>values</a:t>
            </a:r>
            <a:r>
              <a:rPr lang="en-US" sz="1700" dirty="0"/>
              <a:t> involved and reflect upon these in light of other relevant values</a:t>
            </a:r>
          </a:p>
          <a:p>
            <a:pPr lvl="1"/>
            <a:r>
              <a:rPr lang="en-US" sz="1700" dirty="0"/>
              <a:t>Identify and take into account possible </a:t>
            </a:r>
            <a:r>
              <a:rPr lang="en-US" sz="1700" i="1" dirty="0"/>
              <a:t>value conflicts</a:t>
            </a:r>
          </a:p>
          <a:p>
            <a:r>
              <a:rPr lang="en-US" sz="1700" dirty="0"/>
              <a:t>Provide a balanced judgment with regard to all relevant reasons involved.</a:t>
            </a:r>
          </a:p>
          <a:p>
            <a:pPr lvl="1"/>
            <a:endParaRPr lang="en-US" sz="2000" dirty="0"/>
          </a:p>
          <a:p>
            <a:pPr marL="0" indent="0">
              <a:buNone/>
            </a:pPr>
            <a:endParaRPr lang="en-US" sz="3200" dirty="0"/>
          </a:p>
        </p:txBody>
      </p:sp>
    </p:spTree>
    <p:extLst>
      <p:ext uri="{BB962C8B-B14F-4D97-AF65-F5344CB8AC3E}">
        <p14:creationId xmlns:p14="http://schemas.microsoft.com/office/powerpoint/2010/main" val="394513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 end="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2" end="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3" end="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
                                            <p:txEl>
                                              <p:pRg st="7" end="7"/>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6061DE9-5F96-0147-B0EE-A8042D2EAC5D}"/>
              </a:ext>
            </a:extLst>
          </p:cNvPr>
          <p:cNvSpPr>
            <a:spLocks noGrp="1"/>
          </p:cNvSpPr>
          <p:nvPr>
            <p:ph type="title"/>
          </p:nvPr>
        </p:nvSpPr>
        <p:spPr/>
        <p:txBody>
          <a:bodyPr>
            <a:normAutofit fontScale="90000"/>
          </a:bodyPr>
          <a:lstStyle/>
          <a:p>
            <a:r>
              <a:rPr lang="en-US" dirty="0"/>
              <a:t>Identify the values and value </a:t>
            </a:r>
            <a:r>
              <a:rPr lang="en-US" dirty="0" smtClean="0"/>
              <a:t>conflicts</a:t>
            </a:r>
            <a:br>
              <a:rPr lang="en-US" dirty="0" smtClean="0"/>
            </a:br>
            <a:r>
              <a:rPr lang="en-US" cap="none" dirty="0"/>
              <a:t>I</a:t>
            </a:r>
            <a:r>
              <a:rPr lang="en-US" cap="none" dirty="0" smtClean="0"/>
              <a:t>n groups for 10 min </a:t>
            </a:r>
            <a:endParaRPr lang="en-US" cap="none" dirty="0"/>
          </a:p>
        </p:txBody>
      </p:sp>
      <p:sp>
        <p:nvSpPr>
          <p:cNvPr id="3" name="Platshållare för innehåll 2">
            <a:extLst>
              <a:ext uri="{FF2B5EF4-FFF2-40B4-BE49-F238E27FC236}">
                <a16:creationId xmlns:a16="http://schemas.microsoft.com/office/drawing/2014/main" id="{A2E60D6F-F36D-B146-94FB-B53989F4465F}"/>
              </a:ext>
            </a:extLst>
          </p:cNvPr>
          <p:cNvSpPr>
            <a:spLocks noGrp="1"/>
          </p:cNvSpPr>
          <p:nvPr>
            <p:ph idx="1"/>
          </p:nvPr>
        </p:nvSpPr>
        <p:spPr>
          <a:xfrm>
            <a:off x="274003" y="2744759"/>
            <a:ext cx="8483135" cy="3673626"/>
          </a:xfrm>
        </p:spPr>
        <p:txBody>
          <a:bodyPr/>
          <a:lstStyle/>
          <a:p>
            <a:pPr marL="342900" indent="-342900">
              <a:buFont typeface="+mj-lt"/>
              <a:buAutoNum type="arabicPeriod"/>
            </a:pPr>
            <a:r>
              <a:rPr lang="en-US" dirty="0"/>
              <a:t>“The exoskeleton would enable Smith to move around her apartment without help, but also to wander off and do things that are not good for her.”</a:t>
            </a:r>
          </a:p>
          <a:p>
            <a:pPr marL="342900" indent="-342900">
              <a:buFont typeface="+mj-lt"/>
              <a:buAutoNum type="arabicPeriod"/>
            </a:pPr>
            <a:r>
              <a:rPr lang="en-US" dirty="0"/>
              <a:t>“The technology that is used to remind dementia patients to take their medicine can also be used to monitor them when they do not know that they are being watched.”</a:t>
            </a:r>
          </a:p>
          <a:p>
            <a:pPr marL="342900" indent="-342900">
              <a:buFont typeface="+mj-lt"/>
              <a:buAutoNum type="arabicPeriod"/>
            </a:pPr>
            <a:r>
              <a:rPr lang="en-US" dirty="0"/>
              <a:t>“It’s not a real dog, it’s a smart robot. But my grandmother doesn’t seem to understand the difference anymore. They say things like, ‘I love you,’ to each other. The whole situation is awkward, but I think that she enjoys having someone to talk to and care for. Should I try to tell her that the dog is just a robot or should I let it go? Does it matter?”</a:t>
            </a:r>
          </a:p>
        </p:txBody>
      </p:sp>
    </p:spTree>
    <p:extLst>
      <p:ext uri="{BB962C8B-B14F-4D97-AF65-F5344CB8AC3E}">
        <p14:creationId xmlns:p14="http://schemas.microsoft.com/office/powerpoint/2010/main" val="4292292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Break 15 min </a:t>
            </a:r>
            <a:endParaRPr lang="en-GB" dirty="0"/>
          </a:p>
        </p:txBody>
      </p:sp>
      <p:sp>
        <p:nvSpPr>
          <p:cNvPr id="3" name="Text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8570069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objekt 4">
            <a:extLst>
              <a:ext uri="{FF2B5EF4-FFF2-40B4-BE49-F238E27FC236}">
                <a16:creationId xmlns:a16="http://schemas.microsoft.com/office/drawing/2014/main" id="{9FFA8816-FD37-B54F-9CD2-336818E5358C}"/>
              </a:ext>
            </a:extLst>
          </p:cNvPr>
          <p:cNvPicPr>
            <a:picLocks noChangeAspect="1"/>
          </p:cNvPicPr>
          <p:nvPr/>
        </p:nvPicPr>
        <p:blipFill>
          <a:blip r:embed="rId3"/>
          <a:stretch>
            <a:fillRect/>
          </a:stretch>
        </p:blipFill>
        <p:spPr>
          <a:xfrm>
            <a:off x="4148488" y="2630794"/>
            <a:ext cx="3016987" cy="1772870"/>
          </a:xfrm>
          <a:prstGeom prst="rect">
            <a:avLst/>
          </a:prstGeom>
        </p:spPr>
      </p:pic>
      <p:sp>
        <p:nvSpPr>
          <p:cNvPr id="7" name="TextBox 6">
            <a:extLst>
              <a:ext uri="{FF2B5EF4-FFF2-40B4-BE49-F238E27FC236}">
                <a16:creationId xmlns:a16="http://schemas.microsoft.com/office/drawing/2014/main" id="{EACA4329-0B6B-AA4B-85F6-0D6E8D667ACB}"/>
              </a:ext>
            </a:extLst>
          </p:cNvPr>
          <p:cNvSpPr txBox="1"/>
          <p:nvPr/>
        </p:nvSpPr>
        <p:spPr>
          <a:xfrm>
            <a:off x="6828049" y="6468870"/>
            <a:ext cx="2012950" cy="307777"/>
          </a:xfrm>
          <a:prstGeom prst="rect">
            <a:avLst/>
          </a:prstGeom>
          <a:noFill/>
        </p:spPr>
        <p:txBody>
          <a:bodyPr wrap="square" rtlCol="0">
            <a:spAutoFit/>
          </a:bodyPr>
          <a:lstStyle/>
          <a:p>
            <a:r>
              <a:rPr lang="en-GB" sz="700" dirty="0">
                <a:hlinkClick r:id="rId4" tooltip="http://www.internetmonk.com/archive/imonk-classic-we-thought-he-was-such-a-nice-boy%E2%80%94and-then-we-found-out-he-didnt-believe-in-inerrancy"/>
              </a:rPr>
              <a:t>This Photo</a:t>
            </a:r>
            <a:r>
              <a:rPr lang="en-GB" sz="700" dirty="0"/>
              <a:t> by Unknown Author is licensed under </a:t>
            </a:r>
            <a:r>
              <a:rPr lang="en-GB" sz="700" dirty="0">
                <a:hlinkClick r:id="rId5" tooltip="https://creativecommons.org/licenses/by-nc-nd/3.0/"/>
              </a:rPr>
              <a:t>CC BY-NC-ND</a:t>
            </a:r>
            <a:endParaRPr lang="en-GB" sz="700" dirty="0"/>
          </a:p>
        </p:txBody>
      </p:sp>
      <p:pic>
        <p:nvPicPr>
          <p:cNvPr id="2" name="Picture 1"/>
          <p:cNvPicPr>
            <a:picLocks noChangeAspect="1"/>
          </p:cNvPicPr>
          <p:nvPr/>
        </p:nvPicPr>
        <p:blipFill>
          <a:blip r:embed="rId6"/>
          <a:stretch>
            <a:fillRect/>
          </a:stretch>
        </p:blipFill>
        <p:spPr>
          <a:xfrm>
            <a:off x="6606222" y="2412651"/>
            <a:ext cx="2145978" cy="2139881"/>
          </a:xfrm>
          <a:prstGeom prst="rect">
            <a:avLst/>
          </a:prstGeom>
        </p:spPr>
      </p:pic>
      <p:sp>
        <p:nvSpPr>
          <p:cNvPr id="12" name="Rubrik 1">
            <a:extLst>
              <a:ext uri="{FF2B5EF4-FFF2-40B4-BE49-F238E27FC236}">
                <a16:creationId xmlns:a16="http://schemas.microsoft.com/office/drawing/2014/main" id="{16061DE9-5F96-0147-B0EE-A8042D2EAC5D}"/>
              </a:ext>
            </a:extLst>
          </p:cNvPr>
          <p:cNvSpPr>
            <a:spLocks noGrp="1"/>
          </p:cNvSpPr>
          <p:nvPr>
            <p:ph type="title"/>
          </p:nvPr>
        </p:nvSpPr>
        <p:spPr>
          <a:xfrm>
            <a:off x="1482952" y="852021"/>
            <a:ext cx="5937755" cy="1188720"/>
          </a:xfrm>
        </p:spPr>
        <p:txBody>
          <a:bodyPr>
            <a:normAutofit fontScale="90000"/>
          </a:bodyPr>
          <a:lstStyle/>
          <a:p>
            <a:r>
              <a:rPr lang="en-GB" sz="2800" dirty="0"/>
              <a:t>Justifying normative claims</a:t>
            </a:r>
            <a:br>
              <a:rPr lang="en-GB" sz="2800" dirty="0"/>
            </a:br>
            <a:endParaRPr lang="en-US" cap="none" dirty="0"/>
          </a:p>
        </p:txBody>
      </p:sp>
      <p:sp>
        <p:nvSpPr>
          <p:cNvPr id="4" name="TextBox 3"/>
          <p:cNvSpPr txBox="1"/>
          <p:nvPr/>
        </p:nvSpPr>
        <p:spPr>
          <a:xfrm>
            <a:off x="1412631" y="2412651"/>
            <a:ext cx="6935123" cy="4401205"/>
          </a:xfrm>
          <a:prstGeom prst="rect">
            <a:avLst/>
          </a:prstGeom>
          <a:noFill/>
        </p:spPr>
        <p:txBody>
          <a:bodyPr wrap="square" rtlCol="0">
            <a:spAutoFit/>
          </a:bodyPr>
          <a:lstStyle/>
          <a:p>
            <a:r>
              <a:rPr lang="en-GB" sz="2400" dirty="0" smtClean="0"/>
              <a:t>Consider:</a:t>
            </a:r>
          </a:p>
          <a:p>
            <a:pPr marL="457200" indent="-457200">
              <a:buFont typeface="Arial" panose="020B0604020202020204" pitchFamily="34" charset="0"/>
              <a:buChar char="•"/>
            </a:pPr>
            <a:r>
              <a:rPr lang="en-GB" sz="2400" dirty="0" smtClean="0"/>
              <a:t>Facts </a:t>
            </a:r>
          </a:p>
          <a:p>
            <a:pPr marL="457200" indent="-457200">
              <a:buFont typeface="Arial" panose="020B0604020202020204" pitchFamily="34" charset="0"/>
              <a:buChar char="•"/>
            </a:pPr>
            <a:r>
              <a:rPr lang="en-GB" sz="2400" dirty="0" smtClean="0"/>
              <a:t>Values</a:t>
            </a:r>
          </a:p>
          <a:p>
            <a:pPr marL="457200" indent="-457200">
              <a:buFont typeface="Arial" panose="020B0604020202020204" pitchFamily="34" charset="0"/>
              <a:buChar char="•"/>
            </a:pPr>
            <a:r>
              <a:rPr lang="en-GB" sz="2400" dirty="0" smtClean="0"/>
              <a:t>Value-conflicts</a:t>
            </a:r>
          </a:p>
          <a:p>
            <a:endParaRPr lang="en-GB" sz="2400" dirty="0"/>
          </a:p>
          <a:p>
            <a:endParaRPr lang="en-GB" sz="2400" dirty="0" smtClean="0"/>
          </a:p>
          <a:p>
            <a:endParaRPr lang="en-GB" sz="2400" dirty="0" smtClean="0"/>
          </a:p>
          <a:p>
            <a:pPr marL="457200" indent="-457200">
              <a:buFont typeface="Wingdings" panose="05000000000000000000" pitchFamily="2" charset="2"/>
              <a:buChar char="Ø"/>
            </a:pPr>
            <a:r>
              <a:rPr lang="en-US" sz="2400" dirty="0"/>
              <a:t>Provide a balanced judgment with regard to all relevant reasons involved.</a:t>
            </a:r>
          </a:p>
          <a:p>
            <a:endParaRPr lang="en-GB" sz="3200" dirty="0"/>
          </a:p>
          <a:p>
            <a:endParaRPr lang="en-GB" sz="3200" dirty="0"/>
          </a:p>
        </p:txBody>
      </p:sp>
    </p:spTree>
    <p:extLst>
      <p:ext uri="{BB962C8B-B14F-4D97-AF65-F5344CB8AC3E}">
        <p14:creationId xmlns:p14="http://schemas.microsoft.com/office/powerpoint/2010/main" val="18322815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EB6EC680-37F5-6B41-B5FC-62E1839A0F57}"/>
              </a:ext>
            </a:extLst>
          </p:cNvPr>
          <p:cNvSpPr>
            <a:spLocks noGrp="1"/>
          </p:cNvSpPr>
          <p:nvPr>
            <p:ph type="title"/>
          </p:nvPr>
        </p:nvSpPr>
        <p:spPr/>
        <p:txBody>
          <a:bodyPr/>
          <a:lstStyle/>
          <a:p>
            <a:r>
              <a:rPr lang="en-US" dirty="0"/>
              <a:t>A top-down approach</a:t>
            </a:r>
          </a:p>
        </p:txBody>
      </p:sp>
      <p:sp>
        <p:nvSpPr>
          <p:cNvPr id="3" name="Platshållare för innehåll 2">
            <a:extLst>
              <a:ext uri="{FF2B5EF4-FFF2-40B4-BE49-F238E27FC236}">
                <a16:creationId xmlns:a16="http://schemas.microsoft.com/office/drawing/2014/main" id="{7C230EFB-0A24-4F4A-8CFC-CFDAC48FAA0C}"/>
              </a:ext>
            </a:extLst>
          </p:cNvPr>
          <p:cNvSpPr>
            <a:spLocks noGrp="1"/>
          </p:cNvSpPr>
          <p:nvPr>
            <p:ph idx="1"/>
          </p:nvPr>
        </p:nvSpPr>
        <p:spPr/>
        <p:txBody>
          <a:bodyPr>
            <a:normAutofit fontScale="77500" lnSpcReduction="20000"/>
          </a:bodyPr>
          <a:lstStyle/>
          <a:p>
            <a:r>
              <a:rPr lang="en-US" dirty="0"/>
              <a:t>For instance, a top-down approach applying utilitarianism to the case:</a:t>
            </a:r>
          </a:p>
          <a:p>
            <a:pPr lvl="1"/>
            <a:r>
              <a:rPr lang="en-US" dirty="0"/>
              <a:t>Utilitarianism is the theory that only states of affairs matter, and only happiness counts. Therefore, the question is what would produce the happiest state.</a:t>
            </a:r>
          </a:p>
          <a:p>
            <a:pPr lvl="2"/>
            <a:r>
              <a:rPr lang="en-US" dirty="0"/>
              <a:t>Important: It is the amount of happiness </a:t>
            </a:r>
            <a:r>
              <a:rPr lang="en-US" i="1" dirty="0"/>
              <a:t>in the world</a:t>
            </a:r>
            <a:r>
              <a:rPr lang="en-US" dirty="0"/>
              <a:t> that counts, not the happiness </a:t>
            </a:r>
            <a:r>
              <a:rPr lang="en-US" i="1" dirty="0"/>
              <a:t>for Smith</a:t>
            </a:r>
            <a:r>
              <a:rPr lang="en-US" dirty="0"/>
              <a:t> (or anyone else in particular)</a:t>
            </a:r>
          </a:p>
          <a:p>
            <a:pPr lvl="1"/>
            <a:r>
              <a:rPr lang="en-US" dirty="0"/>
              <a:t>“After some thinking, I believe that we should provide Smith with an unrestricted exoskeleton. The amount of happiness gained is greater than the suffering caused.”</a:t>
            </a:r>
          </a:p>
          <a:p>
            <a:r>
              <a:rPr lang="en-US" dirty="0" smtClean="0"/>
              <a:t>Some problems</a:t>
            </a:r>
          </a:p>
          <a:p>
            <a:pPr lvl="1"/>
            <a:r>
              <a:rPr lang="en-US" dirty="0"/>
              <a:t>H</a:t>
            </a:r>
            <a:r>
              <a:rPr lang="en-US" dirty="0" smtClean="0"/>
              <a:t>ow do we measure and compare happiness?</a:t>
            </a:r>
          </a:p>
          <a:p>
            <a:pPr lvl="1"/>
            <a:r>
              <a:rPr lang="en-US" dirty="0" smtClean="0"/>
              <a:t>What </a:t>
            </a:r>
            <a:r>
              <a:rPr lang="en-US" dirty="0"/>
              <a:t>if utilitarianism is false? The top-down approach relies heavily on the truth of the theory applied and there is little agreement on this level of moral </a:t>
            </a:r>
            <a:r>
              <a:rPr lang="en-US" dirty="0" smtClean="0">
                <a:solidFill>
                  <a:schemeClr val="tx1"/>
                </a:solidFill>
              </a:rPr>
              <a:t>thinking (there are numerous competing normative theories)</a:t>
            </a:r>
            <a:endParaRPr lang="en-US" dirty="0">
              <a:solidFill>
                <a:schemeClr val="tx1"/>
              </a:solidFill>
            </a:endParaRPr>
          </a:p>
        </p:txBody>
      </p:sp>
    </p:spTree>
    <p:extLst>
      <p:ext uri="{BB962C8B-B14F-4D97-AF65-F5344CB8AC3E}">
        <p14:creationId xmlns:p14="http://schemas.microsoft.com/office/powerpoint/2010/main" val="325862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E1BF490-7E30-7E48-9179-C80346EB8B75}"/>
              </a:ext>
            </a:extLst>
          </p:cNvPr>
          <p:cNvSpPr>
            <a:spLocks noGrp="1"/>
          </p:cNvSpPr>
          <p:nvPr>
            <p:ph type="title"/>
          </p:nvPr>
        </p:nvSpPr>
        <p:spPr/>
        <p:txBody>
          <a:bodyPr/>
          <a:lstStyle/>
          <a:p>
            <a:r>
              <a:rPr lang="en-US" dirty="0"/>
              <a:t>A bottom-up approach</a:t>
            </a:r>
          </a:p>
        </p:txBody>
      </p:sp>
      <p:sp>
        <p:nvSpPr>
          <p:cNvPr id="3" name="Platshållare för innehåll 2">
            <a:extLst>
              <a:ext uri="{FF2B5EF4-FFF2-40B4-BE49-F238E27FC236}">
                <a16:creationId xmlns:a16="http://schemas.microsoft.com/office/drawing/2014/main" id="{FB555930-FF41-4D49-9D2B-3E9B032DC776}"/>
              </a:ext>
            </a:extLst>
          </p:cNvPr>
          <p:cNvSpPr>
            <a:spLocks noGrp="1"/>
          </p:cNvSpPr>
          <p:nvPr>
            <p:ph idx="1"/>
          </p:nvPr>
        </p:nvSpPr>
        <p:spPr>
          <a:xfrm>
            <a:off x="758282" y="2710543"/>
            <a:ext cx="7601948" cy="3487188"/>
          </a:xfrm>
        </p:spPr>
        <p:txBody>
          <a:bodyPr>
            <a:normAutofit fontScale="92500" lnSpcReduction="20000"/>
          </a:bodyPr>
          <a:lstStyle/>
          <a:p>
            <a:r>
              <a:rPr lang="en-US" dirty="0"/>
              <a:t>Consider what appears to be problematic cases from a morally neutral point of view</a:t>
            </a:r>
          </a:p>
          <a:p>
            <a:pPr lvl="1"/>
            <a:r>
              <a:rPr lang="en-US" dirty="0"/>
              <a:t>Which are the main actors involved and what interests do they have?</a:t>
            </a:r>
          </a:p>
          <a:p>
            <a:pPr lvl="2"/>
            <a:r>
              <a:rPr lang="en-US" dirty="0"/>
              <a:t>Smith, Smith’s family and neighbors, exoskeleton engineers and producers, etc.</a:t>
            </a:r>
          </a:p>
          <a:p>
            <a:pPr lvl="1"/>
            <a:r>
              <a:rPr lang="en-US" dirty="0"/>
              <a:t>What realistic expectations can we have?</a:t>
            </a:r>
          </a:p>
          <a:p>
            <a:pPr lvl="2"/>
            <a:r>
              <a:rPr lang="en-US" dirty="0"/>
              <a:t>How can we expect Smith to use the device? How will other people respond?</a:t>
            </a:r>
          </a:p>
          <a:p>
            <a:pPr lvl="2"/>
            <a:r>
              <a:rPr lang="en-US" dirty="0"/>
              <a:t>Is the device expensive? Are some constraints to it more feasible than others?</a:t>
            </a:r>
            <a:br>
              <a:rPr lang="en-US" dirty="0"/>
            </a:br>
            <a:endParaRPr lang="en-US" dirty="0"/>
          </a:p>
          <a:p>
            <a:r>
              <a:rPr lang="en-US" dirty="0"/>
              <a:t>Provide a balanced judgment taking all the above into account</a:t>
            </a:r>
            <a:br>
              <a:rPr lang="en-US" dirty="0"/>
            </a:br>
            <a:endParaRPr lang="en-US" dirty="0"/>
          </a:p>
          <a:p>
            <a:r>
              <a:rPr lang="en-US" dirty="0"/>
              <a:t>Problem #1: Can analysts really be morally neutral?</a:t>
            </a:r>
          </a:p>
          <a:p>
            <a:r>
              <a:rPr lang="en-US" dirty="0"/>
              <a:t>Problem #2: Should they be?</a:t>
            </a:r>
          </a:p>
        </p:txBody>
      </p:sp>
    </p:spTree>
    <p:extLst>
      <p:ext uri="{BB962C8B-B14F-4D97-AF65-F5344CB8AC3E}">
        <p14:creationId xmlns:p14="http://schemas.microsoft.com/office/powerpoint/2010/main" val="4154393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B8FBE42-7EE4-0E42-BCCD-FA3504BD7432}"/>
              </a:ext>
            </a:extLst>
          </p:cNvPr>
          <p:cNvSpPr>
            <a:spLocks noGrp="1"/>
          </p:cNvSpPr>
          <p:nvPr>
            <p:ph type="title"/>
          </p:nvPr>
        </p:nvSpPr>
        <p:spPr/>
        <p:txBody>
          <a:bodyPr/>
          <a:lstStyle/>
          <a:p>
            <a:r>
              <a:rPr lang="en-US" dirty="0"/>
              <a:t>A mid-level approach</a:t>
            </a:r>
          </a:p>
        </p:txBody>
      </p:sp>
      <p:sp>
        <p:nvSpPr>
          <p:cNvPr id="3" name="Platshållare för innehåll 2">
            <a:extLst>
              <a:ext uri="{FF2B5EF4-FFF2-40B4-BE49-F238E27FC236}">
                <a16:creationId xmlns:a16="http://schemas.microsoft.com/office/drawing/2014/main" id="{9AD2CF9C-66F4-0B45-9B42-FFA66C1AE817}"/>
              </a:ext>
            </a:extLst>
          </p:cNvPr>
          <p:cNvSpPr>
            <a:spLocks noGrp="1"/>
          </p:cNvSpPr>
          <p:nvPr>
            <p:ph idx="1"/>
          </p:nvPr>
        </p:nvSpPr>
        <p:spPr>
          <a:xfrm>
            <a:off x="802888" y="2554856"/>
            <a:ext cx="7805853" cy="3823641"/>
          </a:xfrm>
        </p:spPr>
        <p:txBody>
          <a:bodyPr>
            <a:normAutofit fontScale="92500"/>
          </a:bodyPr>
          <a:lstStyle/>
          <a:p>
            <a:r>
              <a:rPr lang="en-US" dirty="0"/>
              <a:t>Consider some theoretical concepts or principles in relation to practical concerns</a:t>
            </a:r>
          </a:p>
          <a:p>
            <a:pPr lvl="1"/>
            <a:r>
              <a:rPr lang="en-US" dirty="0"/>
              <a:t>The information flow should be a two-way street between theory and practice</a:t>
            </a:r>
          </a:p>
          <a:p>
            <a:r>
              <a:rPr lang="en-US" dirty="0"/>
              <a:t>Principlism</a:t>
            </a:r>
          </a:p>
          <a:p>
            <a:pPr lvl="1"/>
            <a:r>
              <a:rPr lang="en-US" dirty="0"/>
              <a:t>Beauchamp &amp; Childress: </a:t>
            </a:r>
            <a:r>
              <a:rPr lang="en-US" i="1" dirty="0"/>
              <a:t>Principles of Biomedical Ethics</a:t>
            </a:r>
            <a:r>
              <a:rPr lang="en-US" dirty="0"/>
              <a:t> </a:t>
            </a:r>
            <a:endParaRPr lang="en-US" dirty="0" smtClean="0"/>
          </a:p>
          <a:p>
            <a:pPr lvl="1"/>
            <a:r>
              <a:rPr lang="en-US" b="1" dirty="0" smtClean="0"/>
              <a:t>Theory</a:t>
            </a:r>
            <a:r>
              <a:rPr lang="en-US" b="1" dirty="0"/>
              <a:t>:</a:t>
            </a:r>
            <a:r>
              <a:rPr lang="en-US" dirty="0"/>
              <a:t> Respect for autonomy, nonmaleficence, beneficence, and justice</a:t>
            </a:r>
          </a:p>
          <a:p>
            <a:pPr lvl="2"/>
            <a:r>
              <a:rPr lang="en-US" dirty="0"/>
              <a:t>These have been identified as the main areas of moral concern in biomedicine</a:t>
            </a:r>
          </a:p>
          <a:p>
            <a:pPr lvl="2"/>
            <a:r>
              <a:rPr lang="en-US" dirty="0"/>
              <a:t>The result of both empirical observations and theoretical reflection</a:t>
            </a:r>
          </a:p>
          <a:p>
            <a:pPr marL="457200" lvl="2" indent="0">
              <a:buNone/>
            </a:pPr>
            <a:r>
              <a:rPr lang="en-US" b="1" dirty="0"/>
              <a:t>Method:</a:t>
            </a:r>
            <a:r>
              <a:rPr lang="en-US" dirty="0"/>
              <a:t> Specify how the principles apply to particular cases</a:t>
            </a:r>
          </a:p>
          <a:p>
            <a:pPr lvl="2"/>
            <a:r>
              <a:rPr lang="en-US" dirty="0"/>
              <a:t>“In Smith and the exoskeleton there is a conflict between respecting autonomy and benefiting Smith.”</a:t>
            </a:r>
          </a:p>
          <a:p>
            <a:pPr lvl="2"/>
            <a:r>
              <a:rPr lang="en-US" dirty="0"/>
              <a:t>Reflective equilibrium</a:t>
            </a:r>
          </a:p>
        </p:txBody>
      </p:sp>
    </p:spTree>
    <p:extLst>
      <p:ext uri="{BB962C8B-B14F-4D97-AF65-F5344CB8AC3E}">
        <p14:creationId xmlns:p14="http://schemas.microsoft.com/office/powerpoint/2010/main" val="976744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E95B312-134A-F24E-8A52-1D31EEA120CC}"/>
              </a:ext>
            </a:extLst>
          </p:cNvPr>
          <p:cNvSpPr>
            <a:spLocks noGrp="1"/>
          </p:cNvSpPr>
          <p:nvPr>
            <p:ph type="title"/>
          </p:nvPr>
        </p:nvSpPr>
        <p:spPr/>
        <p:txBody>
          <a:bodyPr/>
          <a:lstStyle/>
          <a:p>
            <a:r>
              <a:rPr lang="en-US" dirty="0"/>
              <a:t>Reflective equilibrium</a:t>
            </a:r>
          </a:p>
        </p:txBody>
      </p:sp>
      <p:sp>
        <p:nvSpPr>
          <p:cNvPr id="3" name="Platshållare för innehåll 2">
            <a:extLst>
              <a:ext uri="{FF2B5EF4-FFF2-40B4-BE49-F238E27FC236}">
                <a16:creationId xmlns:a16="http://schemas.microsoft.com/office/drawing/2014/main" id="{58C87BB0-4C56-E048-81F0-F4B7222D4374}"/>
              </a:ext>
            </a:extLst>
          </p:cNvPr>
          <p:cNvSpPr>
            <a:spLocks noGrp="1"/>
          </p:cNvSpPr>
          <p:nvPr>
            <p:ph idx="1"/>
          </p:nvPr>
        </p:nvSpPr>
        <p:spPr>
          <a:xfrm>
            <a:off x="626049" y="2520176"/>
            <a:ext cx="7891902" cy="3566044"/>
          </a:xfrm>
        </p:spPr>
        <p:txBody>
          <a:bodyPr>
            <a:normAutofit fontScale="92500" lnSpcReduction="10000"/>
          </a:bodyPr>
          <a:lstStyle/>
          <a:p>
            <a:r>
              <a:rPr lang="en-US" dirty="0"/>
              <a:t>Reflective equilibrium as a</a:t>
            </a:r>
            <a:r>
              <a:rPr lang="en-US" b="1" dirty="0"/>
              <a:t> </a:t>
            </a:r>
            <a:r>
              <a:rPr lang="en-US" b="1" i="1" dirty="0"/>
              <a:t>method</a:t>
            </a:r>
            <a:r>
              <a:rPr lang="en-US" b="1" dirty="0"/>
              <a:t> </a:t>
            </a:r>
            <a:r>
              <a:rPr lang="en-US" dirty="0"/>
              <a:t>in applied ethics</a:t>
            </a:r>
          </a:p>
          <a:p>
            <a:pPr lvl="1"/>
            <a:r>
              <a:rPr lang="en-US" dirty="0"/>
              <a:t>Identify (and carefully articulate) the relevant facts, values, and value conflicts</a:t>
            </a:r>
          </a:p>
          <a:p>
            <a:pPr lvl="1"/>
            <a:r>
              <a:rPr lang="en-US" dirty="0"/>
              <a:t>Identify (and carefully articulate) the moral intuitions involved</a:t>
            </a:r>
          </a:p>
          <a:p>
            <a:pPr lvl="2"/>
            <a:r>
              <a:rPr lang="en-US" dirty="0"/>
              <a:t>What </a:t>
            </a:r>
            <a:r>
              <a:rPr lang="en-US" i="1" dirty="0"/>
              <a:t>appears</a:t>
            </a:r>
            <a:r>
              <a:rPr lang="en-US" dirty="0"/>
              <a:t> to be right upon stable and considered reflection</a:t>
            </a:r>
          </a:p>
          <a:p>
            <a:pPr lvl="1"/>
            <a:r>
              <a:rPr lang="en-US" dirty="0"/>
              <a:t>Suggest a possible balanced normative judgment taking all the above into account</a:t>
            </a:r>
          </a:p>
          <a:p>
            <a:pPr lvl="1"/>
            <a:r>
              <a:rPr lang="en-US" i="1" dirty="0"/>
              <a:t>Repeat!</a:t>
            </a:r>
            <a:r>
              <a:rPr lang="en-US" dirty="0"/>
              <a:t> As a method, reflective equilibrium is a continuous process</a:t>
            </a:r>
          </a:p>
          <a:p>
            <a:r>
              <a:rPr lang="en-US" dirty="0"/>
              <a:t>Reflective equilibrium as a</a:t>
            </a:r>
            <a:r>
              <a:rPr lang="en-US" i="1" dirty="0"/>
              <a:t> </a:t>
            </a:r>
            <a:r>
              <a:rPr lang="en-US" b="1" i="1" dirty="0"/>
              <a:t>theory </a:t>
            </a:r>
            <a:r>
              <a:rPr lang="en-US" dirty="0"/>
              <a:t>of justification in applied ethics</a:t>
            </a:r>
          </a:p>
          <a:p>
            <a:pPr lvl="1"/>
            <a:r>
              <a:rPr lang="en-US" dirty="0"/>
              <a:t>Normative justification is a matter of </a:t>
            </a:r>
            <a:r>
              <a:rPr lang="en-US" i="1" dirty="0"/>
              <a:t>degree</a:t>
            </a:r>
            <a:r>
              <a:rPr lang="en-US" dirty="0"/>
              <a:t> rather than </a:t>
            </a:r>
            <a:r>
              <a:rPr lang="en-US" i="1" dirty="0"/>
              <a:t>absolutism</a:t>
            </a:r>
          </a:p>
          <a:p>
            <a:pPr lvl="1"/>
            <a:r>
              <a:rPr lang="en-US" dirty="0"/>
              <a:t>Normative claims are justified to the extent that they are coherent with all relevant reasons involved (both facts and values) and with our stable and considered moral intuitions with regard to the case</a:t>
            </a:r>
          </a:p>
        </p:txBody>
      </p:sp>
    </p:spTree>
    <p:extLst>
      <p:ext uri="{BB962C8B-B14F-4D97-AF65-F5344CB8AC3E}">
        <p14:creationId xmlns:p14="http://schemas.microsoft.com/office/powerpoint/2010/main" val="427068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5EC7077-9C88-3E49-9939-E3E9FC22995A}"/>
              </a:ext>
            </a:extLst>
          </p:cNvPr>
          <p:cNvSpPr>
            <a:spLocks noGrp="1"/>
          </p:cNvSpPr>
          <p:nvPr>
            <p:ph type="title"/>
          </p:nvPr>
        </p:nvSpPr>
        <p:spPr>
          <a:xfrm>
            <a:off x="1505503" y="332763"/>
            <a:ext cx="5937755" cy="1188720"/>
          </a:xfrm>
        </p:spPr>
        <p:txBody>
          <a:bodyPr/>
          <a:lstStyle/>
          <a:p>
            <a:r>
              <a:rPr lang="en-US" dirty="0"/>
              <a:t>Reflective equilibrium: Smith and the exoskeleton</a:t>
            </a:r>
          </a:p>
        </p:txBody>
      </p:sp>
      <p:sp>
        <p:nvSpPr>
          <p:cNvPr id="5" name="Ellips 4">
            <a:extLst>
              <a:ext uri="{FF2B5EF4-FFF2-40B4-BE49-F238E27FC236}">
                <a16:creationId xmlns:a16="http://schemas.microsoft.com/office/drawing/2014/main" id="{4849A955-7D73-3F46-8928-350560CB748C}"/>
              </a:ext>
            </a:extLst>
          </p:cNvPr>
          <p:cNvSpPr/>
          <p:nvPr/>
        </p:nvSpPr>
        <p:spPr>
          <a:xfrm>
            <a:off x="4572000" y="2202873"/>
            <a:ext cx="304800" cy="304800"/>
          </a:xfrm>
          <a:prstGeom prst="ellipse">
            <a:avLst/>
          </a:prstGeom>
          <a:solidFill>
            <a:schemeClr val="accent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Ellips 5">
            <a:extLst>
              <a:ext uri="{FF2B5EF4-FFF2-40B4-BE49-F238E27FC236}">
                <a16:creationId xmlns:a16="http://schemas.microsoft.com/office/drawing/2014/main" id="{86109298-C2F3-8D4C-878C-0DF1496119BA}"/>
              </a:ext>
            </a:extLst>
          </p:cNvPr>
          <p:cNvSpPr/>
          <p:nvPr/>
        </p:nvSpPr>
        <p:spPr>
          <a:xfrm>
            <a:off x="5777345" y="2944092"/>
            <a:ext cx="422563" cy="422563"/>
          </a:xfrm>
          <a:prstGeom prst="ellipse">
            <a:avLst/>
          </a:prstGeom>
          <a:solidFill>
            <a:schemeClr val="accent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Ellips 6">
            <a:extLst>
              <a:ext uri="{FF2B5EF4-FFF2-40B4-BE49-F238E27FC236}">
                <a16:creationId xmlns:a16="http://schemas.microsoft.com/office/drawing/2014/main" id="{D8F9C1D3-EC04-6B4B-814B-368D48B5231B}"/>
              </a:ext>
            </a:extLst>
          </p:cNvPr>
          <p:cNvSpPr/>
          <p:nvPr/>
        </p:nvSpPr>
        <p:spPr>
          <a:xfrm>
            <a:off x="4724400" y="3002973"/>
            <a:ext cx="259772" cy="259772"/>
          </a:xfrm>
          <a:prstGeom prst="ellipse">
            <a:avLst/>
          </a:prstGeom>
          <a:solidFill>
            <a:schemeClr val="accent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Ellips 7">
            <a:extLst>
              <a:ext uri="{FF2B5EF4-FFF2-40B4-BE49-F238E27FC236}">
                <a16:creationId xmlns:a16="http://schemas.microsoft.com/office/drawing/2014/main" id="{EF6EA00F-4A12-E44B-8378-96A0FF670AF4}"/>
              </a:ext>
            </a:extLst>
          </p:cNvPr>
          <p:cNvSpPr/>
          <p:nvPr/>
        </p:nvSpPr>
        <p:spPr>
          <a:xfrm>
            <a:off x="3117273" y="2442084"/>
            <a:ext cx="560889" cy="560889"/>
          </a:xfrm>
          <a:prstGeom prst="ellipse">
            <a:avLst/>
          </a:prstGeom>
          <a:solidFill>
            <a:schemeClr val="accent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Ellips 8">
            <a:extLst>
              <a:ext uri="{FF2B5EF4-FFF2-40B4-BE49-F238E27FC236}">
                <a16:creationId xmlns:a16="http://schemas.microsoft.com/office/drawing/2014/main" id="{29004203-92A3-6241-BA46-C8580BD30FCB}"/>
              </a:ext>
            </a:extLst>
          </p:cNvPr>
          <p:cNvSpPr/>
          <p:nvPr/>
        </p:nvSpPr>
        <p:spPr>
          <a:xfrm>
            <a:off x="3900054" y="3397218"/>
            <a:ext cx="131619" cy="131619"/>
          </a:xfrm>
          <a:prstGeom prst="ellipse">
            <a:avLst/>
          </a:prstGeom>
          <a:solidFill>
            <a:schemeClr val="accent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Ellips 9">
            <a:extLst>
              <a:ext uri="{FF2B5EF4-FFF2-40B4-BE49-F238E27FC236}">
                <a16:creationId xmlns:a16="http://schemas.microsoft.com/office/drawing/2014/main" id="{E0F46FE1-8431-E342-8677-F2135430E24E}"/>
              </a:ext>
            </a:extLst>
          </p:cNvPr>
          <p:cNvSpPr/>
          <p:nvPr/>
        </p:nvSpPr>
        <p:spPr>
          <a:xfrm>
            <a:off x="3328224" y="3951097"/>
            <a:ext cx="304800" cy="304800"/>
          </a:xfrm>
          <a:prstGeom prst="ellipse">
            <a:avLst/>
          </a:prstGeom>
          <a:solidFill>
            <a:schemeClr val="accent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Ellips 10">
            <a:extLst>
              <a:ext uri="{FF2B5EF4-FFF2-40B4-BE49-F238E27FC236}">
                <a16:creationId xmlns:a16="http://schemas.microsoft.com/office/drawing/2014/main" id="{25419F04-08F7-4440-82B4-DD12856B7451}"/>
              </a:ext>
            </a:extLst>
          </p:cNvPr>
          <p:cNvSpPr/>
          <p:nvPr/>
        </p:nvSpPr>
        <p:spPr>
          <a:xfrm>
            <a:off x="4419599" y="4109149"/>
            <a:ext cx="374073" cy="374073"/>
          </a:xfrm>
          <a:prstGeom prst="ellipse">
            <a:avLst/>
          </a:prstGeom>
          <a:solidFill>
            <a:schemeClr val="accent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Ellips 11">
            <a:extLst>
              <a:ext uri="{FF2B5EF4-FFF2-40B4-BE49-F238E27FC236}">
                <a16:creationId xmlns:a16="http://schemas.microsoft.com/office/drawing/2014/main" id="{AD2A19BE-86F5-F142-820A-94FD2EA9684C}"/>
              </a:ext>
            </a:extLst>
          </p:cNvPr>
          <p:cNvSpPr/>
          <p:nvPr/>
        </p:nvSpPr>
        <p:spPr>
          <a:xfrm>
            <a:off x="5313327" y="3743581"/>
            <a:ext cx="637309" cy="637309"/>
          </a:xfrm>
          <a:prstGeom prst="ellipse">
            <a:avLst/>
          </a:prstGeom>
          <a:solidFill>
            <a:schemeClr val="accent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4" name="Rak 13">
            <a:extLst>
              <a:ext uri="{FF2B5EF4-FFF2-40B4-BE49-F238E27FC236}">
                <a16:creationId xmlns:a16="http://schemas.microsoft.com/office/drawing/2014/main" id="{D245DE0A-F794-8245-B9BF-6A01B51F262D}"/>
              </a:ext>
            </a:extLst>
          </p:cNvPr>
          <p:cNvCxnSpPr>
            <a:cxnSpLocks/>
            <a:stCxn id="8" idx="1"/>
            <a:endCxn id="51" idx="2"/>
          </p:cNvCxnSpPr>
          <p:nvPr/>
        </p:nvCxnSpPr>
        <p:spPr>
          <a:xfrm flipH="1" flipV="1">
            <a:off x="2433659" y="2156968"/>
            <a:ext cx="765754" cy="36725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Rak 15">
            <a:extLst>
              <a:ext uri="{FF2B5EF4-FFF2-40B4-BE49-F238E27FC236}">
                <a16:creationId xmlns:a16="http://schemas.microsoft.com/office/drawing/2014/main" id="{60F14F56-C71D-1940-8E46-B0644F50D36A}"/>
              </a:ext>
            </a:extLst>
          </p:cNvPr>
          <p:cNvCxnSpPr>
            <a:cxnSpLocks/>
            <a:stCxn id="53" idx="2"/>
            <a:endCxn id="5" idx="0"/>
          </p:cNvCxnSpPr>
          <p:nvPr/>
        </p:nvCxnSpPr>
        <p:spPr>
          <a:xfrm flipH="1">
            <a:off x="4724400" y="1877079"/>
            <a:ext cx="629737" cy="32579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Rak 18">
            <a:extLst>
              <a:ext uri="{FF2B5EF4-FFF2-40B4-BE49-F238E27FC236}">
                <a16:creationId xmlns:a16="http://schemas.microsoft.com/office/drawing/2014/main" id="{2B49D71F-84A4-CD4A-9FA8-366E851F76D2}"/>
              </a:ext>
            </a:extLst>
          </p:cNvPr>
          <p:cNvCxnSpPr>
            <a:cxnSpLocks/>
            <a:stCxn id="49" idx="2"/>
            <a:endCxn id="6" idx="7"/>
          </p:cNvCxnSpPr>
          <p:nvPr/>
        </p:nvCxnSpPr>
        <p:spPr>
          <a:xfrm flipH="1">
            <a:off x="6138025" y="2509365"/>
            <a:ext cx="727498" cy="49661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Rak 21">
            <a:extLst>
              <a:ext uri="{FF2B5EF4-FFF2-40B4-BE49-F238E27FC236}">
                <a16:creationId xmlns:a16="http://schemas.microsoft.com/office/drawing/2014/main" id="{AAC07601-3FF7-CB49-985D-FC5F2067EC6D}"/>
              </a:ext>
            </a:extLst>
          </p:cNvPr>
          <p:cNvCxnSpPr>
            <a:cxnSpLocks/>
          </p:cNvCxnSpPr>
          <p:nvPr/>
        </p:nvCxnSpPr>
        <p:spPr>
          <a:xfrm>
            <a:off x="5631981" y="4062235"/>
            <a:ext cx="502956" cy="592892"/>
          </a:xfrm>
          <a:prstGeom prst="line">
            <a:avLst/>
          </a:prstGeom>
          <a:ln w="9525" cap="flat" cmpd="sng" algn="ctr">
            <a:no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Rak 28">
            <a:extLst>
              <a:ext uri="{FF2B5EF4-FFF2-40B4-BE49-F238E27FC236}">
                <a16:creationId xmlns:a16="http://schemas.microsoft.com/office/drawing/2014/main" id="{427B7F2C-1BB8-2843-B975-4330ED7881DB}"/>
              </a:ext>
            </a:extLst>
          </p:cNvPr>
          <p:cNvCxnSpPr>
            <a:cxnSpLocks/>
            <a:stCxn id="11" idx="4"/>
            <a:endCxn id="54" idx="0"/>
          </p:cNvCxnSpPr>
          <p:nvPr/>
        </p:nvCxnSpPr>
        <p:spPr>
          <a:xfrm>
            <a:off x="4606636" y="4483222"/>
            <a:ext cx="247650" cy="797488"/>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 name="Rak 30">
            <a:extLst>
              <a:ext uri="{FF2B5EF4-FFF2-40B4-BE49-F238E27FC236}">
                <a16:creationId xmlns:a16="http://schemas.microsoft.com/office/drawing/2014/main" id="{91CCD962-73FD-8B4F-9798-20F675552EF4}"/>
              </a:ext>
            </a:extLst>
          </p:cNvPr>
          <p:cNvCxnSpPr>
            <a:cxnSpLocks/>
            <a:stCxn id="10" idx="3"/>
            <a:endCxn id="55" idx="0"/>
          </p:cNvCxnSpPr>
          <p:nvPr/>
        </p:nvCxnSpPr>
        <p:spPr>
          <a:xfrm flipH="1">
            <a:off x="2671424" y="4211260"/>
            <a:ext cx="701437" cy="59528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Rak 44">
            <a:extLst>
              <a:ext uri="{FF2B5EF4-FFF2-40B4-BE49-F238E27FC236}">
                <a16:creationId xmlns:a16="http://schemas.microsoft.com/office/drawing/2014/main" id="{87D0D1EE-66D8-B844-A79D-B6F5F43B3CC5}"/>
              </a:ext>
            </a:extLst>
          </p:cNvPr>
          <p:cNvCxnSpPr>
            <a:cxnSpLocks/>
            <a:stCxn id="12" idx="5"/>
            <a:endCxn id="48" idx="0"/>
          </p:cNvCxnSpPr>
          <p:nvPr/>
        </p:nvCxnSpPr>
        <p:spPr>
          <a:xfrm>
            <a:off x="5857304" y="4287558"/>
            <a:ext cx="775564" cy="31798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8" name="textruta 47">
            <a:extLst>
              <a:ext uri="{FF2B5EF4-FFF2-40B4-BE49-F238E27FC236}">
                <a16:creationId xmlns:a16="http://schemas.microsoft.com/office/drawing/2014/main" id="{B264BB07-794E-AF45-B6BE-7B0A0FEFF52A}"/>
              </a:ext>
            </a:extLst>
          </p:cNvPr>
          <p:cNvSpPr txBox="1"/>
          <p:nvPr/>
        </p:nvSpPr>
        <p:spPr>
          <a:xfrm>
            <a:off x="5857304" y="4605544"/>
            <a:ext cx="1551128" cy="276999"/>
          </a:xfrm>
          <a:prstGeom prst="rect">
            <a:avLst/>
          </a:prstGeom>
          <a:noFill/>
        </p:spPr>
        <p:txBody>
          <a:bodyPr wrap="square" rtlCol="0">
            <a:spAutoFit/>
          </a:bodyPr>
          <a:lstStyle/>
          <a:p>
            <a:r>
              <a:rPr lang="en-US" sz="1200" dirty="0"/>
              <a:t>Autonomy is valuable</a:t>
            </a:r>
          </a:p>
        </p:txBody>
      </p:sp>
      <p:sp>
        <p:nvSpPr>
          <p:cNvPr id="49" name="textruta 48">
            <a:extLst>
              <a:ext uri="{FF2B5EF4-FFF2-40B4-BE49-F238E27FC236}">
                <a16:creationId xmlns:a16="http://schemas.microsoft.com/office/drawing/2014/main" id="{21AF60E7-D6BF-5B4E-ABA4-F7D42D892F1E}"/>
              </a:ext>
            </a:extLst>
          </p:cNvPr>
          <p:cNvSpPr txBox="1"/>
          <p:nvPr/>
        </p:nvSpPr>
        <p:spPr>
          <a:xfrm>
            <a:off x="5436798" y="2232366"/>
            <a:ext cx="2857449" cy="276999"/>
          </a:xfrm>
          <a:prstGeom prst="rect">
            <a:avLst/>
          </a:prstGeom>
          <a:noFill/>
        </p:spPr>
        <p:txBody>
          <a:bodyPr wrap="none" rtlCol="0">
            <a:spAutoFit/>
          </a:bodyPr>
          <a:lstStyle/>
          <a:p>
            <a:r>
              <a:rPr lang="en-US" sz="1200" dirty="0"/>
              <a:t>We should contribute to others’ well-being</a:t>
            </a:r>
          </a:p>
        </p:txBody>
      </p:sp>
      <p:sp>
        <p:nvSpPr>
          <p:cNvPr id="51" name="textruta 50">
            <a:extLst>
              <a:ext uri="{FF2B5EF4-FFF2-40B4-BE49-F238E27FC236}">
                <a16:creationId xmlns:a16="http://schemas.microsoft.com/office/drawing/2014/main" id="{A1A60850-C0F7-074E-B318-390332B39238}"/>
              </a:ext>
            </a:extLst>
          </p:cNvPr>
          <p:cNvSpPr txBox="1"/>
          <p:nvPr/>
        </p:nvSpPr>
        <p:spPr>
          <a:xfrm>
            <a:off x="967263" y="1879969"/>
            <a:ext cx="2932791" cy="276999"/>
          </a:xfrm>
          <a:prstGeom prst="rect">
            <a:avLst/>
          </a:prstGeom>
          <a:noFill/>
        </p:spPr>
        <p:txBody>
          <a:bodyPr wrap="none" rtlCol="0">
            <a:spAutoFit/>
          </a:bodyPr>
          <a:lstStyle/>
          <a:p>
            <a:r>
              <a:rPr lang="en-US" sz="1200" dirty="0"/>
              <a:t>People should be allowed to live as they like</a:t>
            </a:r>
          </a:p>
        </p:txBody>
      </p:sp>
      <p:sp>
        <p:nvSpPr>
          <p:cNvPr id="53" name="textruta 52">
            <a:extLst>
              <a:ext uri="{FF2B5EF4-FFF2-40B4-BE49-F238E27FC236}">
                <a16:creationId xmlns:a16="http://schemas.microsoft.com/office/drawing/2014/main" id="{D077FC4E-F273-0947-97B0-FB21A9B1264D}"/>
              </a:ext>
            </a:extLst>
          </p:cNvPr>
          <p:cNvSpPr txBox="1"/>
          <p:nvPr/>
        </p:nvSpPr>
        <p:spPr>
          <a:xfrm>
            <a:off x="3617956" y="1600080"/>
            <a:ext cx="3472361" cy="276999"/>
          </a:xfrm>
          <a:prstGeom prst="rect">
            <a:avLst/>
          </a:prstGeom>
          <a:noFill/>
        </p:spPr>
        <p:txBody>
          <a:bodyPr wrap="none" rtlCol="0">
            <a:spAutoFit/>
          </a:bodyPr>
          <a:lstStyle/>
          <a:p>
            <a:r>
              <a:rPr lang="en-US" sz="1200" dirty="0"/>
              <a:t>Being dependent on others is sometimes a bad thing</a:t>
            </a:r>
          </a:p>
        </p:txBody>
      </p:sp>
      <p:sp>
        <p:nvSpPr>
          <p:cNvPr id="54" name="textruta 53">
            <a:extLst>
              <a:ext uri="{FF2B5EF4-FFF2-40B4-BE49-F238E27FC236}">
                <a16:creationId xmlns:a16="http://schemas.microsoft.com/office/drawing/2014/main" id="{8FB8DA22-4817-FB4C-A08B-392526D63CC2}"/>
              </a:ext>
            </a:extLst>
          </p:cNvPr>
          <p:cNvSpPr txBox="1"/>
          <p:nvPr/>
        </p:nvSpPr>
        <p:spPr>
          <a:xfrm>
            <a:off x="2928502" y="5280710"/>
            <a:ext cx="3851567" cy="276999"/>
          </a:xfrm>
          <a:prstGeom prst="rect">
            <a:avLst/>
          </a:prstGeom>
          <a:noFill/>
        </p:spPr>
        <p:txBody>
          <a:bodyPr wrap="none" rtlCol="0">
            <a:spAutoFit/>
          </a:bodyPr>
          <a:lstStyle/>
          <a:p>
            <a:r>
              <a:rPr lang="en-US" sz="1200" dirty="0"/>
              <a:t>We should try to prevent people from harming themselves</a:t>
            </a:r>
          </a:p>
        </p:txBody>
      </p:sp>
      <p:sp>
        <p:nvSpPr>
          <p:cNvPr id="55" name="textruta 54">
            <a:extLst>
              <a:ext uri="{FF2B5EF4-FFF2-40B4-BE49-F238E27FC236}">
                <a16:creationId xmlns:a16="http://schemas.microsoft.com/office/drawing/2014/main" id="{F329A34E-7F66-7E43-B271-F749D380E9DF}"/>
              </a:ext>
            </a:extLst>
          </p:cNvPr>
          <p:cNvSpPr txBox="1"/>
          <p:nvPr/>
        </p:nvSpPr>
        <p:spPr>
          <a:xfrm>
            <a:off x="1054603" y="4806540"/>
            <a:ext cx="3233642" cy="276999"/>
          </a:xfrm>
          <a:prstGeom prst="rect">
            <a:avLst/>
          </a:prstGeom>
          <a:noFill/>
        </p:spPr>
        <p:txBody>
          <a:bodyPr wrap="none" rtlCol="0">
            <a:spAutoFit/>
          </a:bodyPr>
          <a:lstStyle/>
          <a:p>
            <a:r>
              <a:rPr lang="en-US" sz="1200" dirty="0"/>
              <a:t>Healthcare resources should be justly distributed</a:t>
            </a:r>
          </a:p>
        </p:txBody>
      </p:sp>
      <p:cxnSp>
        <p:nvCxnSpPr>
          <p:cNvPr id="77" name="Rak 76">
            <a:extLst>
              <a:ext uri="{FF2B5EF4-FFF2-40B4-BE49-F238E27FC236}">
                <a16:creationId xmlns:a16="http://schemas.microsoft.com/office/drawing/2014/main" id="{BD42CBCC-7B91-9945-8016-7045E286AA6D}"/>
              </a:ext>
            </a:extLst>
          </p:cNvPr>
          <p:cNvCxnSpPr>
            <a:cxnSpLocks/>
            <a:stCxn id="5" idx="6"/>
            <a:endCxn id="6" idx="1"/>
          </p:cNvCxnSpPr>
          <p:nvPr/>
        </p:nvCxnSpPr>
        <p:spPr>
          <a:xfrm>
            <a:off x="4876800" y="2355273"/>
            <a:ext cx="962428" cy="65070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9" name="Rak 78">
            <a:extLst>
              <a:ext uri="{FF2B5EF4-FFF2-40B4-BE49-F238E27FC236}">
                <a16:creationId xmlns:a16="http://schemas.microsoft.com/office/drawing/2014/main" id="{E54572DE-341D-1E4E-AE7F-9D41FFC3564C}"/>
              </a:ext>
            </a:extLst>
          </p:cNvPr>
          <p:cNvCxnSpPr>
            <a:stCxn id="7" idx="6"/>
            <a:endCxn id="6" idx="2"/>
          </p:cNvCxnSpPr>
          <p:nvPr/>
        </p:nvCxnSpPr>
        <p:spPr>
          <a:xfrm>
            <a:off x="4984172" y="3132859"/>
            <a:ext cx="793173" cy="22515"/>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1" name="Rak 80">
            <a:extLst>
              <a:ext uri="{FF2B5EF4-FFF2-40B4-BE49-F238E27FC236}">
                <a16:creationId xmlns:a16="http://schemas.microsoft.com/office/drawing/2014/main" id="{3E8C9C7F-C61B-8141-9910-F46E4D271255}"/>
              </a:ext>
            </a:extLst>
          </p:cNvPr>
          <p:cNvCxnSpPr>
            <a:stCxn id="5" idx="4"/>
            <a:endCxn id="7" idx="0"/>
          </p:cNvCxnSpPr>
          <p:nvPr/>
        </p:nvCxnSpPr>
        <p:spPr>
          <a:xfrm>
            <a:off x="4724400" y="2507673"/>
            <a:ext cx="129886" cy="4953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3" name="Rak 82">
            <a:extLst>
              <a:ext uri="{FF2B5EF4-FFF2-40B4-BE49-F238E27FC236}">
                <a16:creationId xmlns:a16="http://schemas.microsoft.com/office/drawing/2014/main" id="{8520C359-FFEF-A24C-B262-81EAE8839323}"/>
              </a:ext>
            </a:extLst>
          </p:cNvPr>
          <p:cNvCxnSpPr>
            <a:cxnSpLocks/>
            <a:stCxn id="5" idx="2"/>
            <a:endCxn id="8" idx="7"/>
          </p:cNvCxnSpPr>
          <p:nvPr/>
        </p:nvCxnSpPr>
        <p:spPr>
          <a:xfrm flipH="1">
            <a:off x="3596022" y="2355273"/>
            <a:ext cx="975978" cy="168951"/>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5" name="Rak 84">
            <a:extLst>
              <a:ext uri="{FF2B5EF4-FFF2-40B4-BE49-F238E27FC236}">
                <a16:creationId xmlns:a16="http://schemas.microsoft.com/office/drawing/2014/main" id="{F00D9521-60A7-0141-A313-19763C8AA8E9}"/>
              </a:ext>
            </a:extLst>
          </p:cNvPr>
          <p:cNvCxnSpPr>
            <a:stCxn id="8" idx="5"/>
            <a:endCxn id="7" idx="2"/>
          </p:cNvCxnSpPr>
          <p:nvPr/>
        </p:nvCxnSpPr>
        <p:spPr>
          <a:xfrm>
            <a:off x="3596022" y="2920833"/>
            <a:ext cx="1128378" cy="21202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7" name="Rak 86">
            <a:extLst>
              <a:ext uri="{FF2B5EF4-FFF2-40B4-BE49-F238E27FC236}">
                <a16:creationId xmlns:a16="http://schemas.microsoft.com/office/drawing/2014/main" id="{6B8120FB-ED80-204E-8446-77E4E8481133}"/>
              </a:ext>
            </a:extLst>
          </p:cNvPr>
          <p:cNvCxnSpPr>
            <a:stCxn id="8" idx="4"/>
            <a:endCxn id="10" idx="0"/>
          </p:cNvCxnSpPr>
          <p:nvPr/>
        </p:nvCxnSpPr>
        <p:spPr>
          <a:xfrm>
            <a:off x="3397718" y="3002973"/>
            <a:ext cx="82906" cy="94812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9" name="Rak 88">
            <a:extLst>
              <a:ext uri="{FF2B5EF4-FFF2-40B4-BE49-F238E27FC236}">
                <a16:creationId xmlns:a16="http://schemas.microsoft.com/office/drawing/2014/main" id="{9AC637A4-7C29-834A-9AF7-0623A3FB249F}"/>
              </a:ext>
            </a:extLst>
          </p:cNvPr>
          <p:cNvCxnSpPr>
            <a:stCxn id="10" idx="5"/>
            <a:endCxn id="11" idx="2"/>
          </p:cNvCxnSpPr>
          <p:nvPr/>
        </p:nvCxnSpPr>
        <p:spPr>
          <a:xfrm>
            <a:off x="3588387" y="4211260"/>
            <a:ext cx="831212" cy="8492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1" name="Rak 90">
            <a:extLst>
              <a:ext uri="{FF2B5EF4-FFF2-40B4-BE49-F238E27FC236}">
                <a16:creationId xmlns:a16="http://schemas.microsoft.com/office/drawing/2014/main" id="{998DF527-E3DD-5E4D-BEC3-6BA3C72C2E38}"/>
              </a:ext>
            </a:extLst>
          </p:cNvPr>
          <p:cNvCxnSpPr>
            <a:stCxn id="11" idx="6"/>
            <a:endCxn id="12" idx="3"/>
          </p:cNvCxnSpPr>
          <p:nvPr/>
        </p:nvCxnSpPr>
        <p:spPr>
          <a:xfrm flipV="1">
            <a:off x="4793672" y="4287558"/>
            <a:ext cx="612987" cy="862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3" name="Rak 92">
            <a:extLst>
              <a:ext uri="{FF2B5EF4-FFF2-40B4-BE49-F238E27FC236}">
                <a16:creationId xmlns:a16="http://schemas.microsoft.com/office/drawing/2014/main" id="{CF59AB7F-EA2D-1D40-9C95-BA0EEB2377BA}"/>
              </a:ext>
            </a:extLst>
          </p:cNvPr>
          <p:cNvCxnSpPr>
            <a:stCxn id="12" idx="7"/>
            <a:endCxn id="6" idx="4"/>
          </p:cNvCxnSpPr>
          <p:nvPr/>
        </p:nvCxnSpPr>
        <p:spPr>
          <a:xfrm flipV="1">
            <a:off x="5857304" y="3366655"/>
            <a:ext cx="131323" cy="47025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5" name="Rak 94">
            <a:extLst>
              <a:ext uri="{FF2B5EF4-FFF2-40B4-BE49-F238E27FC236}">
                <a16:creationId xmlns:a16="http://schemas.microsoft.com/office/drawing/2014/main" id="{7413C322-1E0C-084C-B670-98B0D119762B}"/>
              </a:ext>
            </a:extLst>
          </p:cNvPr>
          <p:cNvCxnSpPr>
            <a:cxnSpLocks/>
            <a:stCxn id="10" idx="7"/>
            <a:endCxn id="9" idx="3"/>
          </p:cNvCxnSpPr>
          <p:nvPr/>
        </p:nvCxnSpPr>
        <p:spPr>
          <a:xfrm flipV="1">
            <a:off x="3588387" y="3509562"/>
            <a:ext cx="330942" cy="48617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8" name="Rak 97">
            <a:extLst>
              <a:ext uri="{FF2B5EF4-FFF2-40B4-BE49-F238E27FC236}">
                <a16:creationId xmlns:a16="http://schemas.microsoft.com/office/drawing/2014/main" id="{6FE1E17E-ACE8-F74F-BCED-C0628D68AF85}"/>
              </a:ext>
            </a:extLst>
          </p:cNvPr>
          <p:cNvCxnSpPr>
            <a:stCxn id="8" idx="5"/>
            <a:endCxn id="9" idx="1"/>
          </p:cNvCxnSpPr>
          <p:nvPr/>
        </p:nvCxnSpPr>
        <p:spPr>
          <a:xfrm>
            <a:off x="3596022" y="2920833"/>
            <a:ext cx="323307" cy="49566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0" name="Rak 99">
            <a:extLst>
              <a:ext uri="{FF2B5EF4-FFF2-40B4-BE49-F238E27FC236}">
                <a16:creationId xmlns:a16="http://schemas.microsoft.com/office/drawing/2014/main" id="{44C26C20-5877-1040-998A-FD12890E8A76}"/>
              </a:ext>
            </a:extLst>
          </p:cNvPr>
          <p:cNvCxnSpPr>
            <a:stCxn id="9" idx="7"/>
            <a:endCxn id="7" idx="3"/>
          </p:cNvCxnSpPr>
          <p:nvPr/>
        </p:nvCxnSpPr>
        <p:spPr>
          <a:xfrm flipV="1">
            <a:off x="4012398" y="3224702"/>
            <a:ext cx="750045" cy="191791"/>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2" name="Rak 101">
            <a:extLst>
              <a:ext uri="{FF2B5EF4-FFF2-40B4-BE49-F238E27FC236}">
                <a16:creationId xmlns:a16="http://schemas.microsoft.com/office/drawing/2014/main" id="{CEE364E0-37BD-4043-A605-BDF84823DEFE}"/>
              </a:ext>
            </a:extLst>
          </p:cNvPr>
          <p:cNvCxnSpPr>
            <a:stCxn id="9" idx="5"/>
            <a:endCxn id="11" idx="1"/>
          </p:cNvCxnSpPr>
          <p:nvPr/>
        </p:nvCxnSpPr>
        <p:spPr>
          <a:xfrm>
            <a:off x="4012398" y="3509562"/>
            <a:ext cx="461983" cy="65436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4" name="Rak 103">
            <a:extLst>
              <a:ext uri="{FF2B5EF4-FFF2-40B4-BE49-F238E27FC236}">
                <a16:creationId xmlns:a16="http://schemas.microsoft.com/office/drawing/2014/main" id="{DD7F72F2-667E-D94A-A14E-F0D134992359}"/>
              </a:ext>
            </a:extLst>
          </p:cNvPr>
          <p:cNvCxnSpPr>
            <a:stCxn id="7" idx="5"/>
            <a:endCxn id="12" idx="1"/>
          </p:cNvCxnSpPr>
          <p:nvPr/>
        </p:nvCxnSpPr>
        <p:spPr>
          <a:xfrm>
            <a:off x="4946129" y="3224702"/>
            <a:ext cx="460530" cy="612211"/>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6" name="Rak 105">
            <a:extLst>
              <a:ext uri="{FF2B5EF4-FFF2-40B4-BE49-F238E27FC236}">
                <a16:creationId xmlns:a16="http://schemas.microsoft.com/office/drawing/2014/main" id="{4D343112-79EA-374C-BA8F-99273F55FC39}"/>
              </a:ext>
            </a:extLst>
          </p:cNvPr>
          <p:cNvCxnSpPr>
            <a:stCxn id="7" idx="4"/>
            <a:endCxn id="11" idx="0"/>
          </p:cNvCxnSpPr>
          <p:nvPr/>
        </p:nvCxnSpPr>
        <p:spPr>
          <a:xfrm flipH="1">
            <a:off x="4606636" y="3262745"/>
            <a:ext cx="247650" cy="84640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7" name="Ellips 106">
            <a:extLst>
              <a:ext uri="{FF2B5EF4-FFF2-40B4-BE49-F238E27FC236}">
                <a16:creationId xmlns:a16="http://schemas.microsoft.com/office/drawing/2014/main" id="{EC1003EC-43AD-DB45-8865-3BC1F5324202}"/>
              </a:ext>
            </a:extLst>
          </p:cNvPr>
          <p:cNvSpPr/>
          <p:nvPr/>
        </p:nvSpPr>
        <p:spPr>
          <a:xfrm>
            <a:off x="2458961" y="3483323"/>
            <a:ext cx="405247" cy="405247"/>
          </a:xfrm>
          <a:prstGeom prst="ellipse">
            <a:avLst/>
          </a:prstGeom>
          <a:solidFill>
            <a:schemeClr val="accent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8" name="Rak 107">
            <a:extLst>
              <a:ext uri="{FF2B5EF4-FFF2-40B4-BE49-F238E27FC236}">
                <a16:creationId xmlns:a16="http://schemas.microsoft.com/office/drawing/2014/main" id="{02F4C827-A9E7-4A4A-B56B-475C8CCF68D9}"/>
              </a:ext>
            </a:extLst>
          </p:cNvPr>
          <p:cNvCxnSpPr>
            <a:cxnSpLocks/>
            <a:stCxn id="107" idx="2"/>
            <a:endCxn id="111" idx="2"/>
          </p:cNvCxnSpPr>
          <p:nvPr/>
        </p:nvCxnSpPr>
        <p:spPr>
          <a:xfrm flipH="1" flipV="1">
            <a:off x="1699058" y="3385094"/>
            <a:ext cx="759903" cy="300853"/>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1" name="textruta 110">
            <a:extLst>
              <a:ext uri="{FF2B5EF4-FFF2-40B4-BE49-F238E27FC236}">
                <a16:creationId xmlns:a16="http://schemas.microsoft.com/office/drawing/2014/main" id="{0FA882E3-11CE-6A4A-AF79-672344F16E3D}"/>
              </a:ext>
            </a:extLst>
          </p:cNvPr>
          <p:cNvSpPr txBox="1"/>
          <p:nvPr/>
        </p:nvSpPr>
        <p:spPr>
          <a:xfrm>
            <a:off x="525050" y="2923429"/>
            <a:ext cx="2348015" cy="461665"/>
          </a:xfrm>
          <a:prstGeom prst="rect">
            <a:avLst/>
          </a:prstGeom>
          <a:noFill/>
        </p:spPr>
        <p:txBody>
          <a:bodyPr wrap="none" rtlCol="0">
            <a:spAutoFit/>
          </a:bodyPr>
          <a:lstStyle/>
          <a:p>
            <a:pPr algn="ctr"/>
            <a:r>
              <a:rPr lang="en-US" sz="1200" b="1" dirty="0"/>
              <a:t>Smith should be provided with an</a:t>
            </a:r>
          </a:p>
          <a:p>
            <a:pPr algn="ctr"/>
            <a:r>
              <a:rPr lang="en-US" sz="1200" b="1" dirty="0"/>
              <a:t>exoskeleton with no restrictions</a:t>
            </a:r>
          </a:p>
        </p:txBody>
      </p:sp>
      <p:sp>
        <p:nvSpPr>
          <p:cNvPr id="115" name="Blixt 114">
            <a:extLst>
              <a:ext uri="{FF2B5EF4-FFF2-40B4-BE49-F238E27FC236}">
                <a16:creationId xmlns:a16="http://schemas.microsoft.com/office/drawing/2014/main" id="{B0717D63-18A4-1448-AC1F-054F70AC4D02}"/>
              </a:ext>
            </a:extLst>
          </p:cNvPr>
          <p:cNvSpPr/>
          <p:nvPr/>
        </p:nvSpPr>
        <p:spPr>
          <a:xfrm flipV="1">
            <a:off x="2719123" y="3397218"/>
            <a:ext cx="730286" cy="276336"/>
          </a:xfrm>
          <a:prstGeom prst="lightningBol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Ellips 42">
            <a:extLst>
              <a:ext uri="{FF2B5EF4-FFF2-40B4-BE49-F238E27FC236}">
                <a16:creationId xmlns:a16="http://schemas.microsoft.com/office/drawing/2014/main" id="{B7823D48-EDA3-C249-AC74-71800156734C}"/>
              </a:ext>
            </a:extLst>
          </p:cNvPr>
          <p:cNvSpPr/>
          <p:nvPr/>
        </p:nvSpPr>
        <p:spPr>
          <a:xfrm>
            <a:off x="6430244" y="3586216"/>
            <a:ext cx="405247" cy="405247"/>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accent6"/>
              </a:solidFill>
            </a:endParaRPr>
          </a:p>
        </p:txBody>
      </p:sp>
      <p:sp>
        <p:nvSpPr>
          <p:cNvPr id="44" name="textruta 43">
            <a:extLst>
              <a:ext uri="{FF2B5EF4-FFF2-40B4-BE49-F238E27FC236}">
                <a16:creationId xmlns:a16="http://schemas.microsoft.com/office/drawing/2014/main" id="{AF8BD2C1-71CB-CF4D-B176-F914708F6F45}"/>
              </a:ext>
            </a:extLst>
          </p:cNvPr>
          <p:cNvSpPr txBox="1"/>
          <p:nvPr/>
        </p:nvSpPr>
        <p:spPr>
          <a:xfrm>
            <a:off x="6498705" y="2957931"/>
            <a:ext cx="2409507" cy="461665"/>
          </a:xfrm>
          <a:prstGeom prst="rect">
            <a:avLst/>
          </a:prstGeom>
          <a:noFill/>
        </p:spPr>
        <p:txBody>
          <a:bodyPr wrap="none" rtlCol="0">
            <a:spAutoFit/>
          </a:bodyPr>
          <a:lstStyle/>
          <a:p>
            <a:pPr algn="ctr"/>
            <a:r>
              <a:rPr lang="en-US" sz="1200" b="1" dirty="0"/>
              <a:t>Smith should be provided with an</a:t>
            </a:r>
          </a:p>
          <a:p>
            <a:pPr algn="ctr"/>
            <a:r>
              <a:rPr lang="en-US" sz="1200" b="1" dirty="0"/>
              <a:t>exoskeleton with some restrictions</a:t>
            </a:r>
          </a:p>
        </p:txBody>
      </p:sp>
      <p:cxnSp>
        <p:nvCxnSpPr>
          <p:cNvPr id="46" name="Rak 45">
            <a:extLst>
              <a:ext uri="{FF2B5EF4-FFF2-40B4-BE49-F238E27FC236}">
                <a16:creationId xmlns:a16="http://schemas.microsoft.com/office/drawing/2014/main" id="{9F49A1B5-21FB-6D49-9C0A-D85617AFD07F}"/>
              </a:ext>
            </a:extLst>
          </p:cNvPr>
          <p:cNvCxnSpPr>
            <a:cxnSpLocks/>
            <a:stCxn id="44" idx="2"/>
            <a:endCxn id="43" idx="6"/>
          </p:cNvCxnSpPr>
          <p:nvPr/>
        </p:nvCxnSpPr>
        <p:spPr>
          <a:xfrm flipH="1">
            <a:off x="6835491" y="3419596"/>
            <a:ext cx="867968" cy="36924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0" name="Rak 49">
            <a:extLst>
              <a:ext uri="{FF2B5EF4-FFF2-40B4-BE49-F238E27FC236}">
                <a16:creationId xmlns:a16="http://schemas.microsoft.com/office/drawing/2014/main" id="{8DE3ED0F-186B-2E4B-88BC-A63188684FDC}"/>
              </a:ext>
            </a:extLst>
          </p:cNvPr>
          <p:cNvCxnSpPr>
            <a:cxnSpLocks/>
            <a:endCxn id="43" idx="2"/>
          </p:cNvCxnSpPr>
          <p:nvPr/>
        </p:nvCxnSpPr>
        <p:spPr>
          <a:xfrm>
            <a:off x="5950636" y="3594182"/>
            <a:ext cx="479608" cy="194658"/>
          </a:xfrm>
          <a:prstGeom prst="line">
            <a:avLst/>
          </a:prstGeom>
          <a:ln w="38100" cap="rnd">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8724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0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0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0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9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8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1"/>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9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8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9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07"/>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0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1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4"/>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3"/>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48" grpId="0"/>
      <p:bldP spid="49" grpId="0"/>
      <p:bldP spid="51" grpId="0"/>
      <p:bldP spid="53" grpId="0"/>
      <p:bldP spid="54" grpId="0"/>
      <p:bldP spid="55" grpId="0"/>
      <p:bldP spid="107" grpId="0" animBg="1"/>
      <p:bldP spid="111" grpId="0"/>
      <p:bldP spid="115" grpId="0" animBg="1"/>
      <p:bldP spid="43" grpId="0" animBg="1"/>
      <p:bldP spid="4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5E610-7B14-984C-B796-CB87A5B15195}"/>
              </a:ext>
            </a:extLst>
          </p:cNvPr>
          <p:cNvSpPr>
            <a:spLocks noGrp="1"/>
          </p:cNvSpPr>
          <p:nvPr>
            <p:ph type="title"/>
          </p:nvPr>
        </p:nvSpPr>
        <p:spPr/>
        <p:txBody>
          <a:bodyPr/>
          <a:lstStyle/>
          <a:p>
            <a:r>
              <a:rPr lang="en-GB" dirty="0" err="1"/>
              <a:t>Ahlin</a:t>
            </a:r>
            <a:r>
              <a:rPr lang="en-GB" dirty="0"/>
              <a:t> </a:t>
            </a:r>
            <a:r>
              <a:rPr lang="en-GB" dirty="0" err="1"/>
              <a:t>marceta</a:t>
            </a:r>
            <a:r>
              <a:rPr lang="en-GB" dirty="0"/>
              <a:t> 2019 on reflective equilibrium</a:t>
            </a:r>
          </a:p>
        </p:txBody>
      </p:sp>
      <p:sp>
        <p:nvSpPr>
          <p:cNvPr id="5" name="Content Placeholder 4">
            <a:extLst>
              <a:ext uri="{FF2B5EF4-FFF2-40B4-BE49-F238E27FC236}">
                <a16:creationId xmlns:a16="http://schemas.microsoft.com/office/drawing/2014/main" id="{4C2C3B5E-FCD3-B14D-8170-C96E47532C57}"/>
              </a:ext>
            </a:extLst>
          </p:cNvPr>
          <p:cNvSpPr>
            <a:spLocks noGrp="1"/>
          </p:cNvSpPr>
          <p:nvPr>
            <p:ph idx="1"/>
          </p:nvPr>
        </p:nvSpPr>
        <p:spPr/>
        <p:txBody>
          <a:bodyPr>
            <a:normAutofit lnSpcReduction="10000"/>
          </a:bodyPr>
          <a:lstStyle/>
          <a:p>
            <a:r>
              <a:rPr lang="en-GB" dirty="0"/>
              <a:t>Reflective equilibrium is a </a:t>
            </a:r>
            <a:r>
              <a:rPr lang="en-GB" dirty="0" err="1"/>
              <a:t>coherentist</a:t>
            </a:r>
            <a:r>
              <a:rPr lang="en-GB" dirty="0"/>
              <a:t> theory of moral justification. </a:t>
            </a:r>
            <a:br>
              <a:rPr lang="en-GB" dirty="0"/>
            </a:br>
            <a:r>
              <a:rPr lang="en-GB" dirty="0"/>
              <a:t/>
            </a:r>
            <a:br>
              <a:rPr lang="en-GB" dirty="0"/>
            </a:br>
            <a:r>
              <a:rPr lang="en-GB" dirty="0"/>
              <a:t>“As a theory of moral </a:t>
            </a:r>
            <a:r>
              <a:rPr lang="en-GB" dirty="0" smtClean="0"/>
              <a:t>justification</a:t>
            </a:r>
            <a:r>
              <a:rPr lang="en-GB" dirty="0"/>
              <a:t>, </a:t>
            </a:r>
            <a:r>
              <a:rPr lang="en-GB" dirty="0" smtClean="0"/>
              <a:t>reflective </a:t>
            </a:r>
            <a:r>
              <a:rPr lang="en-GB" dirty="0"/>
              <a:t>equilibrium is the theory that</a:t>
            </a:r>
            <a:r>
              <a:rPr lang="en-GB" b="1" dirty="0"/>
              <a:t> a moral claim is reason-giving if it is coherent with all other beliefs (in moral and non-moral matters) and with our stable and considered moral intuitions. </a:t>
            </a:r>
            <a:r>
              <a:rPr lang="en-GB" dirty="0"/>
              <a:t>For instance, the claim, “ceteris paribus, people who suffer should be helped,” is justified not because it is true, but because it is coherent with all other beliefs and with our moral intuitions. (p.8).</a:t>
            </a:r>
            <a:endParaRPr lang="en-SE" dirty="0"/>
          </a:p>
          <a:p>
            <a:endParaRPr lang="en-GB" dirty="0"/>
          </a:p>
          <a:p>
            <a:endParaRPr lang="en-GB" dirty="0"/>
          </a:p>
          <a:p>
            <a:endParaRPr lang="en-GB" dirty="0"/>
          </a:p>
        </p:txBody>
      </p:sp>
    </p:spTree>
    <p:extLst>
      <p:ext uri="{BB962C8B-B14F-4D97-AF65-F5344CB8AC3E}">
        <p14:creationId xmlns:p14="http://schemas.microsoft.com/office/powerpoint/2010/main" val="916785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4747C59-C28B-BB43-8E9B-0080F0329B8F}"/>
              </a:ext>
            </a:extLst>
          </p:cNvPr>
          <p:cNvSpPr>
            <a:spLocks noGrp="1"/>
          </p:cNvSpPr>
          <p:nvPr>
            <p:ph type="title"/>
          </p:nvPr>
        </p:nvSpPr>
        <p:spPr/>
        <p:txBody>
          <a:bodyPr/>
          <a:lstStyle/>
          <a:p>
            <a:r>
              <a:rPr lang="en-US" dirty="0"/>
              <a:t>Principlism: Respect for autonomy</a:t>
            </a:r>
          </a:p>
        </p:txBody>
      </p:sp>
      <p:sp>
        <p:nvSpPr>
          <p:cNvPr id="3" name="Platshållare för innehåll 2">
            <a:extLst>
              <a:ext uri="{FF2B5EF4-FFF2-40B4-BE49-F238E27FC236}">
                <a16:creationId xmlns:a16="http://schemas.microsoft.com/office/drawing/2014/main" id="{5564EBAB-6995-D34A-9CAE-9DDC141993E3}"/>
              </a:ext>
            </a:extLst>
          </p:cNvPr>
          <p:cNvSpPr>
            <a:spLocks noGrp="1"/>
          </p:cNvSpPr>
          <p:nvPr>
            <p:ph idx="1"/>
          </p:nvPr>
        </p:nvSpPr>
        <p:spPr>
          <a:xfrm>
            <a:off x="1238865" y="2496065"/>
            <a:ext cx="7151372" cy="3860490"/>
          </a:xfrm>
        </p:spPr>
        <p:txBody>
          <a:bodyPr>
            <a:normAutofit/>
          </a:bodyPr>
          <a:lstStyle/>
          <a:p>
            <a:pPr marL="0" indent="0">
              <a:buNone/>
            </a:pPr>
            <a:r>
              <a:rPr lang="en-US" dirty="0"/>
              <a:t>From the Greek </a:t>
            </a:r>
            <a:r>
              <a:rPr lang="en-US" i="1" dirty="0"/>
              <a:t>auto</a:t>
            </a:r>
            <a:r>
              <a:rPr lang="en-US" dirty="0"/>
              <a:t> (“self”) and </a:t>
            </a:r>
            <a:r>
              <a:rPr lang="en-US" i="1" dirty="0"/>
              <a:t>nomos</a:t>
            </a:r>
            <a:r>
              <a:rPr lang="en-US" dirty="0"/>
              <a:t> (“law”): Self-guidance, self-governance:</a:t>
            </a:r>
          </a:p>
          <a:p>
            <a:pPr marL="0" indent="0">
              <a:buNone/>
            </a:pPr>
            <a:r>
              <a:rPr lang="en-GB" dirty="0"/>
              <a:t>Beauchamp and </a:t>
            </a:r>
            <a:r>
              <a:rPr lang="en-GB" dirty="0" err="1"/>
              <a:t>Rauprich</a:t>
            </a:r>
            <a:r>
              <a:rPr lang="en-GB" dirty="0"/>
              <a:t> (2016)  two conditions of autonomy. (1) Liberty – absence of controlling influences; (2) Agency – self-initiated intentional action.</a:t>
            </a:r>
          </a:p>
          <a:p>
            <a:pPr marL="0" indent="0">
              <a:buNone/>
            </a:pPr>
            <a:r>
              <a:rPr lang="en-SE" dirty="0"/>
              <a:t>” </a:t>
            </a:r>
            <a:r>
              <a:rPr lang="en-GB" dirty="0"/>
              <a:t>Personal autonomy is self-rule free from both controlling interference by others and from limitations that prevent meaningful choice, such as inadequate understanding. The autonomous individual acts freely in accordance with a self-chosen plan, analogous to the way an independent government manages its territories and sets its policies. The principle of respect for autonomy protects the rights of individuals to hold certain views and to make certain kinds of choices. ”</a:t>
            </a:r>
            <a:r>
              <a:rPr lang="en-SE" dirty="0"/>
              <a:t>(2016, 2284)</a:t>
            </a:r>
          </a:p>
          <a:p>
            <a:endParaRPr lang="en-US" dirty="0"/>
          </a:p>
        </p:txBody>
      </p:sp>
    </p:spTree>
    <p:extLst>
      <p:ext uri="{BB962C8B-B14F-4D97-AF65-F5344CB8AC3E}">
        <p14:creationId xmlns:p14="http://schemas.microsoft.com/office/powerpoint/2010/main" val="4091625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EC85ABB-B60E-E74B-870E-84F8ED0EFF0B}"/>
              </a:ext>
            </a:extLst>
          </p:cNvPr>
          <p:cNvSpPr>
            <a:spLocks noGrp="1"/>
          </p:cNvSpPr>
          <p:nvPr>
            <p:ph type="title"/>
          </p:nvPr>
        </p:nvSpPr>
        <p:spPr/>
        <p:txBody>
          <a:bodyPr/>
          <a:lstStyle/>
          <a:p>
            <a:r>
              <a:rPr lang="en-US" dirty="0"/>
              <a:t>Principlism: Nonmaleficence</a:t>
            </a:r>
          </a:p>
        </p:txBody>
      </p:sp>
      <p:sp>
        <p:nvSpPr>
          <p:cNvPr id="3" name="Platshållare för innehåll 2">
            <a:extLst>
              <a:ext uri="{FF2B5EF4-FFF2-40B4-BE49-F238E27FC236}">
                <a16:creationId xmlns:a16="http://schemas.microsoft.com/office/drawing/2014/main" id="{51E4D30F-6B70-9D42-8F3A-E2405118D690}"/>
              </a:ext>
            </a:extLst>
          </p:cNvPr>
          <p:cNvSpPr>
            <a:spLocks noGrp="1"/>
          </p:cNvSpPr>
          <p:nvPr>
            <p:ph idx="1"/>
          </p:nvPr>
        </p:nvSpPr>
        <p:spPr/>
        <p:txBody>
          <a:bodyPr/>
          <a:lstStyle/>
          <a:p>
            <a:r>
              <a:rPr lang="en-US" dirty="0"/>
              <a:t>Do not cause harm or risk of harm to others</a:t>
            </a:r>
          </a:p>
          <a:p>
            <a:r>
              <a:rPr lang="en-US" dirty="0"/>
              <a:t>Here, not ”harming” others means not </a:t>
            </a:r>
            <a:r>
              <a:rPr lang="en" dirty="0"/>
              <a:t>setting back their welfare interests</a:t>
            </a:r>
          </a:p>
          <a:p>
            <a:r>
              <a:rPr lang="en" dirty="0"/>
              <a:t>Welfare interests include</a:t>
            </a:r>
          </a:p>
          <a:p>
            <a:pPr lvl="1"/>
            <a:r>
              <a:rPr lang="en" dirty="0"/>
              <a:t>Health, mental and physical fitness</a:t>
            </a:r>
          </a:p>
          <a:p>
            <a:pPr lvl="1"/>
            <a:r>
              <a:rPr lang="en" dirty="0"/>
              <a:t>Social inclusion and opportunities</a:t>
            </a:r>
            <a:endParaRPr lang="en-US" dirty="0"/>
          </a:p>
        </p:txBody>
      </p:sp>
    </p:spTree>
    <p:extLst>
      <p:ext uri="{BB962C8B-B14F-4D97-AF65-F5344CB8AC3E}">
        <p14:creationId xmlns:p14="http://schemas.microsoft.com/office/powerpoint/2010/main" val="3653344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1F6E630-1700-8549-90A7-38F0F019F00F}"/>
              </a:ext>
            </a:extLst>
          </p:cNvPr>
          <p:cNvSpPr>
            <a:spLocks noGrp="1"/>
          </p:cNvSpPr>
          <p:nvPr>
            <p:ph type="title"/>
          </p:nvPr>
        </p:nvSpPr>
        <p:spPr/>
        <p:txBody>
          <a:bodyPr/>
          <a:lstStyle/>
          <a:p>
            <a:r>
              <a:rPr lang="en-US" dirty="0"/>
              <a:t>Principlism: Beneficence</a:t>
            </a:r>
          </a:p>
        </p:txBody>
      </p:sp>
      <p:sp>
        <p:nvSpPr>
          <p:cNvPr id="3" name="Platshållare för innehåll 2">
            <a:extLst>
              <a:ext uri="{FF2B5EF4-FFF2-40B4-BE49-F238E27FC236}">
                <a16:creationId xmlns:a16="http://schemas.microsoft.com/office/drawing/2014/main" id="{29708421-7904-0144-9E66-4253D9F832B1}"/>
              </a:ext>
            </a:extLst>
          </p:cNvPr>
          <p:cNvSpPr>
            <a:spLocks noGrp="1"/>
          </p:cNvSpPr>
          <p:nvPr>
            <p:ph idx="1"/>
          </p:nvPr>
        </p:nvSpPr>
        <p:spPr/>
        <p:txBody>
          <a:bodyPr>
            <a:normAutofit lnSpcReduction="10000"/>
          </a:bodyPr>
          <a:lstStyle/>
          <a:p>
            <a:r>
              <a:rPr lang="en-US" dirty="0"/>
              <a:t>Act to benefit others</a:t>
            </a:r>
          </a:p>
          <a:p>
            <a:r>
              <a:rPr lang="en-US" dirty="0"/>
              <a:t>Negative and positive obligations</a:t>
            </a:r>
          </a:p>
          <a:p>
            <a:pPr lvl="1"/>
            <a:r>
              <a:rPr lang="en-US" dirty="0"/>
              <a:t>Nonmaleficence is an obligation </a:t>
            </a:r>
            <a:r>
              <a:rPr lang="en-US" i="1" dirty="0"/>
              <a:t>to not act</a:t>
            </a:r>
            <a:r>
              <a:rPr lang="en-US" dirty="0"/>
              <a:t>, i.e., a negative obligation</a:t>
            </a:r>
          </a:p>
          <a:p>
            <a:pPr lvl="1"/>
            <a:r>
              <a:rPr lang="en-US" dirty="0"/>
              <a:t>Beneficence, by contrast, is an obligation </a:t>
            </a:r>
            <a:r>
              <a:rPr lang="en-US" i="1" dirty="0"/>
              <a:t>to act</a:t>
            </a:r>
            <a:r>
              <a:rPr lang="en-US" dirty="0"/>
              <a:t>, i.e., a positive obligation</a:t>
            </a:r>
          </a:p>
          <a:p>
            <a:r>
              <a:rPr lang="en-US" dirty="0"/>
              <a:t>Obligations to</a:t>
            </a:r>
          </a:p>
          <a:p>
            <a:pPr lvl="1"/>
            <a:r>
              <a:rPr lang="en-US" dirty="0"/>
              <a:t>Prevent harms from occurring</a:t>
            </a:r>
          </a:p>
          <a:p>
            <a:pPr lvl="1"/>
            <a:r>
              <a:rPr lang="en-US" dirty="0"/>
              <a:t>Promote others’ welfare interests</a:t>
            </a:r>
          </a:p>
        </p:txBody>
      </p:sp>
    </p:spTree>
    <p:extLst>
      <p:ext uri="{BB962C8B-B14F-4D97-AF65-F5344CB8AC3E}">
        <p14:creationId xmlns:p14="http://schemas.microsoft.com/office/powerpoint/2010/main" val="211342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6C60F97-7996-D348-8F98-DE25AD3D8412}"/>
              </a:ext>
            </a:extLst>
          </p:cNvPr>
          <p:cNvSpPr>
            <a:spLocks noGrp="1"/>
          </p:cNvSpPr>
          <p:nvPr>
            <p:ph type="title"/>
          </p:nvPr>
        </p:nvSpPr>
        <p:spPr/>
        <p:txBody>
          <a:bodyPr/>
          <a:lstStyle/>
          <a:p>
            <a:r>
              <a:rPr lang="en-US" dirty="0"/>
              <a:t>Principlism: Justice</a:t>
            </a:r>
          </a:p>
        </p:txBody>
      </p:sp>
      <p:sp>
        <p:nvSpPr>
          <p:cNvPr id="3" name="Platshållare för innehåll 2">
            <a:extLst>
              <a:ext uri="{FF2B5EF4-FFF2-40B4-BE49-F238E27FC236}">
                <a16:creationId xmlns:a16="http://schemas.microsoft.com/office/drawing/2014/main" id="{F6D60DC8-49FC-A640-A695-2F0A9BA3B8BB}"/>
              </a:ext>
            </a:extLst>
          </p:cNvPr>
          <p:cNvSpPr>
            <a:spLocks noGrp="1"/>
          </p:cNvSpPr>
          <p:nvPr>
            <p:ph idx="1"/>
          </p:nvPr>
        </p:nvSpPr>
        <p:spPr>
          <a:xfrm>
            <a:off x="637787" y="2569028"/>
            <a:ext cx="8244955" cy="3178629"/>
          </a:xfrm>
        </p:spPr>
        <p:txBody>
          <a:bodyPr>
            <a:noAutofit/>
          </a:bodyPr>
          <a:lstStyle/>
          <a:p>
            <a:r>
              <a:rPr lang="en" sz="2000" dirty="0"/>
              <a:t>Fair and appropriate treatment in light of what is due or owed to individuals</a:t>
            </a:r>
          </a:p>
          <a:p>
            <a:r>
              <a:rPr lang="en" sz="2000" dirty="0"/>
              <a:t>Various principles of </a:t>
            </a:r>
            <a:r>
              <a:rPr lang="en" sz="2000" dirty="0" smtClean="0"/>
              <a:t>distributive justice</a:t>
            </a:r>
            <a:endParaRPr lang="en" sz="2000" dirty="0"/>
          </a:p>
          <a:p>
            <a:pPr lvl="1"/>
            <a:r>
              <a:rPr lang="en" sz="1800" b="1" dirty="0"/>
              <a:t>Equality:</a:t>
            </a:r>
            <a:r>
              <a:rPr lang="en" sz="1800" dirty="0"/>
              <a:t> Same treatment for all no matter their background or identity</a:t>
            </a:r>
          </a:p>
          <a:p>
            <a:pPr lvl="1"/>
            <a:r>
              <a:rPr lang="en" sz="1800" b="1" dirty="0"/>
              <a:t>Desert:</a:t>
            </a:r>
            <a:r>
              <a:rPr lang="en" sz="1800" dirty="0"/>
              <a:t> Different treatment for different persons due to their own actions and choices</a:t>
            </a:r>
          </a:p>
          <a:p>
            <a:pPr lvl="1"/>
            <a:r>
              <a:rPr lang="en" sz="1800" b="1" dirty="0"/>
              <a:t>Need:</a:t>
            </a:r>
            <a:r>
              <a:rPr lang="en" sz="1800" dirty="0"/>
              <a:t> </a:t>
            </a:r>
            <a:r>
              <a:rPr lang="en" sz="1800" dirty="0" smtClean="0"/>
              <a:t>Allocate scarce </a:t>
            </a:r>
            <a:r>
              <a:rPr lang="en" sz="1800" dirty="0"/>
              <a:t>resources so that any inequalities benefit the worst-off</a:t>
            </a:r>
          </a:p>
        </p:txBody>
      </p:sp>
    </p:spTree>
    <p:extLst>
      <p:ext uri="{BB962C8B-B14F-4D97-AF65-F5344CB8AC3E}">
        <p14:creationId xmlns:p14="http://schemas.microsoft.com/office/powerpoint/2010/main" val="73131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553999-D9F6-EC4A-8A22-3282D879E269}"/>
              </a:ext>
            </a:extLst>
          </p:cNvPr>
          <p:cNvSpPr>
            <a:spLocks noGrp="1"/>
          </p:cNvSpPr>
          <p:nvPr>
            <p:ph idx="1"/>
          </p:nvPr>
        </p:nvSpPr>
        <p:spPr>
          <a:xfrm>
            <a:off x="1428734" y="2462747"/>
            <a:ext cx="6650059" cy="4041051"/>
          </a:xfrm>
        </p:spPr>
        <p:txBody>
          <a:bodyPr>
            <a:normAutofit/>
          </a:bodyPr>
          <a:lstStyle/>
          <a:p>
            <a:r>
              <a:rPr lang="en-GB" b="1" dirty="0"/>
              <a:t>Beauchamp and </a:t>
            </a:r>
            <a:r>
              <a:rPr lang="en-GB" b="1" dirty="0" err="1"/>
              <a:t>Rauprich</a:t>
            </a:r>
            <a:r>
              <a:rPr lang="en-GB" b="1" dirty="0"/>
              <a:t> 2016, 2285-6: </a:t>
            </a:r>
            <a:r>
              <a:rPr lang="en-GB" dirty="0"/>
              <a:t/>
            </a:r>
            <a:br>
              <a:rPr lang="en-GB" dirty="0"/>
            </a:br>
            <a:r>
              <a:rPr lang="en-GB" dirty="0"/>
              <a:t/>
            </a:r>
            <a:br>
              <a:rPr lang="en-GB" dirty="0"/>
            </a:br>
            <a:r>
              <a:rPr lang="en-GB" dirty="0"/>
              <a:t>“</a:t>
            </a:r>
            <a:r>
              <a:rPr lang="en-GB" dirty="0" err="1"/>
              <a:t>Principlism</a:t>
            </a:r>
            <a:r>
              <a:rPr lang="en-GB" dirty="0"/>
              <a:t> …  holds that its principles must be specified to give concrete guidance about when and how to obtain an informed consent, how much information must be disclosed, how to maintain confidentiality, and the like. Specification is not a process of producing, explaining, or defending general principles, but of making them relevant and useful in specific contexts … As Henry Richardson puts it, specification occurs by “spelling out where, when, why, how, by what means, to whom, or by whom the action is to be done or avoided (Richardson 1990, 2000).”</a:t>
            </a:r>
            <a:endParaRPr lang="en-SE" dirty="0"/>
          </a:p>
          <a:p>
            <a:endParaRPr lang="en-GB" dirty="0"/>
          </a:p>
        </p:txBody>
      </p:sp>
      <p:sp>
        <p:nvSpPr>
          <p:cNvPr id="4" name="Rubrik 1">
            <a:extLst>
              <a:ext uri="{FF2B5EF4-FFF2-40B4-BE49-F238E27FC236}">
                <a16:creationId xmlns:a16="http://schemas.microsoft.com/office/drawing/2014/main" id="{D65FA62E-3AEA-A144-94CF-93D2AB4B6EE5}"/>
              </a:ext>
            </a:extLst>
          </p:cNvPr>
          <p:cNvSpPr>
            <a:spLocks noGrp="1"/>
          </p:cNvSpPr>
          <p:nvPr>
            <p:ph type="title"/>
          </p:nvPr>
        </p:nvSpPr>
        <p:spPr>
          <a:xfrm>
            <a:off x="1606045" y="964692"/>
            <a:ext cx="5937755" cy="1188720"/>
          </a:xfrm>
        </p:spPr>
        <p:txBody>
          <a:bodyPr/>
          <a:lstStyle/>
          <a:p>
            <a:r>
              <a:rPr lang="en-US" dirty="0"/>
              <a:t>Principlism: Method for application</a:t>
            </a:r>
          </a:p>
        </p:txBody>
      </p:sp>
    </p:spTree>
    <p:extLst>
      <p:ext uri="{BB962C8B-B14F-4D97-AF65-F5344CB8AC3E}">
        <p14:creationId xmlns:p14="http://schemas.microsoft.com/office/powerpoint/2010/main" val="70675203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EE97A0B-1B05-E245-9FDF-7F6E7DDA8C7A}"/>
              </a:ext>
            </a:extLst>
          </p:cNvPr>
          <p:cNvSpPr>
            <a:spLocks noGrp="1"/>
          </p:cNvSpPr>
          <p:nvPr>
            <p:ph type="title"/>
          </p:nvPr>
        </p:nvSpPr>
        <p:spPr/>
        <p:txBody>
          <a:bodyPr/>
          <a:lstStyle/>
          <a:p>
            <a:r>
              <a:rPr lang="en-US" dirty="0"/>
              <a:t>Principlism: Method for application</a:t>
            </a:r>
          </a:p>
        </p:txBody>
      </p:sp>
      <p:sp>
        <p:nvSpPr>
          <p:cNvPr id="3" name="Platshållare för innehåll 2">
            <a:extLst>
              <a:ext uri="{FF2B5EF4-FFF2-40B4-BE49-F238E27FC236}">
                <a16:creationId xmlns:a16="http://schemas.microsoft.com/office/drawing/2014/main" id="{3683A050-78C6-0144-ADF7-5DBFA0C0356F}"/>
              </a:ext>
            </a:extLst>
          </p:cNvPr>
          <p:cNvSpPr>
            <a:spLocks noGrp="1"/>
          </p:cNvSpPr>
          <p:nvPr>
            <p:ph idx="1"/>
          </p:nvPr>
        </p:nvSpPr>
        <p:spPr>
          <a:xfrm>
            <a:off x="778476" y="2458995"/>
            <a:ext cx="7920681" cy="3546389"/>
          </a:xfrm>
        </p:spPr>
        <p:txBody>
          <a:bodyPr>
            <a:normAutofit/>
          </a:bodyPr>
          <a:lstStyle/>
          <a:p>
            <a:r>
              <a:rPr lang="en-US" b="1" dirty="0"/>
              <a:t>Render principles practical through specification</a:t>
            </a:r>
          </a:p>
          <a:p>
            <a:pPr marL="800100" lvl="1" indent="-342900">
              <a:buFont typeface="+mj-lt"/>
              <a:buAutoNum type="arabicPeriod"/>
            </a:pPr>
            <a:r>
              <a:rPr lang="en-US" dirty="0"/>
              <a:t>Tentatively decide which principles apply to a particular case</a:t>
            </a:r>
          </a:p>
          <a:p>
            <a:pPr marL="800100" lvl="1" indent="-342900">
              <a:buFont typeface="+mj-lt"/>
              <a:buAutoNum type="arabicPeriod"/>
            </a:pPr>
            <a:r>
              <a:rPr lang="en-US" dirty="0"/>
              <a:t>Specify in detail </a:t>
            </a:r>
            <a:r>
              <a:rPr lang="en-US" i="1" dirty="0"/>
              <a:t>how</a:t>
            </a:r>
            <a:r>
              <a:rPr lang="en-US" dirty="0"/>
              <a:t> they apply</a:t>
            </a:r>
          </a:p>
          <a:p>
            <a:pPr marL="800100" lvl="1" indent="-342900">
              <a:buFont typeface="+mj-lt"/>
              <a:buAutoNum type="arabicPeriod"/>
            </a:pPr>
            <a:r>
              <a:rPr lang="en-US" dirty="0"/>
              <a:t>If conflicts between principles occur,</a:t>
            </a:r>
          </a:p>
          <a:p>
            <a:pPr marL="1257300" lvl="2" indent="-342900">
              <a:buFont typeface="+mj-lt"/>
              <a:buAutoNum type="alphaLcParenR"/>
            </a:pPr>
            <a:r>
              <a:rPr lang="en" dirty="0"/>
              <a:t>Re-evaluate, seek a balanced judgment</a:t>
            </a:r>
          </a:p>
          <a:p>
            <a:pPr marL="1257300" lvl="2" indent="-342900">
              <a:buFont typeface="+mj-lt"/>
              <a:buAutoNum type="alphaLcParenR"/>
            </a:pPr>
            <a:r>
              <a:rPr lang="en" dirty="0"/>
              <a:t>Accept that more than one of the identified answers can be right</a:t>
            </a:r>
            <a:endParaRPr lang="en-US" dirty="0"/>
          </a:p>
        </p:txBody>
      </p:sp>
    </p:spTree>
    <p:extLst>
      <p:ext uri="{BB962C8B-B14F-4D97-AF65-F5344CB8AC3E}">
        <p14:creationId xmlns:p14="http://schemas.microsoft.com/office/powerpoint/2010/main" val="2272929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3708B67-23EE-694F-9C30-ACF0569296F0}"/>
              </a:ext>
            </a:extLst>
          </p:cNvPr>
          <p:cNvSpPr>
            <a:spLocks noGrp="1"/>
          </p:cNvSpPr>
          <p:nvPr>
            <p:ph type="title"/>
          </p:nvPr>
        </p:nvSpPr>
        <p:spPr/>
        <p:txBody>
          <a:bodyPr/>
          <a:lstStyle/>
          <a:p>
            <a:r>
              <a:rPr lang="en-US" dirty="0"/>
              <a:t>Smith and the exoskeleton: Which principles apply?</a:t>
            </a:r>
          </a:p>
        </p:txBody>
      </p:sp>
      <p:sp>
        <p:nvSpPr>
          <p:cNvPr id="3" name="Platshållare för innehåll 2">
            <a:extLst>
              <a:ext uri="{FF2B5EF4-FFF2-40B4-BE49-F238E27FC236}">
                <a16:creationId xmlns:a16="http://schemas.microsoft.com/office/drawing/2014/main" id="{67C00D19-CAC1-3E46-88C7-16FA131805D3}"/>
              </a:ext>
            </a:extLst>
          </p:cNvPr>
          <p:cNvSpPr>
            <a:spLocks noGrp="1"/>
          </p:cNvSpPr>
          <p:nvPr>
            <p:ph idx="1"/>
          </p:nvPr>
        </p:nvSpPr>
        <p:spPr/>
        <p:txBody>
          <a:bodyPr>
            <a:normAutofit fontScale="85000" lnSpcReduction="10000"/>
          </a:bodyPr>
          <a:lstStyle/>
          <a:p>
            <a:pPr marL="0" indent="0">
              <a:buNone/>
            </a:pPr>
            <a:r>
              <a:rPr lang="en-US" dirty="0"/>
              <a:t>Smith is 95 years old. She has a limited understanding of the world around her and cannot move much without the help of her caretakers. A new technological device, a so-called exoskeleton, could increase her autonomy as it would enable her to move around her apartment without help. However, such autonomy would also enable her to, e.g., leave her building and wander off and do things that may not be good for her. </a:t>
            </a:r>
            <a:endParaRPr lang="en-US" dirty="0" smtClean="0"/>
          </a:p>
          <a:p>
            <a:pPr marL="0" indent="0">
              <a:buNone/>
            </a:pPr>
            <a:r>
              <a:rPr lang="en-US" b="1" dirty="0" smtClean="0"/>
              <a:t>Which </a:t>
            </a:r>
            <a:r>
              <a:rPr lang="en-US" b="1" dirty="0"/>
              <a:t>principles apply?</a:t>
            </a:r>
          </a:p>
          <a:p>
            <a:pPr marL="0" indent="0">
              <a:buNone/>
            </a:pPr>
            <a:r>
              <a:rPr lang="en-US" b="1" dirty="0"/>
              <a:t>Respect for autonomy:</a:t>
            </a:r>
            <a:r>
              <a:rPr lang="en-US" dirty="0"/>
              <a:t> Self-governance</a:t>
            </a:r>
            <a:br>
              <a:rPr lang="en-US" dirty="0"/>
            </a:br>
            <a:r>
              <a:rPr lang="en-US" b="1" dirty="0"/>
              <a:t>Non-maleficence:</a:t>
            </a:r>
            <a:r>
              <a:rPr lang="en-US" dirty="0"/>
              <a:t> Do not cause harm or risk of harm to others</a:t>
            </a:r>
            <a:br>
              <a:rPr lang="en-US" dirty="0"/>
            </a:br>
            <a:r>
              <a:rPr lang="en-US" b="1" dirty="0"/>
              <a:t>Beneficence:</a:t>
            </a:r>
            <a:r>
              <a:rPr lang="en-US" dirty="0"/>
              <a:t> Act to benefit others</a:t>
            </a:r>
            <a:br>
              <a:rPr lang="en-US" dirty="0"/>
            </a:br>
            <a:r>
              <a:rPr lang="en-US" b="1" dirty="0"/>
              <a:t>Justice:</a:t>
            </a:r>
            <a:r>
              <a:rPr lang="en-US" dirty="0"/>
              <a:t> Fair and appropriate treatment in light of what is due or owed to individuals</a:t>
            </a:r>
          </a:p>
        </p:txBody>
      </p:sp>
    </p:spTree>
    <p:extLst>
      <p:ext uri="{BB962C8B-B14F-4D97-AF65-F5344CB8AC3E}">
        <p14:creationId xmlns:p14="http://schemas.microsoft.com/office/powerpoint/2010/main" val="462531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AA91431-7AFF-8045-B01C-83851D070FE6}"/>
              </a:ext>
            </a:extLst>
          </p:cNvPr>
          <p:cNvSpPr>
            <a:spLocks noGrp="1"/>
          </p:cNvSpPr>
          <p:nvPr>
            <p:ph type="title"/>
          </p:nvPr>
        </p:nvSpPr>
        <p:spPr/>
        <p:txBody>
          <a:bodyPr/>
          <a:lstStyle/>
          <a:p>
            <a:r>
              <a:rPr lang="en-US" dirty="0"/>
              <a:t>Principlism: Smith and the exoskeleton (1/2)</a:t>
            </a:r>
          </a:p>
        </p:txBody>
      </p:sp>
      <p:sp>
        <p:nvSpPr>
          <p:cNvPr id="3" name="Platshållare för innehåll 2">
            <a:extLst>
              <a:ext uri="{FF2B5EF4-FFF2-40B4-BE49-F238E27FC236}">
                <a16:creationId xmlns:a16="http://schemas.microsoft.com/office/drawing/2014/main" id="{EB27B439-62C6-084A-A491-7F283E75A1FB}"/>
              </a:ext>
            </a:extLst>
          </p:cNvPr>
          <p:cNvSpPr>
            <a:spLocks noGrp="1"/>
          </p:cNvSpPr>
          <p:nvPr>
            <p:ph idx="1"/>
          </p:nvPr>
        </p:nvSpPr>
        <p:spPr/>
        <p:txBody>
          <a:bodyPr>
            <a:normAutofit fontScale="92500" lnSpcReduction="10000"/>
          </a:bodyPr>
          <a:lstStyle/>
          <a:p>
            <a:pPr marL="342900" indent="-342900">
              <a:buFont typeface="+mj-lt"/>
              <a:buAutoNum type="arabicPeriod"/>
            </a:pPr>
            <a:r>
              <a:rPr lang="en-US" dirty="0"/>
              <a:t>Tentatively decide which principles apply to a particular case</a:t>
            </a:r>
          </a:p>
          <a:p>
            <a:pPr lvl="1"/>
            <a:r>
              <a:rPr lang="en-US" dirty="0"/>
              <a:t>Respect for autonomy, beneficence, nonmaleficence</a:t>
            </a:r>
          </a:p>
          <a:p>
            <a:pPr marL="342900" indent="-342900">
              <a:buFont typeface="+mj-lt"/>
              <a:buAutoNum type="arabicPeriod"/>
            </a:pPr>
            <a:r>
              <a:rPr lang="en-US" dirty="0"/>
              <a:t>Specify in detail </a:t>
            </a:r>
            <a:r>
              <a:rPr lang="en-US" i="1" dirty="0"/>
              <a:t>how</a:t>
            </a:r>
            <a:r>
              <a:rPr lang="en-US" dirty="0"/>
              <a:t> they apply</a:t>
            </a:r>
          </a:p>
          <a:p>
            <a:pPr lvl="1"/>
            <a:r>
              <a:rPr lang="en-US" dirty="0"/>
              <a:t>Smith’s autonomy is promoted as the exoskeleton enables her to do things that she is otherwise not capable of doing</a:t>
            </a:r>
          </a:p>
          <a:p>
            <a:pPr lvl="1"/>
            <a:r>
              <a:rPr lang="en-US" dirty="0"/>
              <a:t>Having an exoskeleton may promote Smith’s welfare interests, such as her physical and mental </a:t>
            </a:r>
            <a:r>
              <a:rPr lang="en" dirty="0"/>
              <a:t>health, and her social inclusion and opportunities</a:t>
            </a:r>
          </a:p>
          <a:p>
            <a:pPr lvl="1"/>
            <a:r>
              <a:rPr lang="en" dirty="0"/>
              <a:t>It may also harm her welfare interests, as the exoskeleton would enable Smith </a:t>
            </a:r>
            <a:r>
              <a:rPr lang="en" dirty="0" smtClean="0"/>
              <a:t>to walk outside on her own and risk getting lost, buying too many books etc.</a:t>
            </a:r>
            <a:endParaRPr lang="en-US" dirty="0"/>
          </a:p>
        </p:txBody>
      </p:sp>
    </p:spTree>
    <p:extLst>
      <p:ext uri="{BB962C8B-B14F-4D97-AF65-F5344CB8AC3E}">
        <p14:creationId xmlns:p14="http://schemas.microsoft.com/office/powerpoint/2010/main" val="944137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AA91431-7AFF-8045-B01C-83851D070FE6}"/>
              </a:ext>
            </a:extLst>
          </p:cNvPr>
          <p:cNvSpPr>
            <a:spLocks noGrp="1"/>
          </p:cNvSpPr>
          <p:nvPr>
            <p:ph type="title"/>
          </p:nvPr>
        </p:nvSpPr>
        <p:spPr/>
        <p:txBody>
          <a:bodyPr/>
          <a:lstStyle/>
          <a:p>
            <a:r>
              <a:rPr lang="en-US" dirty="0"/>
              <a:t>Principlism: Smith and the exoskeleton (2/2)</a:t>
            </a:r>
          </a:p>
        </p:txBody>
      </p:sp>
      <p:sp>
        <p:nvSpPr>
          <p:cNvPr id="3" name="Platshållare för innehåll 2">
            <a:extLst>
              <a:ext uri="{FF2B5EF4-FFF2-40B4-BE49-F238E27FC236}">
                <a16:creationId xmlns:a16="http://schemas.microsoft.com/office/drawing/2014/main" id="{EB27B439-62C6-084A-A491-7F283E75A1FB}"/>
              </a:ext>
            </a:extLst>
          </p:cNvPr>
          <p:cNvSpPr>
            <a:spLocks noGrp="1"/>
          </p:cNvSpPr>
          <p:nvPr>
            <p:ph idx="1"/>
          </p:nvPr>
        </p:nvSpPr>
        <p:spPr>
          <a:xfrm>
            <a:off x="926756" y="2483708"/>
            <a:ext cx="7864787" cy="3506068"/>
          </a:xfrm>
        </p:spPr>
        <p:txBody>
          <a:bodyPr>
            <a:normAutofit fontScale="92500"/>
          </a:bodyPr>
          <a:lstStyle/>
          <a:p>
            <a:pPr marL="342900" indent="-342900">
              <a:buFont typeface="+mj-lt"/>
              <a:buAutoNum type="arabicPeriod" startAt="3"/>
            </a:pPr>
            <a:r>
              <a:rPr lang="en-US" dirty="0"/>
              <a:t>Conflicts between principles occur in this case. Thus,</a:t>
            </a:r>
          </a:p>
          <a:p>
            <a:pPr lvl="1" indent="0">
              <a:buNone/>
            </a:pPr>
            <a:r>
              <a:rPr lang="en" dirty="0"/>
              <a:t>Re-evaluate, seek a balanced judgment</a:t>
            </a:r>
          </a:p>
          <a:p>
            <a:pPr lvl="2"/>
            <a:r>
              <a:rPr lang="en" dirty="0"/>
              <a:t>The autonomy-related reasons involved are very strong</a:t>
            </a:r>
          </a:p>
          <a:p>
            <a:pPr lvl="2"/>
            <a:r>
              <a:rPr lang="en" dirty="0"/>
              <a:t>So are the welfare-related reasons</a:t>
            </a:r>
          </a:p>
          <a:p>
            <a:pPr lvl="2"/>
            <a:r>
              <a:rPr lang="en" dirty="0"/>
              <a:t>The autonomy-related reasons outweigh the welfare-related reasons on some accounts, such as that it enables Smith to move around the house</a:t>
            </a:r>
          </a:p>
          <a:p>
            <a:pPr marL="0" indent="0">
              <a:buNone/>
            </a:pPr>
            <a:endParaRPr lang="en-US" b="1" dirty="0"/>
          </a:p>
          <a:p>
            <a:pPr marL="0" indent="0">
              <a:buNone/>
            </a:pPr>
            <a:r>
              <a:rPr lang="en-US" b="1" dirty="0"/>
              <a:t>Prescription:</a:t>
            </a:r>
            <a:r>
              <a:rPr lang="en-US" dirty="0"/>
              <a:t> Smith should be provided with an exoskeleton with some restrictions!</a:t>
            </a:r>
          </a:p>
          <a:p>
            <a:pPr marL="0" indent="0">
              <a:buNone/>
            </a:pPr>
            <a:r>
              <a:rPr lang="en-US" b="1" dirty="0"/>
              <a:t>Repeat 1–3 until a balanced judgment is reached taking all relevant reasons into account!</a:t>
            </a:r>
            <a:endParaRPr lang="en" b="1" dirty="0"/>
          </a:p>
        </p:txBody>
      </p:sp>
    </p:spTree>
    <p:extLst>
      <p:ext uri="{BB962C8B-B14F-4D97-AF65-F5344CB8AC3E}">
        <p14:creationId xmlns:p14="http://schemas.microsoft.com/office/powerpoint/2010/main" val="3348280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DC121B0-8090-FB4B-891F-CA45F8E056D9}"/>
              </a:ext>
            </a:extLst>
          </p:cNvPr>
          <p:cNvSpPr>
            <a:spLocks noGrp="1"/>
          </p:cNvSpPr>
          <p:nvPr>
            <p:ph type="title"/>
          </p:nvPr>
        </p:nvSpPr>
        <p:spPr>
          <a:xfrm>
            <a:off x="1606045" y="606346"/>
            <a:ext cx="5937755" cy="1188720"/>
          </a:xfrm>
        </p:spPr>
        <p:txBody>
          <a:bodyPr/>
          <a:lstStyle/>
          <a:p>
            <a:r>
              <a:rPr lang="en-US"/>
              <a:t>To summarize</a:t>
            </a:r>
            <a:br>
              <a:rPr lang="en-US"/>
            </a:br>
            <a:r>
              <a:rPr lang="en-US"/>
              <a:t>This </a:t>
            </a:r>
            <a:r>
              <a:rPr lang="en-US" dirty="0"/>
              <a:t>lecture</a:t>
            </a:r>
          </a:p>
        </p:txBody>
      </p:sp>
      <p:sp>
        <p:nvSpPr>
          <p:cNvPr id="3" name="Platshållare för innehåll 2">
            <a:extLst>
              <a:ext uri="{FF2B5EF4-FFF2-40B4-BE49-F238E27FC236}">
                <a16:creationId xmlns:a16="http://schemas.microsoft.com/office/drawing/2014/main" id="{560707B0-5B2B-E54D-B9F3-9DFE468EFFEB}"/>
              </a:ext>
            </a:extLst>
          </p:cNvPr>
          <p:cNvSpPr>
            <a:spLocks noGrp="1"/>
          </p:cNvSpPr>
          <p:nvPr>
            <p:ph idx="1"/>
          </p:nvPr>
        </p:nvSpPr>
        <p:spPr>
          <a:xfrm>
            <a:off x="1606045" y="2153412"/>
            <a:ext cx="5937755" cy="3101983"/>
          </a:xfrm>
        </p:spPr>
        <p:txBody>
          <a:bodyPr>
            <a:normAutofit fontScale="92500" lnSpcReduction="20000"/>
          </a:bodyPr>
          <a:lstStyle/>
          <a:p>
            <a:r>
              <a:rPr lang="en-US" dirty="0"/>
              <a:t>What is applied ethics?</a:t>
            </a:r>
          </a:p>
          <a:p>
            <a:pPr lvl="1"/>
            <a:r>
              <a:rPr lang="en-US" dirty="0"/>
              <a:t>The aim of applied ethics is to provide normative guidance, i.e., </a:t>
            </a:r>
            <a:r>
              <a:rPr lang="en-US" i="1" dirty="0"/>
              <a:t>prescriptions</a:t>
            </a:r>
            <a:r>
              <a:rPr lang="en-US" dirty="0"/>
              <a:t> or </a:t>
            </a:r>
            <a:r>
              <a:rPr lang="en-US" i="1" dirty="0"/>
              <a:t>evaluations</a:t>
            </a:r>
            <a:r>
              <a:rPr lang="en-US" dirty="0"/>
              <a:t>, with regard to practical moral problems</a:t>
            </a:r>
          </a:p>
          <a:p>
            <a:r>
              <a:rPr lang="en-US" dirty="0"/>
              <a:t>Justification and methods in applied ethics</a:t>
            </a:r>
          </a:p>
          <a:p>
            <a:pPr lvl="1"/>
            <a:r>
              <a:rPr lang="en" dirty="0"/>
              <a:t>To justify a claim is to propose convincing reasons in favor of it</a:t>
            </a:r>
            <a:endParaRPr lang="en-US" dirty="0"/>
          </a:p>
          <a:p>
            <a:pPr lvl="1"/>
            <a:r>
              <a:rPr lang="en-US" dirty="0"/>
              <a:t>Top-down, bottom-up, mid-level</a:t>
            </a:r>
          </a:p>
          <a:p>
            <a:r>
              <a:rPr lang="en-US" dirty="0" err="1" smtClean="0"/>
              <a:t>Principlism</a:t>
            </a:r>
            <a:endParaRPr lang="en-US" dirty="0"/>
          </a:p>
          <a:p>
            <a:pPr lvl="1"/>
            <a:r>
              <a:rPr lang="en-US" dirty="0"/>
              <a:t>Four principles: Respect for autonomy, nonmaleficence, beneficence, and justice</a:t>
            </a:r>
          </a:p>
          <a:p>
            <a:pPr lvl="1"/>
            <a:r>
              <a:rPr lang="en-US" dirty="0"/>
              <a:t>Method: Reflective equilibrium, specificationism</a:t>
            </a:r>
          </a:p>
          <a:p>
            <a:endParaRPr lang="en-US" dirty="0"/>
          </a:p>
        </p:txBody>
      </p:sp>
    </p:spTree>
    <p:extLst>
      <p:ext uri="{BB962C8B-B14F-4D97-AF65-F5344CB8AC3E}">
        <p14:creationId xmlns:p14="http://schemas.microsoft.com/office/powerpoint/2010/main" val="392496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97CB13C-176D-A043-ABC9-F2E69A2154B7}"/>
              </a:ext>
            </a:extLst>
          </p:cNvPr>
          <p:cNvSpPr>
            <a:spLocks noGrp="1"/>
          </p:cNvSpPr>
          <p:nvPr>
            <p:ph type="title"/>
          </p:nvPr>
        </p:nvSpPr>
        <p:spPr>
          <a:xfrm>
            <a:off x="1603122" y="422725"/>
            <a:ext cx="5937755" cy="1188720"/>
          </a:xfrm>
        </p:spPr>
        <p:txBody>
          <a:bodyPr>
            <a:normAutofit fontScale="90000"/>
          </a:bodyPr>
          <a:lstStyle/>
          <a:p>
            <a:r>
              <a:rPr lang="en-US" dirty="0"/>
              <a:t>Reflective equilibrium: A foundationalist alternative</a:t>
            </a:r>
          </a:p>
        </p:txBody>
      </p:sp>
      <p:sp>
        <p:nvSpPr>
          <p:cNvPr id="3" name="Platshållare för innehåll 2">
            <a:extLst>
              <a:ext uri="{FF2B5EF4-FFF2-40B4-BE49-F238E27FC236}">
                <a16:creationId xmlns:a16="http://schemas.microsoft.com/office/drawing/2014/main" id="{81ABC293-F9FE-B744-8EC6-239765403A25}"/>
              </a:ext>
            </a:extLst>
          </p:cNvPr>
          <p:cNvSpPr>
            <a:spLocks noGrp="1"/>
          </p:cNvSpPr>
          <p:nvPr>
            <p:ph idx="1"/>
          </p:nvPr>
        </p:nvSpPr>
        <p:spPr>
          <a:xfrm>
            <a:off x="352750" y="1802876"/>
            <a:ext cx="8424000" cy="805188"/>
          </a:xfrm>
        </p:spPr>
        <p:txBody>
          <a:bodyPr/>
          <a:lstStyle/>
          <a:p>
            <a:pPr marL="0" indent="0">
              <a:buNone/>
            </a:pPr>
            <a:r>
              <a:rPr lang="en-US" dirty="0"/>
              <a:t>Consider this example of </a:t>
            </a:r>
            <a:r>
              <a:rPr lang="en-US" i="1" dirty="0"/>
              <a:t>foundationalist</a:t>
            </a:r>
            <a:r>
              <a:rPr lang="en-US" dirty="0"/>
              <a:t> justification, in contrast to reflective equilibrium:</a:t>
            </a:r>
          </a:p>
        </p:txBody>
      </p:sp>
      <p:sp>
        <p:nvSpPr>
          <p:cNvPr id="20" name="Rektangel 19">
            <a:extLst>
              <a:ext uri="{FF2B5EF4-FFF2-40B4-BE49-F238E27FC236}">
                <a16:creationId xmlns:a16="http://schemas.microsoft.com/office/drawing/2014/main" id="{35249752-FD4C-8145-99D5-7E986961BB21}"/>
              </a:ext>
            </a:extLst>
          </p:cNvPr>
          <p:cNvSpPr/>
          <p:nvPr/>
        </p:nvSpPr>
        <p:spPr>
          <a:xfrm>
            <a:off x="3783724" y="2809786"/>
            <a:ext cx="1576552" cy="472965"/>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Rak 4">
            <a:extLst>
              <a:ext uri="{FF2B5EF4-FFF2-40B4-BE49-F238E27FC236}">
                <a16:creationId xmlns:a16="http://schemas.microsoft.com/office/drawing/2014/main" id="{A0897E5B-D312-E644-BBC4-86FB236C70C4}"/>
              </a:ext>
            </a:extLst>
          </p:cNvPr>
          <p:cNvCxnSpPr>
            <a:cxnSpLocks/>
            <a:stCxn id="4" idx="3"/>
            <a:endCxn id="8" idx="1"/>
          </p:cNvCxnSpPr>
          <p:nvPr/>
        </p:nvCxnSpPr>
        <p:spPr>
          <a:xfrm>
            <a:off x="5360276" y="4452464"/>
            <a:ext cx="1248342" cy="37678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textruta 7">
            <a:extLst>
              <a:ext uri="{FF2B5EF4-FFF2-40B4-BE49-F238E27FC236}">
                <a16:creationId xmlns:a16="http://schemas.microsoft.com/office/drawing/2014/main" id="{5E19FB7C-0CE3-AE4C-B78E-706FB6D0F094}"/>
              </a:ext>
            </a:extLst>
          </p:cNvPr>
          <p:cNvSpPr txBox="1"/>
          <p:nvPr/>
        </p:nvSpPr>
        <p:spPr>
          <a:xfrm>
            <a:off x="6608618" y="4690744"/>
            <a:ext cx="2105576" cy="276999"/>
          </a:xfrm>
          <a:prstGeom prst="rect">
            <a:avLst/>
          </a:prstGeom>
          <a:noFill/>
        </p:spPr>
        <p:txBody>
          <a:bodyPr wrap="none" rtlCol="0">
            <a:spAutoFit/>
          </a:bodyPr>
          <a:lstStyle/>
          <a:p>
            <a:r>
              <a:rPr lang="en-US" sz="1200" dirty="0"/>
              <a:t>Life is the ultimate moral value</a:t>
            </a:r>
          </a:p>
        </p:txBody>
      </p:sp>
      <p:sp>
        <p:nvSpPr>
          <p:cNvPr id="11" name="Rektangel 10">
            <a:extLst>
              <a:ext uri="{FF2B5EF4-FFF2-40B4-BE49-F238E27FC236}">
                <a16:creationId xmlns:a16="http://schemas.microsoft.com/office/drawing/2014/main" id="{8A71A235-2153-384A-90A5-CA61619C73BA}"/>
              </a:ext>
            </a:extLst>
          </p:cNvPr>
          <p:cNvSpPr/>
          <p:nvPr/>
        </p:nvSpPr>
        <p:spPr>
          <a:xfrm>
            <a:off x="3783724" y="3746688"/>
            <a:ext cx="1576552" cy="472965"/>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Rak 11">
            <a:extLst>
              <a:ext uri="{FF2B5EF4-FFF2-40B4-BE49-F238E27FC236}">
                <a16:creationId xmlns:a16="http://schemas.microsoft.com/office/drawing/2014/main" id="{838B6DF5-6D5B-044E-855C-F6648ECE404E}"/>
              </a:ext>
            </a:extLst>
          </p:cNvPr>
          <p:cNvCxnSpPr>
            <a:cxnSpLocks/>
            <a:stCxn id="15" idx="3"/>
            <a:endCxn id="11" idx="1"/>
          </p:cNvCxnSpPr>
          <p:nvPr/>
        </p:nvCxnSpPr>
        <p:spPr>
          <a:xfrm flipV="1">
            <a:off x="2676698" y="3983171"/>
            <a:ext cx="1107026" cy="238460"/>
          </a:xfrm>
          <a:prstGeom prst="line">
            <a:avLst/>
          </a:prstGeom>
          <a:ln w="9525" cap="flat" cmpd="sng" algn="ctr">
            <a:solidFill>
              <a:schemeClr val="bg1">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textruta 14">
            <a:extLst>
              <a:ext uri="{FF2B5EF4-FFF2-40B4-BE49-F238E27FC236}">
                <a16:creationId xmlns:a16="http://schemas.microsoft.com/office/drawing/2014/main" id="{DC568B37-88D6-4943-B64A-809EE70C8D12}"/>
              </a:ext>
            </a:extLst>
          </p:cNvPr>
          <p:cNvSpPr txBox="1"/>
          <p:nvPr/>
        </p:nvSpPr>
        <p:spPr>
          <a:xfrm>
            <a:off x="315463" y="3990798"/>
            <a:ext cx="2361235" cy="461665"/>
          </a:xfrm>
          <a:prstGeom prst="rect">
            <a:avLst/>
          </a:prstGeom>
          <a:noFill/>
        </p:spPr>
        <p:txBody>
          <a:bodyPr wrap="square" rtlCol="0">
            <a:spAutoFit/>
          </a:bodyPr>
          <a:lstStyle/>
          <a:p>
            <a:r>
              <a:rPr lang="en-US" sz="1200" dirty="0">
                <a:solidFill>
                  <a:schemeClr val="bg1">
                    <a:lumMod val="75000"/>
                  </a:schemeClr>
                </a:solidFill>
              </a:rPr>
              <a:t>Therefore, everyone has the right to further their own interests</a:t>
            </a:r>
          </a:p>
        </p:txBody>
      </p:sp>
      <p:cxnSp>
        <p:nvCxnSpPr>
          <p:cNvPr id="21" name="Rak 20">
            <a:extLst>
              <a:ext uri="{FF2B5EF4-FFF2-40B4-BE49-F238E27FC236}">
                <a16:creationId xmlns:a16="http://schemas.microsoft.com/office/drawing/2014/main" id="{5821A577-B4AA-4D40-8AA7-51731B9772B1}"/>
              </a:ext>
            </a:extLst>
          </p:cNvPr>
          <p:cNvCxnSpPr>
            <a:cxnSpLocks/>
            <a:stCxn id="22" idx="3"/>
            <a:endCxn id="20" idx="1"/>
          </p:cNvCxnSpPr>
          <p:nvPr/>
        </p:nvCxnSpPr>
        <p:spPr>
          <a:xfrm>
            <a:off x="3203547" y="2611877"/>
            <a:ext cx="580177" cy="434392"/>
          </a:xfrm>
          <a:prstGeom prst="line">
            <a:avLst/>
          </a:prstGeom>
          <a:ln w="9525" cap="flat" cmpd="sng" algn="ctr">
            <a:solidFill>
              <a:schemeClr val="bg1">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2" name="textruta 21">
            <a:extLst>
              <a:ext uri="{FF2B5EF4-FFF2-40B4-BE49-F238E27FC236}">
                <a16:creationId xmlns:a16="http://schemas.microsoft.com/office/drawing/2014/main" id="{9B4BF5F8-2110-8849-9A3D-D138B927977A}"/>
              </a:ext>
            </a:extLst>
          </p:cNvPr>
          <p:cNvSpPr txBox="1"/>
          <p:nvPr/>
        </p:nvSpPr>
        <p:spPr>
          <a:xfrm>
            <a:off x="738449" y="2381044"/>
            <a:ext cx="2465098" cy="461665"/>
          </a:xfrm>
          <a:prstGeom prst="rect">
            <a:avLst/>
          </a:prstGeom>
          <a:noFill/>
        </p:spPr>
        <p:txBody>
          <a:bodyPr wrap="none" rtlCol="0">
            <a:spAutoFit/>
          </a:bodyPr>
          <a:lstStyle/>
          <a:p>
            <a:r>
              <a:rPr lang="en-US" sz="1200" dirty="0">
                <a:solidFill>
                  <a:schemeClr val="bg1">
                    <a:lumMod val="75000"/>
                  </a:schemeClr>
                </a:solidFill>
              </a:rPr>
              <a:t>Therefore, Smith should be provided</a:t>
            </a:r>
          </a:p>
          <a:p>
            <a:r>
              <a:rPr lang="en-US" sz="1200" dirty="0">
                <a:solidFill>
                  <a:schemeClr val="bg1">
                    <a:lumMod val="75000"/>
                  </a:schemeClr>
                </a:solidFill>
              </a:rPr>
              <a:t>with an exoskeleton</a:t>
            </a:r>
          </a:p>
        </p:txBody>
      </p:sp>
      <p:cxnSp>
        <p:nvCxnSpPr>
          <p:cNvPr id="25" name="Rak 24">
            <a:extLst>
              <a:ext uri="{FF2B5EF4-FFF2-40B4-BE49-F238E27FC236}">
                <a16:creationId xmlns:a16="http://schemas.microsoft.com/office/drawing/2014/main" id="{176D02C6-BB0C-9D48-A71E-B80E6B621A6B}"/>
              </a:ext>
            </a:extLst>
          </p:cNvPr>
          <p:cNvCxnSpPr>
            <a:cxnSpLocks/>
            <a:stCxn id="17" idx="3"/>
            <a:endCxn id="26" idx="1"/>
          </p:cNvCxnSpPr>
          <p:nvPr/>
        </p:nvCxnSpPr>
        <p:spPr>
          <a:xfrm flipV="1">
            <a:off x="5360276" y="3373000"/>
            <a:ext cx="673419" cy="137206"/>
          </a:xfrm>
          <a:prstGeom prst="line">
            <a:avLst/>
          </a:prstGeom>
          <a:ln w="9525" cap="flat" cmpd="sng" algn="ctr">
            <a:solidFill>
              <a:schemeClr val="bg1">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ruta 25">
            <a:extLst>
              <a:ext uri="{FF2B5EF4-FFF2-40B4-BE49-F238E27FC236}">
                <a16:creationId xmlns:a16="http://schemas.microsoft.com/office/drawing/2014/main" id="{204AA084-B09B-4D42-94C0-42FAF5F146A9}"/>
              </a:ext>
            </a:extLst>
          </p:cNvPr>
          <p:cNvSpPr txBox="1"/>
          <p:nvPr/>
        </p:nvSpPr>
        <p:spPr>
          <a:xfrm>
            <a:off x="6033695" y="3142167"/>
            <a:ext cx="2853130" cy="461665"/>
          </a:xfrm>
          <a:prstGeom prst="rect">
            <a:avLst/>
          </a:prstGeom>
          <a:noFill/>
        </p:spPr>
        <p:txBody>
          <a:bodyPr wrap="square" rtlCol="0">
            <a:spAutoFit/>
          </a:bodyPr>
          <a:lstStyle/>
          <a:p>
            <a:r>
              <a:rPr lang="en-US" sz="1200" dirty="0">
                <a:solidFill>
                  <a:schemeClr val="bg1">
                    <a:lumMod val="75000"/>
                  </a:schemeClr>
                </a:solidFill>
              </a:rPr>
              <a:t>Smith has an interest in spending her money on lottery tickets and fried chicken</a:t>
            </a:r>
          </a:p>
        </p:txBody>
      </p:sp>
      <p:sp>
        <p:nvSpPr>
          <p:cNvPr id="4" name="Rektangel 3">
            <a:extLst>
              <a:ext uri="{FF2B5EF4-FFF2-40B4-BE49-F238E27FC236}">
                <a16:creationId xmlns:a16="http://schemas.microsoft.com/office/drawing/2014/main" id="{8DEBA762-E694-644E-BD63-2DDF2ABEB3E7}"/>
              </a:ext>
            </a:extLst>
          </p:cNvPr>
          <p:cNvSpPr/>
          <p:nvPr/>
        </p:nvSpPr>
        <p:spPr>
          <a:xfrm>
            <a:off x="3783724" y="4215981"/>
            <a:ext cx="1576552" cy="472965"/>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ktangel 16">
            <a:extLst>
              <a:ext uri="{FF2B5EF4-FFF2-40B4-BE49-F238E27FC236}">
                <a16:creationId xmlns:a16="http://schemas.microsoft.com/office/drawing/2014/main" id="{224BC120-5D96-BF40-8D3A-5DE32D19FB61}"/>
              </a:ext>
            </a:extLst>
          </p:cNvPr>
          <p:cNvSpPr/>
          <p:nvPr/>
        </p:nvSpPr>
        <p:spPr>
          <a:xfrm>
            <a:off x="3783724" y="3273723"/>
            <a:ext cx="1576552" cy="472965"/>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8822370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97CB13C-176D-A043-ABC9-F2E69A2154B7}"/>
              </a:ext>
            </a:extLst>
          </p:cNvPr>
          <p:cNvSpPr>
            <a:spLocks noGrp="1"/>
          </p:cNvSpPr>
          <p:nvPr>
            <p:ph type="title"/>
          </p:nvPr>
        </p:nvSpPr>
        <p:spPr>
          <a:xfrm>
            <a:off x="1603122" y="493259"/>
            <a:ext cx="5937755" cy="1188720"/>
          </a:xfrm>
        </p:spPr>
        <p:txBody>
          <a:bodyPr>
            <a:normAutofit fontScale="90000"/>
          </a:bodyPr>
          <a:lstStyle/>
          <a:p>
            <a:r>
              <a:rPr lang="en-US" dirty="0"/>
              <a:t>Reflective equilibrium: A foundationalist alternative</a:t>
            </a:r>
          </a:p>
        </p:txBody>
      </p:sp>
      <p:sp>
        <p:nvSpPr>
          <p:cNvPr id="3" name="Platshållare för innehåll 2">
            <a:extLst>
              <a:ext uri="{FF2B5EF4-FFF2-40B4-BE49-F238E27FC236}">
                <a16:creationId xmlns:a16="http://schemas.microsoft.com/office/drawing/2014/main" id="{81ABC293-F9FE-B744-8EC6-239765403A25}"/>
              </a:ext>
            </a:extLst>
          </p:cNvPr>
          <p:cNvSpPr>
            <a:spLocks noGrp="1"/>
          </p:cNvSpPr>
          <p:nvPr>
            <p:ph idx="1"/>
          </p:nvPr>
        </p:nvSpPr>
        <p:spPr>
          <a:xfrm>
            <a:off x="359999" y="2115355"/>
            <a:ext cx="8424000" cy="805188"/>
          </a:xfrm>
        </p:spPr>
        <p:txBody>
          <a:bodyPr/>
          <a:lstStyle/>
          <a:p>
            <a:pPr marL="0" indent="0">
              <a:buNone/>
            </a:pPr>
            <a:r>
              <a:rPr lang="en-US" dirty="0"/>
              <a:t>Consider this example of </a:t>
            </a:r>
            <a:r>
              <a:rPr lang="en-US" i="1" dirty="0"/>
              <a:t>foundationalist</a:t>
            </a:r>
            <a:r>
              <a:rPr lang="en-US" dirty="0"/>
              <a:t> justification, in contrast to reflective equilibrium:</a:t>
            </a:r>
          </a:p>
        </p:txBody>
      </p:sp>
      <p:sp>
        <p:nvSpPr>
          <p:cNvPr id="4" name="Rektangel 3">
            <a:extLst>
              <a:ext uri="{FF2B5EF4-FFF2-40B4-BE49-F238E27FC236}">
                <a16:creationId xmlns:a16="http://schemas.microsoft.com/office/drawing/2014/main" id="{8DEBA762-E694-644E-BD63-2DDF2ABEB3E7}"/>
              </a:ext>
            </a:extLst>
          </p:cNvPr>
          <p:cNvSpPr/>
          <p:nvPr/>
        </p:nvSpPr>
        <p:spPr>
          <a:xfrm>
            <a:off x="3783724" y="4874634"/>
            <a:ext cx="1576552" cy="472965"/>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Rak 4">
            <a:extLst>
              <a:ext uri="{FF2B5EF4-FFF2-40B4-BE49-F238E27FC236}">
                <a16:creationId xmlns:a16="http://schemas.microsoft.com/office/drawing/2014/main" id="{A0897E5B-D312-E644-BBC4-86FB236C70C4}"/>
              </a:ext>
            </a:extLst>
          </p:cNvPr>
          <p:cNvCxnSpPr>
            <a:cxnSpLocks/>
            <a:stCxn id="4" idx="3"/>
            <a:endCxn id="8" idx="1"/>
          </p:cNvCxnSpPr>
          <p:nvPr/>
        </p:nvCxnSpPr>
        <p:spPr>
          <a:xfrm flipV="1">
            <a:off x="5360276" y="4641823"/>
            <a:ext cx="1223629" cy="46929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textruta 7">
            <a:extLst>
              <a:ext uri="{FF2B5EF4-FFF2-40B4-BE49-F238E27FC236}">
                <a16:creationId xmlns:a16="http://schemas.microsoft.com/office/drawing/2014/main" id="{5E19FB7C-0CE3-AE4C-B78E-706FB6D0F094}"/>
              </a:ext>
            </a:extLst>
          </p:cNvPr>
          <p:cNvSpPr txBox="1"/>
          <p:nvPr/>
        </p:nvSpPr>
        <p:spPr>
          <a:xfrm>
            <a:off x="6583905" y="4503323"/>
            <a:ext cx="2105576" cy="276999"/>
          </a:xfrm>
          <a:prstGeom prst="rect">
            <a:avLst/>
          </a:prstGeom>
          <a:noFill/>
        </p:spPr>
        <p:txBody>
          <a:bodyPr wrap="none" rtlCol="0">
            <a:spAutoFit/>
          </a:bodyPr>
          <a:lstStyle/>
          <a:p>
            <a:r>
              <a:rPr lang="en-US" sz="1200" dirty="0"/>
              <a:t>Life is the ultimate moral value</a:t>
            </a:r>
          </a:p>
        </p:txBody>
      </p:sp>
      <p:sp>
        <p:nvSpPr>
          <p:cNvPr id="11" name="Rektangel 10">
            <a:extLst>
              <a:ext uri="{FF2B5EF4-FFF2-40B4-BE49-F238E27FC236}">
                <a16:creationId xmlns:a16="http://schemas.microsoft.com/office/drawing/2014/main" id="{8A71A235-2153-384A-90A5-CA61619C73BA}"/>
              </a:ext>
            </a:extLst>
          </p:cNvPr>
          <p:cNvSpPr/>
          <p:nvPr/>
        </p:nvSpPr>
        <p:spPr>
          <a:xfrm>
            <a:off x="3783724" y="4405341"/>
            <a:ext cx="1576552" cy="472965"/>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Rak 11">
            <a:extLst>
              <a:ext uri="{FF2B5EF4-FFF2-40B4-BE49-F238E27FC236}">
                <a16:creationId xmlns:a16="http://schemas.microsoft.com/office/drawing/2014/main" id="{838B6DF5-6D5B-044E-855C-F6648ECE404E}"/>
              </a:ext>
            </a:extLst>
          </p:cNvPr>
          <p:cNvCxnSpPr>
            <a:cxnSpLocks/>
            <a:stCxn id="15" idx="3"/>
            <a:endCxn id="11" idx="1"/>
          </p:cNvCxnSpPr>
          <p:nvPr/>
        </p:nvCxnSpPr>
        <p:spPr>
          <a:xfrm>
            <a:off x="3126348" y="4503323"/>
            <a:ext cx="657376" cy="138501"/>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textruta 14">
            <a:extLst>
              <a:ext uri="{FF2B5EF4-FFF2-40B4-BE49-F238E27FC236}">
                <a16:creationId xmlns:a16="http://schemas.microsoft.com/office/drawing/2014/main" id="{DC568B37-88D6-4943-B64A-809EE70C8D12}"/>
              </a:ext>
            </a:extLst>
          </p:cNvPr>
          <p:cNvSpPr txBox="1"/>
          <p:nvPr/>
        </p:nvSpPr>
        <p:spPr>
          <a:xfrm>
            <a:off x="765113" y="4272490"/>
            <a:ext cx="2361235" cy="461665"/>
          </a:xfrm>
          <a:prstGeom prst="rect">
            <a:avLst/>
          </a:prstGeom>
          <a:noFill/>
        </p:spPr>
        <p:txBody>
          <a:bodyPr wrap="square" rtlCol="0">
            <a:spAutoFit/>
          </a:bodyPr>
          <a:lstStyle/>
          <a:p>
            <a:r>
              <a:rPr lang="en-US" sz="1200" dirty="0"/>
              <a:t>Therefore, everyone has the right to further their own interests</a:t>
            </a:r>
          </a:p>
        </p:txBody>
      </p:sp>
      <p:sp>
        <p:nvSpPr>
          <p:cNvPr id="17" name="Rektangel 16">
            <a:extLst>
              <a:ext uri="{FF2B5EF4-FFF2-40B4-BE49-F238E27FC236}">
                <a16:creationId xmlns:a16="http://schemas.microsoft.com/office/drawing/2014/main" id="{224BC120-5D96-BF40-8D3A-5DE32D19FB61}"/>
              </a:ext>
            </a:extLst>
          </p:cNvPr>
          <p:cNvSpPr/>
          <p:nvPr/>
        </p:nvSpPr>
        <p:spPr>
          <a:xfrm>
            <a:off x="3783724" y="3932376"/>
            <a:ext cx="1576552" cy="472965"/>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ktangel 19">
            <a:extLst>
              <a:ext uri="{FF2B5EF4-FFF2-40B4-BE49-F238E27FC236}">
                <a16:creationId xmlns:a16="http://schemas.microsoft.com/office/drawing/2014/main" id="{35249752-FD4C-8145-99D5-7E986961BB21}"/>
              </a:ext>
            </a:extLst>
          </p:cNvPr>
          <p:cNvSpPr/>
          <p:nvPr/>
        </p:nvSpPr>
        <p:spPr>
          <a:xfrm>
            <a:off x="3783724" y="3468439"/>
            <a:ext cx="1576552" cy="472965"/>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Rak 20">
            <a:extLst>
              <a:ext uri="{FF2B5EF4-FFF2-40B4-BE49-F238E27FC236}">
                <a16:creationId xmlns:a16="http://schemas.microsoft.com/office/drawing/2014/main" id="{5821A577-B4AA-4D40-8AA7-51731B9772B1}"/>
              </a:ext>
            </a:extLst>
          </p:cNvPr>
          <p:cNvCxnSpPr>
            <a:cxnSpLocks/>
            <a:stCxn id="22" idx="3"/>
            <a:endCxn id="20" idx="1"/>
          </p:cNvCxnSpPr>
          <p:nvPr/>
        </p:nvCxnSpPr>
        <p:spPr>
          <a:xfrm>
            <a:off x="3230211" y="3237607"/>
            <a:ext cx="553513" cy="467315"/>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2" name="textruta 21">
            <a:extLst>
              <a:ext uri="{FF2B5EF4-FFF2-40B4-BE49-F238E27FC236}">
                <a16:creationId xmlns:a16="http://schemas.microsoft.com/office/drawing/2014/main" id="{9B4BF5F8-2110-8849-9A3D-D138B927977A}"/>
              </a:ext>
            </a:extLst>
          </p:cNvPr>
          <p:cNvSpPr txBox="1"/>
          <p:nvPr/>
        </p:nvSpPr>
        <p:spPr>
          <a:xfrm>
            <a:off x="765113" y="3006774"/>
            <a:ext cx="2465098" cy="461665"/>
          </a:xfrm>
          <a:prstGeom prst="rect">
            <a:avLst/>
          </a:prstGeom>
          <a:noFill/>
        </p:spPr>
        <p:txBody>
          <a:bodyPr wrap="none" rtlCol="0">
            <a:spAutoFit/>
          </a:bodyPr>
          <a:lstStyle/>
          <a:p>
            <a:r>
              <a:rPr lang="en-US" sz="1200" dirty="0"/>
              <a:t>Therefore, Smith should be provided</a:t>
            </a:r>
          </a:p>
          <a:p>
            <a:r>
              <a:rPr lang="en-US" sz="1200" dirty="0"/>
              <a:t>with an exoskeleton</a:t>
            </a:r>
          </a:p>
        </p:txBody>
      </p:sp>
      <p:cxnSp>
        <p:nvCxnSpPr>
          <p:cNvPr id="25" name="Rak 24">
            <a:extLst>
              <a:ext uri="{FF2B5EF4-FFF2-40B4-BE49-F238E27FC236}">
                <a16:creationId xmlns:a16="http://schemas.microsoft.com/office/drawing/2014/main" id="{176D02C6-BB0C-9D48-A71E-B80E6B621A6B}"/>
              </a:ext>
            </a:extLst>
          </p:cNvPr>
          <p:cNvCxnSpPr>
            <a:cxnSpLocks/>
            <a:stCxn id="17" idx="3"/>
            <a:endCxn id="26" idx="1"/>
          </p:cNvCxnSpPr>
          <p:nvPr/>
        </p:nvCxnSpPr>
        <p:spPr>
          <a:xfrm flipV="1">
            <a:off x="5360276" y="3768535"/>
            <a:ext cx="673419" cy="40032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ruta 25">
            <a:extLst>
              <a:ext uri="{FF2B5EF4-FFF2-40B4-BE49-F238E27FC236}">
                <a16:creationId xmlns:a16="http://schemas.microsoft.com/office/drawing/2014/main" id="{204AA084-B09B-4D42-94C0-42FAF5F146A9}"/>
              </a:ext>
            </a:extLst>
          </p:cNvPr>
          <p:cNvSpPr txBox="1"/>
          <p:nvPr/>
        </p:nvSpPr>
        <p:spPr>
          <a:xfrm>
            <a:off x="6033695" y="3537702"/>
            <a:ext cx="2853130" cy="461665"/>
          </a:xfrm>
          <a:prstGeom prst="rect">
            <a:avLst/>
          </a:prstGeom>
          <a:noFill/>
        </p:spPr>
        <p:txBody>
          <a:bodyPr wrap="square" rtlCol="0">
            <a:spAutoFit/>
          </a:bodyPr>
          <a:lstStyle/>
          <a:p>
            <a:r>
              <a:rPr lang="en-US" sz="1200" dirty="0"/>
              <a:t>Smith has an interest in spending her money on cookies and donuts.</a:t>
            </a:r>
          </a:p>
        </p:txBody>
      </p:sp>
    </p:spTree>
    <p:extLst>
      <p:ext uri="{BB962C8B-B14F-4D97-AF65-F5344CB8AC3E}">
        <p14:creationId xmlns:p14="http://schemas.microsoft.com/office/powerpoint/2010/main" val="3195623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8" grpId="0"/>
      <p:bldP spid="11" grpId="0" animBg="1"/>
      <p:bldP spid="15" grpId="0"/>
      <p:bldP spid="17" grpId="0" animBg="1"/>
      <p:bldP spid="20" grpId="0" animBg="1"/>
      <p:bldP spid="22" grpId="0"/>
      <p:bldP spid="26" grpId="0"/>
    </p:bldLst>
  </p:timing>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{E1E0F3C2-0E90-A743-B072-EAE7DE569504}tf10001120</Template>
  <TotalTime>7062</TotalTime>
  <Words>3057</Words>
  <Application>Microsoft Office PowerPoint</Application>
  <PresentationFormat>Bildspel på skärmen (4:3)</PresentationFormat>
  <Paragraphs>278</Paragraphs>
  <Slides>35</Slides>
  <Notes>19</Notes>
  <HiddenSlides>0</HiddenSlides>
  <MMClips>0</MMClips>
  <ScaleCrop>false</ScaleCrop>
  <HeadingPairs>
    <vt:vector size="6" baseType="variant">
      <vt:variant>
        <vt:lpstr>Använt teckensnitt</vt:lpstr>
      </vt:variant>
      <vt:variant>
        <vt:i4>5</vt:i4>
      </vt:variant>
      <vt:variant>
        <vt:lpstr>Tema</vt:lpstr>
      </vt:variant>
      <vt:variant>
        <vt:i4>1</vt:i4>
      </vt:variant>
      <vt:variant>
        <vt:lpstr>Bildrubriker</vt:lpstr>
      </vt:variant>
      <vt:variant>
        <vt:i4>35</vt:i4>
      </vt:variant>
    </vt:vector>
  </HeadingPairs>
  <TitlesOfParts>
    <vt:vector size="41" baseType="lpstr">
      <vt:lpstr>Arial</vt:lpstr>
      <vt:lpstr>Calibri</vt:lpstr>
      <vt:lpstr>Gill Sans MT</vt:lpstr>
      <vt:lpstr>Tahoma</vt:lpstr>
      <vt:lpstr>Wingdings</vt:lpstr>
      <vt:lpstr>Parcel</vt:lpstr>
      <vt:lpstr> Ethics of medical technology</vt:lpstr>
      <vt:lpstr>Practical information</vt:lpstr>
      <vt:lpstr>Practical information</vt:lpstr>
      <vt:lpstr>Important points</vt:lpstr>
      <vt:lpstr> lecture 1. Aim and method of applied ethics </vt:lpstr>
      <vt:lpstr>PowerPoint-presentation</vt:lpstr>
      <vt:lpstr>PowerPoint-presentation</vt:lpstr>
      <vt:lpstr>Smith and the exoskeleton</vt:lpstr>
      <vt:lpstr>Different types of claims </vt:lpstr>
      <vt:lpstr>PowerPoint-presentation</vt:lpstr>
      <vt:lpstr>Take 5 min and think for yourself – are the claims below descriptive, predictive, prescriptive, or evaluative?</vt:lpstr>
      <vt:lpstr>Descriptive, predictive, prescriptive, or evaluative?</vt:lpstr>
      <vt:lpstr>Justification of descriptive and predictive claims </vt:lpstr>
      <vt:lpstr>Justification of normative claims </vt:lpstr>
      <vt:lpstr>Identify the values and value conflicts In groups for 10 min </vt:lpstr>
      <vt:lpstr>Break 15 min </vt:lpstr>
      <vt:lpstr>Justifying normative claims </vt:lpstr>
      <vt:lpstr>A top-down approach</vt:lpstr>
      <vt:lpstr>A bottom-up approach</vt:lpstr>
      <vt:lpstr>A mid-level approach</vt:lpstr>
      <vt:lpstr>Reflective equilibrium</vt:lpstr>
      <vt:lpstr>Reflective equilibrium: Smith and the exoskeleton</vt:lpstr>
      <vt:lpstr>Ahlin marceta 2019 on reflective equilibrium</vt:lpstr>
      <vt:lpstr>Principlism: Respect for autonomy</vt:lpstr>
      <vt:lpstr>Principlism: Nonmaleficence</vt:lpstr>
      <vt:lpstr>Principlism: Beneficence</vt:lpstr>
      <vt:lpstr>Principlism: Justice</vt:lpstr>
      <vt:lpstr>Principlism: Method for application</vt:lpstr>
      <vt:lpstr>Principlism: Method for application</vt:lpstr>
      <vt:lpstr>Smith and the exoskeleton: Which principles apply?</vt:lpstr>
      <vt:lpstr>Principlism: Smith and the exoskeleton (1/2)</vt:lpstr>
      <vt:lpstr>Principlism: Smith and the exoskeleton (2/2)</vt:lpstr>
      <vt:lpstr>To summarize This lecture</vt:lpstr>
      <vt:lpstr>Reflective equilibrium: A foundationalist alternative</vt:lpstr>
      <vt:lpstr>Reflective equilibrium: A foundationalist alternative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Microsoft Office-användare</dc:creator>
  <cp:lastModifiedBy>Barbro Fröding</cp:lastModifiedBy>
  <cp:revision>1262</cp:revision>
  <cp:lastPrinted>2022-12-07T11:51:33Z</cp:lastPrinted>
  <dcterms:created xsi:type="dcterms:W3CDTF">2018-11-19T13:20:59Z</dcterms:created>
  <dcterms:modified xsi:type="dcterms:W3CDTF">2024-12-02T08:26:19Z</dcterms:modified>
</cp:coreProperties>
</file>