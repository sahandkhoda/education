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handoutMasterIdLst>
    <p:handoutMasterId r:id="rId39"/>
  </p:handoutMasterIdLst>
  <p:sldIdLst>
    <p:sldId id="256" r:id="rId2"/>
    <p:sldId id="259" r:id="rId3"/>
    <p:sldId id="321" r:id="rId4"/>
    <p:sldId id="322" r:id="rId5"/>
    <p:sldId id="323" r:id="rId6"/>
    <p:sldId id="266" r:id="rId7"/>
    <p:sldId id="331" r:id="rId8"/>
    <p:sldId id="268" r:id="rId9"/>
    <p:sldId id="269" r:id="rId10"/>
    <p:sldId id="271" r:id="rId11"/>
    <p:sldId id="272" r:id="rId12"/>
    <p:sldId id="273" r:id="rId13"/>
    <p:sldId id="274" r:id="rId14"/>
    <p:sldId id="275" r:id="rId15"/>
    <p:sldId id="326" r:id="rId16"/>
    <p:sldId id="325" r:id="rId17"/>
    <p:sldId id="283" r:id="rId18"/>
    <p:sldId id="284" r:id="rId19"/>
    <p:sldId id="327" r:id="rId20"/>
    <p:sldId id="337" r:id="rId21"/>
    <p:sldId id="286" r:id="rId22"/>
    <p:sldId id="287" r:id="rId23"/>
    <p:sldId id="289" r:id="rId24"/>
    <p:sldId id="329" r:id="rId25"/>
    <p:sldId id="330" r:id="rId26"/>
    <p:sldId id="298" r:id="rId27"/>
    <p:sldId id="300" r:id="rId28"/>
    <p:sldId id="304" r:id="rId29"/>
    <p:sldId id="305" r:id="rId30"/>
    <p:sldId id="306" r:id="rId31"/>
    <p:sldId id="307" r:id="rId32"/>
    <p:sldId id="332" r:id="rId33"/>
    <p:sldId id="333" r:id="rId34"/>
    <p:sldId id="338" r:id="rId35"/>
    <p:sldId id="315" r:id="rId36"/>
    <p:sldId id="318" r:id="rId37"/>
  </p:sldIdLst>
  <p:sldSz cx="12192000" cy="6858000"/>
  <p:notesSz cx="6797675" cy="9926638"/>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3934" autoAdjust="0"/>
  </p:normalViewPr>
  <p:slideViewPr>
    <p:cSldViewPr snapToGrid="0" showGuides="1">
      <p:cViewPr varScale="1">
        <p:scale>
          <a:sx n="137" d="100"/>
          <a:sy n="137" d="100"/>
        </p:scale>
        <p:origin x="1176" y="12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84FB5ED5-939D-4D42-8338-DB1DC6DD2A0B}" type="datetimeFigureOut">
              <a:rPr lang="en-GB" smtClean="0"/>
              <a:t>02/12/2024</a:t>
            </a:fld>
            <a:endParaRPr lang="en-GB"/>
          </a:p>
        </p:txBody>
      </p:sp>
      <p:sp>
        <p:nvSpPr>
          <p:cNvPr id="4" name="Footer Placeholder 3"/>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31BB07F2-051B-490D-B69F-B0D9C7A29F6D}" type="slidenum">
              <a:rPr lang="en-GB" smtClean="0"/>
              <a:t>‹#›</a:t>
            </a:fld>
            <a:endParaRPr lang="en-GB"/>
          </a:p>
        </p:txBody>
      </p:sp>
    </p:spTree>
    <p:extLst>
      <p:ext uri="{BB962C8B-B14F-4D97-AF65-F5344CB8AC3E}">
        <p14:creationId xmlns:p14="http://schemas.microsoft.com/office/powerpoint/2010/main" val="7483663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5619046F-DC5C-4E40-B434-8201736E41D2}" type="datetimeFigureOut">
              <a:rPr lang="en-GB" smtClean="0"/>
              <a:t>02/12/2024</a:t>
            </a:fld>
            <a:endParaRPr lang="en-GB"/>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37DDE7AF-0683-48C8-9999-042CC6F759C9}" type="slidenum">
              <a:rPr lang="en-GB" smtClean="0"/>
              <a:t>‹#›</a:t>
            </a:fld>
            <a:endParaRPr lang="en-GB"/>
          </a:p>
        </p:txBody>
      </p:sp>
    </p:spTree>
    <p:extLst>
      <p:ext uri="{BB962C8B-B14F-4D97-AF65-F5344CB8AC3E}">
        <p14:creationId xmlns:p14="http://schemas.microsoft.com/office/powerpoint/2010/main" val="14062160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645165A-4764-4433-90C5-151D5F3F2D9E}" type="slidenum">
              <a:rPr lang="en-US" smtClean="0"/>
              <a:t>1</a:t>
            </a:fld>
            <a:endParaRPr lang="en-US"/>
          </a:p>
        </p:txBody>
      </p:sp>
    </p:spTree>
    <p:extLst>
      <p:ext uri="{BB962C8B-B14F-4D97-AF65-F5344CB8AC3E}">
        <p14:creationId xmlns:p14="http://schemas.microsoft.com/office/powerpoint/2010/main" val="22469523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en-US" dirty="0"/>
          </a:p>
        </p:txBody>
      </p:sp>
      <p:sp>
        <p:nvSpPr>
          <p:cNvPr id="4" name="Platshållare för bildnummer 3"/>
          <p:cNvSpPr>
            <a:spLocks noGrp="1"/>
          </p:cNvSpPr>
          <p:nvPr>
            <p:ph type="sldNum" sz="quarter" idx="10"/>
          </p:nvPr>
        </p:nvSpPr>
        <p:spPr/>
        <p:txBody>
          <a:bodyPr/>
          <a:lstStyle/>
          <a:p>
            <a:pPr>
              <a:defRPr/>
            </a:pPr>
            <a:fld id="{EE811775-299A-4959-BF5A-5DFB3E75F6AC}" type="slidenum">
              <a:rPr lang="sv-SE" smtClean="0"/>
              <a:pPr>
                <a:defRPr/>
              </a:pPr>
              <a:t>2</a:t>
            </a:fld>
            <a:endParaRPr lang="sv-SE"/>
          </a:p>
        </p:txBody>
      </p:sp>
    </p:spTree>
    <p:extLst>
      <p:ext uri="{BB962C8B-B14F-4D97-AF65-F5344CB8AC3E}">
        <p14:creationId xmlns:p14="http://schemas.microsoft.com/office/powerpoint/2010/main" val="1134893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en-US"/>
          </a:p>
        </p:txBody>
      </p:sp>
      <p:sp>
        <p:nvSpPr>
          <p:cNvPr id="4" name="Platshållare för bildnummer 3"/>
          <p:cNvSpPr>
            <a:spLocks noGrp="1"/>
          </p:cNvSpPr>
          <p:nvPr>
            <p:ph type="sldNum" sz="quarter" idx="10"/>
          </p:nvPr>
        </p:nvSpPr>
        <p:spPr/>
        <p:txBody>
          <a:bodyPr/>
          <a:lstStyle/>
          <a:p>
            <a:pPr>
              <a:defRPr/>
            </a:pPr>
            <a:fld id="{EE811775-299A-4959-BF5A-5DFB3E75F6AC}" type="slidenum">
              <a:rPr lang="sv-SE" smtClean="0"/>
              <a:pPr>
                <a:defRPr/>
              </a:pPr>
              <a:t>3</a:t>
            </a:fld>
            <a:endParaRPr lang="sv-SE"/>
          </a:p>
        </p:txBody>
      </p:sp>
    </p:spTree>
    <p:extLst>
      <p:ext uri="{BB962C8B-B14F-4D97-AF65-F5344CB8AC3E}">
        <p14:creationId xmlns:p14="http://schemas.microsoft.com/office/powerpoint/2010/main" val="32596285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en-US"/>
          </a:p>
        </p:txBody>
      </p:sp>
      <p:sp>
        <p:nvSpPr>
          <p:cNvPr id="4" name="Platshållare för bildnummer 3"/>
          <p:cNvSpPr>
            <a:spLocks noGrp="1"/>
          </p:cNvSpPr>
          <p:nvPr>
            <p:ph type="sldNum" sz="quarter" idx="10"/>
          </p:nvPr>
        </p:nvSpPr>
        <p:spPr/>
        <p:txBody>
          <a:bodyPr/>
          <a:lstStyle/>
          <a:p>
            <a:pPr>
              <a:defRPr/>
            </a:pPr>
            <a:fld id="{EE811775-299A-4959-BF5A-5DFB3E75F6AC}" type="slidenum">
              <a:rPr lang="sv-SE" smtClean="0"/>
              <a:pPr>
                <a:defRPr/>
              </a:pPr>
              <a:t>4</a:t>
            </a:fld>
            <a:endParaRPr lang="sv-SE"/>
          </a:p>
        </p:txBody>
      </p:sp>
    </p:spTree>
    <p:extLst>
      <p:ext uri="{BB962C8B-B14F-4D97-AF65-F5344CB8AC3E}">
        <p14:creationId xmlns:p14="http://schemas.microsoft.com/office/powerpoint/2010/main" val="13383839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en-US"/>
          </a:p>
        </p:txBody>
      </p:sp>
      <p:sp>
        <p:nvSpPr>
          <p:cNvPr id="4" name="Platshållare för bildnummer 3"/>
          <p:cNvSpPr>
            <a:spLocks noGrp="1"/>
          </p:cNvSpPr>
          <p:nvPr>
            <p:ph type="sldNum" sz="quarter" idx="10"/>
          </p:nvPr>
        </p:nvSpPr>
        <p:spPr/>
        <p:txBody>
          <a:bodyPr/>
          <a:lstStyle/>
          <a:p>
            <a:pPr>
              <a:defRPr/>
            </a:pPr>
            <a:fld id="{EE811775-299A-4959-BF5A-5DFB3E75F6AC}" type="slidenum">
              <a:rPr lang="sv-SE" smtClean="0"/>
              <a:pPr>
                <a:defRPr/>
              </a:pPr>
              <a:t>5</a:t>
            </a:fld>
            <a:endParaRPr lang="sv-SE"/>
          </a:p>
        </p:txBody>
      </p:sp>
    </p:spTree>
    <p:extLst>
      <p:ext uri="{BB962C8B-B14F-4D97-AF65-F5344CB8AC3E}">
        <p14:creationId xmlns:p14="http://schemas.microsoft.com/office/powerpoint/2010/main" val="12166212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37DDE7AF-0683-48C8-9999-042CC6F759C9}" type="slidenum">
              <a:rPr lang="en-GB" smtClean="0"/>
              <a:t>6</a:t>
            </a:fld>
            <a:endParaRPr lang="en-GB"/>
          </a:p>
        </p:txBody>
      </p:sp>
    </p:spTree>
    <p:extLst>
      <p:ext uri="{BB962C8B-B14F-4D97-AF65-F5344CB8AC3E}">
        <p14:creationId xmlns:p14="http://schemas.microsoft.com/office/powerpoint/2010/main" val="28611405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smtClean="0"/>
              <a:t>We will return to the idea of reliably </a:t>
            </a:r>
            <a:r>
              <a:rPr lang="en-GB" dirty="0" err="1" smtClean="0"/>
              <a:t>beneficience</a:t>
            </a:r>
            <a:r>
              <a:rPr lang="en-GB" dirty="0" smtClean="0"/>
              <a:t> based and what that can mean later on </a:t>
            </a:r>
          </a:p>
          <a:p>
            <a:endParaRPr lang="en-GB" dirty="0"/>
          </a:p>
        </p:txBody>
      </p:sp>
      <p:sp>
        <p:nvSpPr>
          <p:cNvPr id="4" name="Slide Number Placeholder 3"/>
          <p:cNvSpPr>
            <a:spLocks noGrp="1"/>
          </p:cNvSpPr>
          <p:nvPr>
            <p:ph type="sldNum" sz="quarter" idx="10"/>
          </p:nvPr>
        </p:nvSpPr>
        <p:spPr/>
        <p:txBody>
          <a:bodyPr/>
          <a:lstStyle/>
          <a:p>
            <a:fld id="{37DDE7AF-0683-48C8-9999-042CC6F759C9}" type="slidenum">
              <a:rPr lang="en-GB" smtClean="0"/>
              <a:t>7</a:t>
            </a:fld>
            <a:endParaRPr lang="en-GB"/>
          </a:p>
        </p:txBody>
      </p:sp>
    </p:spTree>
    <p:extLst>
      <p:ext uri="{BB962C8B-B14F-4D97-AF65-F5344CB8AC3E}">
        <p14:creationId xmlns:p14="http://schemas.microsoft.com/office/powerpoint/2010/main" val="18636657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37DDE7AF-0683-48C8-9999-042CC6F759C9}" type="slidenum">
              <a:rPr lang="en-GB" smtClean="0"/>
              <a:t>8</a:t>
            </a:fld>
            <a:endParaRPr lang="en-GB"/>
          </a:p>
        </p:txBody>
      </p:sp>
    </p:spTree>
    <p:extLst>
      <p:ext uri="{BB962C8B-B14F-4D97-AF65-F5344CB8AC3E}">
        <p14:creationId xmlns:p14="http://schemas.microsoft.com/office/powerpoint/2010/main" val="22466459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smtClean="0">
                <a:solidFill>
                  <a:srgbClr val="FF0000"/>
                </a:solidFill>
              </a:rPr>
              <a:t>(can also be disguised paternalism, informed by the doctor’s own subconscious values), as in examples of assisted suicide where some doctors would say that the patient isn’t decision competent and therefore their wish to die shouldn’t be respected)</a:t>
            </a:r>
          </a:p>
          <a:p>
            <a:endParaRPr lang="en-GB" dirty="0"/>
          </a:p>
        </p:txBody>
      </p:sp>
      <p:sp>
        <p:nvSpPr>
          <p:cNvPr id="4" name="Slide Number Placeholder 3"/>
          <p:cNvSpPr>
            <a:spLocks noGrp="1"/>
          </p:cNvSpPr>
          <p:nvPr>
            <p:ph type="sldNum" sz="quarter" idx="10"/>
          </p:nvPr>
        </p:nvSpPr>
        <p:spPr/>
        <p:txBody>
          <a:bodyPr/>
          <a:lstStyle/>
          <a:p>
            <a:fld id="{37DDE7AF-0683-48C8-9999-042CC6F759C9}" type="slidenum">
              <a:rPr lang="en-GB" smtClean="0"/>
              <a:t>9</a:t>
            </a:fld>
            <a:endParaRPr lang="en-GB"/>
          </a:p>
        </p:txBody>
      </p:sp>
    </p:spTree>
    <p:extLst>
      <p:ext uri="{BB962C8B-B14F-4D97-AF65-F5344CB8AC3E}">
        <p14:creationId xmlns:p14="http://schemas.microsoft.com/office/powerpoint/2010/main" val="13065083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37DDE7AF-0683-48C8-9999-042CC6F759C9}" type="slidenum">
              <a:rPr lang="en-GB" smtClean="0"/>
              <a:t>10</a:t>
            </a:fld>
            <a:endParaRPr lang="en-GB"/>
          </a:p>
        </p:txBody>
      </p:sp>
    </p:spTree>
    <p:extLst>
      <p:ext uri="{BB962C8B-B14F-4D97-AF65-F5344CB8AC3E}">
        <p14:creationId xmlns:p14="http://schemas.microsoft.com/office/powerpoint/2010/main" val="32913299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37DDE7AF-0683-48C8-9999-042CC6F759C9}" type="slidenum">
              <a:rPr lang="en-GB" smtClean="0"/>
              <a:t>11</a:t>
            </a:fld>
            <a:endParaRPr lang="en-GB"/>
          </a:p>
        </p:txBody>
      </p:sp>
    </p:spTree>
    <p:extLst>
      <p:ext uri="{BB962C8B-B14F-4D97-AF65-F5344CB8AC3E}">
        <p14:creationId xmlns:p14="http://schemas.microsoft.com/office/powerpoint/2010/main" val="24385585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37DDE7AF-0683-48C8-9999-042CC6F759C9}" type="slidenum">
              <a:rPr lang="en-GB" smtClean="0"/>
              <a:t>12</a:t>
            </a:fld>
            <a:endParaRPr lang="en-GB"/>
          </a:p>
        </p:txBody>
      </p:sp>
    </p:spTree>
    <p:extLst>
      <p:ext uri="{BB962C8B-B14F-4D97-AF65-F5344CB8AC3E}">
        <p14:creationId xmlns:p14="http://schemas.microsoft.com/office/powerpoint/2010/main" val="18670882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Start by saying this: </a:t>
            </a:r>
          </a:p>
          <a:p>
            <a:r>
              <a:rPr lang="en-GB" dirty="0" smtClean="0"/>
              <a:t>Medical decisions are based on individual patient characteristics (e.g. biomarkers) rather than the averages over a whole population. That stands to revolutionise the management of many illnesses because:</a:t>
            </a:r>
          </a:p>
          <a:p>
            <a:endParaRPr lang="en-GB" dirty="0" smtClean="0"/>
          </a:p>
          <a:p>
            <a:r>
              <a:rPr lang="en-US" sz="1200" b="0" i="0" kern="1200" dirty="0" smtClean="0">
                <a:solidFill>
                  <a:schemeClr val="tx1"/>
                </a:solidFill>
                <a:effectLst/>
                <a:latin typeface="+mn-lt"/>
                <a:ea typeface="+mn-ea"/>
                <a:cs typeface="+mn-cs"/>
              </a:rPr>
              <a:t>BAYS-line) </a:t>
            </a:r>
            <a:r>
              <a:rPr lang="en-US" sz="1200" b="1" i="0" kern="1200" dirty="0" smtClean="0">
                <a:solidFill>
                  <a:schemeClr val="tx1"/>
                </a:solidFill>
                <a:effectLst/>
                <a:latin typeface="+mn-lt"/>
                <a:ea typeface="+mn-ea"/>
                <a:cs typeface="+mn-cs"/>
              </a:rPr>
              <a:t>An initial measurement of a condition that is taken at an early time point and used for comparison over time to look for changes</a:t>
            </a:r>
            <a:r>
              <a:rPr lang="en-US" sz="1200" b="0" i="0" kern="1200" dirty="0" smtClean="0">
                <a:solidFill>
                  <a:schemeClr val="tx1"/>
                </a:solidFill>
                <a:effectLst/>
                <a:latin typeface="+mn-lt"/>
                <a:ea typeface="+mn-ea"/>
                <a:cs typeface="+mn-cs"/>
              </a:rPr>
              <a:t>. For example, the size of a tumor will be measured before treatment (baseline) and then afterwards to see if the treatment had an effect.</a:t>
            </a:r>
            <a:endParaRPr lang="en-GB" dirty="0"/>
          </a:p>
        </p:txBody>
      </p:sp>
      <p:sp>
        <p:nvSpPr>
          <p:cNvPr id="4" name="Slide Number Placeholder 3"/>
          <p:cNvSpPr>
            <a:spLocks noGrp="1"/>
          </p:cNvSpPr>
          <p:nvPr>
            <p:ph type="sldNum" sz="quarter" idx="10"/>
          </p:nvPr>
        </p:nvSpPr>
        <p:spPr/>
        <p:txBody>
          <a:bodyPr/>
          <a:lstStyle/>
          <a:p>
            <a:fld id="{712C32DA-9C63-B543-9F83-1A1AE968A709}" type="slidenum">
              <a:rPr lang="en-GB" smtClean="0"/>
              <a:t>13</a:t>
            </a:fld>
            <a:endParaRPr lang="en-GB"/>
          </a:p>
        </p:txBody>
      </p:sp>
    </p:spTree>
    <p:extLst>
      <p:ext uri="{BB962C8B-B14F-4D97-AF65-F5344CB8AC3E}">
        <p14:creationId xmlns:p14="http://schemas.microsoft.com/office/powerpoint/2010/main" val="6851454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37DDE7AF-0683-48C8-9999-042CC6F759C9}" type="slidenum">
              <a:rPr lang="en-GB" smtClean="0"/>
              <a:t>14</a:t>
            </a:fld>
            <a:endParaRPr lang="en-GB"/>
          </a:p>
        </p:txBody>
      </p:sp>
    </p:spTree>
    <p:extLst>
      <p:ext uri="{BB962C8B-B14F-4D97-AF65-F5344CB8AC3E}">
        <p14:creationId xmlns:p14="http://schemas.microsoft.com/office/powerpoint/2010/main" val="6593799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Start by saying this: </a:t>
            </a:r>
          </a:p>
          <a:p>
            <a:r>
              <a:rPr lang="en-GB" dirty="0" smtClean="0"/>
              <a:t>Medical decisions are based on individual patient characteristics (e.g. biomarkers) rather than the averages over a whole population. That stands to revolutionise the management of many illnesses because:</a:t>
            </a:r>
            <a:endParaRPr lang="en-GB" dirty="0"/>
          </a:p>
        </p:txBody>
      </p:sp>
      <p:sp>
        <p:nvSpPr>
          <p:cNvPr id="4" name="Slide Number Placeholder 3"/>
          <p:cNvSpPr>
            <a:spLocks noGrp="1"/>
          </p:cNvSpPr>
          <p:nvPr>
            <p:ph type="sldNum" sz="quarter" idx="10"/>
          </p:nvPr>
        </p:nvSpPr>
        <p:spPr/>
        <p:txBody>
          <a:bodyPr/>
          <a:lstStyle/>
          <a:p>
            <a:fld id="{712C32DA-9C63-B543-9F83-1A1AE968A709}" type="slidenum">
              <a:rPr lang="en-GB" smtClean="0"/>
              <a:t>15</a:t>
            </a:fld>
            <a:endParaRPr lang="en-GB"/>
          </a:p>
        </p:txBody>
      </p:sp>
    </p:spTree>
    <p:extLst>
      <p:ext uri="{BB962C8B-B14F-4D97-AF65-F5344CB8AC3E}">
        <p14:creationId xmlns:p14="http://schemas.microsoft.com/office/powerpoint/2010/main" val="32251658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37DDE7AF-0683-48C8-9999-042CC6F759C9}" type="slidenum">
              <a:rPr lang="en-GB" smtClean="0"/>
              <a:t>16</a:t>
            </a:fld>
            <a:endParaRPr lang="en-GB"/>
          </a:p>
        </p:txBody>
      </p:sp>
    </p:spTree>
    <p:extLst>
      <p:ext uri="{BB962C8B-B14F-4D97-AF65-F5344CB8AC3E}">
        <p14:creationId xmlns:p14="http://schemas.microsoft.com/office/powerpoint/2010/main" val="17878230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37DDE7AF-0683-48C8-9999-042CC6F759C9}" type="slidenum">
              <a:rPr lang="en-GB" smtClean="0"/>
              <a:t>17</a:t>
            </a:fld>
            <a:endParaRPr lang="en-GB"/>
          </a:p>
        </p:txBody>
      </p:sp>
    </p:spTree>
    <p:extLst>
      <p:ext uri="{BB962C8B-B14F-4D97-AF65-F5344CB8AC3E}">
        <p14:creationId xmlns:p14="http://schemas.microsoft.com/office/powerpoint/2010/main" val="36909920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37DDE7AF-0683-48C8-9999-042CC6F759C9}" type="slidenum">
              <a:rPr lang="en-GB" smtClean="0"/>
              <a:t>18</a:t>
            </a:fld>
            <a:endParaRPr lang="en-GB"/>
          </a:p>
        </p:txBody>
      </p:sp>
    </p:spTree>
    <p:extLst>
      <p:ext uri="{BB962C8B-B14F-4D97-AF65-F5344CB8AC3E}">
        <p14:creationId xmlns:p14="http://schemas.microsoft.com/office/powerpoint/2010/main" val="28991686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37DDE7AF-0683-48C8-9999-042CC6F759C9}" type="slidenum">
              <a:rPr lang="en-GB" smtClean="0"/>
              <a:t>19</a:t>
            </a:fld>
            <a:endParaRPr lang="en-GB"/>
          </a:p>
        </p:txBody>
      </p:sp>
    </p:spTree>
    <p:extLst>
      <p:ext uri="{BB962C8B-B14F-4D97-AF65-F5344CB8AC3E}">
        <p14:creationId xmlns:p14="http://schemas.microsoft.com/office/powerpoint/2010/main" val="38827053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37DDE7AF-0683-48C8-9999-042CC6F759C9}" type="slidenum">
              <a:rPr lang="en-GB" smtClean="0"/>
              <a:t>21</a:t>
            </a:fld>
            <a:endParaRPr lang="en-GB"/>
          </a:p>
        </p:txBody>
      </p:sp>
    </p:spTree>
    <p:extLst>
      <p:ext uri="{BB962C8B-B14F-4D97-AF65-F5344CB8AC3E}">
        <p14:creationId xmlns:p14="http://schemas.microsoft.com/office/powerpoint/2010/main" val="7808326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37DDE7AF-0683-48C8-9999-042CC6F759C9}" type="slidenum">
              <a:rPr lang="en-GB" smtClean="0"/>
              <a:t>22</a:t>
            </a:fld>
            <a:endParaRPr lang="en-GB"/>
          </a:p>
        </p:txBody>
      </p:sp>
    </p:spTree>
    <p:extLst>
      <p:ext uri="{BB962C8B-B14F-4D97-AF65-F5344CB8AC3E}">
        <p14:creationId xmlns:p14="http://schemas.microsoft.com/office/powerpoint/2010/main" val="29891768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37DDE7AF-0683-48C8-9999-042CC6F759C9}" type="slidenum">
              <a:rPr lang="en-GB" smtClean="0"/>
              <a:t>23</a:t>
            </a:fld>
            <a:endParaRPr lang="en-GB"/>
          </a:p>
        </p:txBody>
      </p:sp>
    </p:spTree>
    <p:extLst>
      <p:ext uri="{BB962C8B-B14F-4D97-AF65-F5344CB8AC3E}">
        <p14:creationId xmlns:p14="http://schemas.microsoft.com/office/powerpoint/2010/main" val="9520076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37DDE7AF-0683-48C8-9999-042CC6F759C9}" type="slidenum">
              <a:rPr lang="en-GB" smtClean="0"/>
              <a:t>24</a:t>
            </a:fld>
            <a:endParaRPr lang="en-GB"/>
          </a:p>
        </p:txBody>
      </p:sp>
    </p:spTree>
    <p:extLst>
      <p:ext uri="{BB962C8B-B14F-4D97-AF65-F5344CB8AC3E}">
        <p14:creationId xmlns:p14="http://schemas.microsoft.com/office/powerpoint/2010/main" val="33971945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37DDE7AF-0683-48C8-9999-042CC6F759C9}" type="slidenum">
              <a:rPr lang="en-GB" smtClean="0"/>
              <a:t>25</a:t>
            </a:fld>
            <a:endParaRPr lang="en-GB"/>
          </a:p>
        </p:txBody>
      </p:sp>
    </p:spTree>
    <p:extLst>
      <p:ext uri="{BB962C8B-B14F-4D97-AF65-F5344CB8AC3E}">
        <p14:creationId xmlns:p14="http://schemas.microsoft.com/office/powerpoint/2010/main" val="32886953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37DDE7AF-0683-48C8-9999-042CC6F759C9}" type="slidenum">
              <a:rPr lang="en-GB" smtClean="0"/>
              <a:t>26</a:t>
            </a:fld>
            <a:endParaRPr lang="en-GB"/>
          </a:p>
        </p:txBody>
      </p:sp>
    </p:spTree>
    <p:extLst>
      <p:ext uri="{BB962C8B-B14F-4D97-AF65-F5344CB8AC3E}">
        <p14:creationId xmlns:p14="http://schemas.microsoft.com/office/powerpoint/2010/main" val="15965728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37DDE7AF-0683-48C8-9999-042CC6F759C9}" type="slidenum">
              <a:rPr lang="en-GB" smtClean="0"/>
              <a:t>27</a:t>
            </a:fld>
            <a:endParaRPr lang="en-GB"/>
          </a:p>
        </p:txBody>
      </p:sp>
    </p:spTree>
    <p:extLst>
      <p:ext uri="{BB962C8B-B14F-4D97-AF65-F5344CB8AC3E}">
        <p14:creationId xmlns:p14="http://schemas.microsoft.com/office/powerpoint/2010/main" val="38844064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37DDE7AF-0683-48C8-9999-042CC6F759C9}" type="slidenum">
              <a:rPr lang="en-GB" smtClean="0"/>
              <a:t>28</a:t>
            </a:fld>
            <a:endParaRPr lang="en-GB"/>
          </a:p>
        </p:txBody>
      </p:sp>
    </p:spTree>
    <p:extLst>
      <p:ext uri="{BB962C8B-B14F-4D97-AF65-F5344CB8AC3E}">
        <p14:creationId xmlns:p14="http://schemas.microsoft.com/office/powerpoint/2010/main" val="11151893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37DDE7AF-0683-48C8-9999-042CC6F759C9}" type="slidenum">
              <a:rPr lang="en-GB" smtClean="0"/>
              <a:t>29</a:t>
            </a:fld>
            <a:endParaRPr lang="en-GB"/>
          </a:p>
        </p:txBody>
      </p:sp>
    </p:spTree>
    <p:extLst>
      <p:ext uri="{BB962C8B-B14F-4D97-AF65-F5344CB8AC3E}">
        <p14:creationId xmlns:p14="http://schemas.microsoft.com/office/powerpoint/2010/main" val="10669581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37DDE7AF-0683-48C8-9999-042CC6F759C9}" type="slidenum">
              <a:rPr lang="en-GB" smtClean="0"/>
              <a:t>30</a:t>
            </a:fld>
            <a:endParaRPr lang="en-GB"/>
          </a:p>
        </p:txBody>
      </p:sp>
    </p:spTree>
    <p:extLst>
      <p:ext uri="{BB962C8B-B14F-4D97-AF65-F5344CB8AC3E}">
        <p14:creationId xmlns:p14="http://schemas.microsoft.com/office/powerpoint/2010/main" val="9080922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37DDE7AF-0683-48C8-9999-042CC6F759C9}" type="slidenum">
              <a:rPr lang="en-GB" smtClean="0"/>
              <a:t>31</a:t>
            </a:fld>
            <a:endParaRPr lang="en-GB"/>
          </a:p>
        </p:txBody>
      </p:sp>
    </p:spTree>
    <p:extLst>
      <p:ext uri="{BB962C8B-B14F-4D97-AF65-F5344CB8AC3E}">
        <p14:creationId xmlns:p14="http://schemas.microsoft.com/office/powerpoint/2010/main" val="10048363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12C32DA-9C63-B543-9F83-1A1AE968A709}" type="slidenum">
              <a:rPr lang="en-GB" smtClean="0"/>
              <a:t>32</a:t>
            </a:fld>
            <a:endParaRPr lang="en-GB"/>
          </a:p>
        </p:txBody>
      </p:sp>
    </p:spTree>
    <p:extLst>
      <p:ext uri="{BB962C8B-B14F-4D97-AF65-F5344CB8AC3E}">
        <p14:creationId xmlns:p14="http://schemas.microsoft.com/office/powerpoint/2010/main" val="321375738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37DDE7AF-0683-48C8-9999-042CC6F759C9}" type="slidenum">
              <a:rPr lang="en-GB" smtClean="0"/>
              <a:t>33</a:t>
            </a:fld>
            <a:endParaRPr lang="en-GB"/>
          </a:p>
        </p:txBody>
      </p:sp>
    </p:spTree>
    <p:extLst>
      <p:ext uri="{BB962C8B-B14F-4D97-AF65-F5344CB8AC3E}">
        <p14:creationId xmlns:p14="http://schemas.microsoft.com/office/powerpoint/2010/main" val="29921269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So I don’t want to hear – it’s a tension between autonomy and beneficence – I know that, that’s sort of the definition of paternalism </a:t>
            </a:r>
          </a:p>
          <a:p>
            <a:r>
              <a:rPr lang="en-GB" dirty="0" smtClean="0"/>
              <a:t>I want to </a:t>
            </a:r>
            <a:r>
              <a:rPr lang="en-GB" dirty="0" err="1" smtClean="0"/>
              <a:t>to</a:t>
            </a:r>
            <a:r>
              <a:rPr lang="en-GB" dirty="0" smtClean="0"/>
              <a:t> elaborate – why and in what way does it</a:t>
            </a:r>
            <a:r>
              <a:rPr lang="en-GB" baseline="0" dirty="0" smtClean="0"/>
              <a:t> undermine the </a:t>
            </a:r>
            <a:r>
              <a:rPr lang="en-GB" baseline="0" dirty="0" err="1" smtClean="0"/>
              <a:t>pateints</a:t>
            </a:r>
            <a:r>
              <a:rPr lang="en-GB" baseline="0" dirty="0" smtClean="0"/>
              <a:t> autonomy. How is this act defended as beneficence. Articulate – recall the quote from lecture one – on </a:t>
            </a:r>
            <a:r>
              <a:rPr lang="en-GB" baseline="0" dirty="0" err="1" smtClean="0"/>
              <a:t>specificationthe</a:t>
            </a:r>
            <a:r>
              <a:rPr lang="en-GB" baseline="0" dirty="0" smtClean="0"/>
              <a:t> doctor </a:t>
            </a:r>
          </a:p>
          <a:p>
            <a:r>
              <a:rPr lang="en-GB" dirty="0" smtClean="0"/>
              <a:t>spelling out where, when, why, how, by what means, to whom, or by whom </a:t>
            </a:r>
          </a:p>
          <a:p>
            <a:endParaRPr lang="en-GB"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smtClean="0"/>
              <a:t>s it weak/soft (interfering with the means) or strong/hard (interfering with the ends) paternalism?</a:t>
            </a:r>
            <a:endParaRPr lang="en-GB" sz="1200" dirty="0" smtClean="0"/>
          </a:p>
          <a:p>
            <a:endParaRPr lang="en-GB" dirty="0"/>
          </a:p>
        </p:txBody>
      </p:sp>
      <p:sp>
        <p:nvSpPr>
          <p:cNvPr id="4" name="Slide Number Placeholder 3"/>
          <p:cNvSpPr>
            <a:spLocks noGrp="1"/>
          </p:cNvSpPr>
          <p:nvPr>
            <p:ph type="sldNum" sz="quarter" idx="10"/>
          </p:nvPr>
        </p:nvSpPr>
        <p:spPr/>
        <p:txBody>
          <a:bodyPr/>
          <a:lstStyle/>
          <a:p>
            <a:fld id="{37DDE7AF-0683-48C8-9999-042CC6F759C9}" type="slidenum">
              <a:rPr lang="en-GB" smtClean="0"/>
              <a:t>34</a:t>
            </a:fld>
            <a:endParaRPr lang="en-GB"/>
          </a:p>
        </p:txBody>
      </p:sp>
    </p:spTree>
    <p:extLst>
      <p:ext uri="{BB962C8B-B14F-4D97-AF65-F5344CB8AC3E}">
        <p14:creationId xmlns:p14="http://schemas.microsoft.com/office/powerpoint/2010/main" val="135548626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37DDE7AF-0683-48C8-9999-042CC6F759C9}" type="slidenum">
              <a:rPr lang="en-GB" smtClean="0"/>
              <a:t>35</a:t>
            </a:fld>
            <a:endParaRPr lang="en-GB"/>
          </a:p>
        </p:txBody>
      </p:sp>
    </p:spTree>
    <p:extLst>
      <p:ext uri="{BB962C8B-B14F-4D97-AF65-F5344CB8AC3E}">
        <p14:creationId xmlns:p14="http://schemas.microsoft.com/office/powerpoint/2010/main" val="214910355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37DDE7AF-0683-48C8-9999-042CC6F759C9}" type="slidenum">
              <a:rPr lang="en-GB" smtClean="0"/>
              <a:t>36</a:t>
            </a:fld>
            <a:endParaRPr lang="en-GB"/>
          </a:p>
        </p:txBody>
      </p:sp>
    </p:spTree>
    <p:extLst>
      <p:ext uri="{BB962C8B-B14F-4D97-AF65-F5344CB8AC3E}">
        <p14:creationId xmlns:p14="http://schemas.microsoft.com/office/powerpoint/2010/main" val="39527201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B625BAB1-385C-4019-BC01-37F3BDDA53CE}" type="datetimeFigureOut">
              <a:rPr lang="en-GB" smtClean="0"/>
              <a:t>02/12/2024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CEDF028-A27A-4F8F-B764-2073C79AE5AE}" type="slidenum">
              <a:rPr lang="en-GB" smtClean="0"/>
              <a:t>‹#›</a:t>
            </a:fld>
            <a:endParaRPr lang="en-GB"/>
          </a:p>
        </p:txBody>
      </p:sp>
    </p:spTree>
    <p:extLst>
      <p:ext uri="{BB962C8B-B14F-4D97-AF65-F5344CB8AC3E}">
        <p14:creationId xmlns:p14="http://schemas.microsoft.com/office/powerpoint/2010/main" val="20391038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B625BAB1-385C-4019-BC01-37F3BDDA53CE}" type="datetimeFigureOut">
              <a:rPr lang="en-GB" smtClean="0"/>
              <a:t>02/12/2024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CEDF028-A27A-4F8F-B764-2073C79AE5AE}" type="slidenum">
              <a:rPr lang="en-GB" smtClean="0"/>
              <a:t>‹#›</a:t>
            </a:fld>
            <a:endParaRPr lang="en-GB"/>
          </a:p>
        </p:txBody>
      </p:sp>
    </p:spTree>
    <p:extLst>
      <p:ext uri="{BB962C8B-B14F-4D97-AF65-F5344CB8AC3E}">
        <p14:creationId xmlns:p14="http://schemas.microsoft.com/office/powerpoint/2010/main" val="845832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25BAB1-385C-4019-BC01-37F3BDDA53CE}" type="datetimeFigureOut">
              <a:rPr lang="en-GB" smtClean="0"/>
              <a:t>02/12/2024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CEDF028-A27A-4F8F-B764-2073C79AE5AE}" type="slidenum">
              <a:rPr lang="en-GB" smtClean="0"/>
              <a:t>‹#›</a:t>
            </a:fld>
            <a:endParaRPr lang="en-GB"/>
          </a:p>
        </p:txBody>
      </p:sp>
    </p:spTree>
    <p:extLst>
      <p:ext uri="{BB962C8B-B14F-4D97-AF65-F5344CB8AC3E}">
        <p14:creationId xmlns:p14="http://schemas.microsoft.com/office/powerpoint/2010/main" val="2093372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B625BAB1-385C-4019-BC01-37F3BDDA53CE}" type="datetimeFigureOut">
              <a:rPr lang="en-GB" smtClean="0"/>
              <a:t>02/12/2024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CEDF028-A27A-4F8F-B764-2073C79AE5AE}" type="slidenum">
              <a:rPr lang="en-GB" smtClean="0"/>
              <a:t>‹#›</a:t>
            </a:fld>
            <a:endParaRPr lang="en-GB"/>
          </a:p>
        </p:txBody>
      </p:sp>
    </p:spTree>
    <p:extLst>
      <p:ext uri="{BB962C8B-B14F-4D97-AF65-F5344CB8AC3E}">
        <p14:creationId xmlns:p14="http://schemas.microsoft.com/office/powerpoint/2010/main" val="3937664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B625BAB1-385C-4019-BC01-37F3BDDA53CE}" type="datetimeFigureOut">
              <a:rPr lang="en-GB" smtClean="0"/>
              <a:t>02/12/2024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9CEDF028-A27A-4F8F-B764-2073C79AE5AE}" type="slidenum">
              <a:rPr lang="en-GB" smtClean="0"/>
              <a:t>‹#›</a:t>
            </a:fld>
            <a:endParaRPr lang="en-GB"/>
          </a:p>
        </p:txBody>
      </p:sp>
    </p:spTree>
    <p:extLst>
      <p:ext uri="{BB962C8B-B14F-4D97-AF65-F5344CB8AC3E}">
        <p14:creationId xmlns:p14="http://schemas.microsoft.com/office/powerpoint/2010/main" val="2694688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B625BAB1-385C-4019-BC01-37F3BDDA53CE}" type="datetimeFigureOut">
              <a:rPr lang="en-GB" smtClean="0"/>
              <a:t>02/12/2024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9CEDF028-A27A-4F8F-B764-2073C79AE5AE}" type="slidenum">
              <a:rPr lang="en-GB" smtClean="0"/>
              <a:t>‹#›</a:t>
            </a:fld>
            <a:endParaRPr lang="en-GB"/>
          </a:p>
        </p:txBody>
      </p:sp>
    </p:spTree>
    <p:extLst>
      <p:ext uri="{BB962C8B-B14F-4D97-AF65-F5344CB8AC3E}">
        <p14:creationId xmlns:p14="http://schemas.microsoft.com/office/powerpoint/2010/main" val="1219957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25BAB1-385C-4019-BC01-37F3BDDA53CE}" type="datetimeFigureOut">
              <a:rPr lang="en-GB" smtClean="0"/>
              <a:t>02/12/2024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9CEDF028-A27A-4F8F-B764-2073C79AE5AE}" type="slidenum">
              <a:rPr lang="en-GB" smtClean="0"/>
              <a:t>‹#›</a:t>
            </a:fld>
            <a:endParaRPr lang="en-GB"/>
          </a:p>
        </p:txBody>
      </p:sp>
    </p:spTree>
    <p:extLst>
      <p:ext uri="{BB962C8B-B14F-4D97-AF65-F5344CB8AC3E}">
        <p14:creationId xmlns:p14="http://schemas.microsoft.com/office/powerpoint/2010/main" val="14994615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625BAB1-385C-4019-BC01-37F3BDDA53CE}" type="datetimeFigureOut">
              <a:rPr lang="en-GB" smtClean="0"/>
              <a:t>02/12/2024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CEDF028-A27A-4F8F-B764-2073C79AE5AE}" type="slidenum">
              <a:rPr lang="en-GB" smtClean="0"/>
              <a:t>‹#›</a:t>
            </a:fld>
            <a:endParaRPr lang="en-GB"/>
          </a:p>
        </p:txBody>
      </p:sp>
    </p:spTree>
    <p:extLst>
      <p:ext uri="{BB962C8B-B14F-4D97-AF65-F5344CB8AC3E}">
        <p14:creationId xmlns:p14="http://schemas.microsoft.com/office/powerpoint/2010/main" val="22299969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625BAB1-385C-4019-BC01-37F3BDDA53CE}" type="datetimeFigureOut">
              <a:rPr lang="en-GB" smtClean="0"/>
              <a:t>02/12/2024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CEDF028-A27A-4F8F-B764-2073C79AE5AE}" type="slidenum">
              <a:rPr lang="en-GB" smtClean="0"/>
              <a:t>‹#›</a:t>
            </a:fld>
            <a:endParaRPr lang="en-GB"/>
          </a:p>
        </p:txBody>
      </p:sp>
    </p:spTree>
    <p:extLst>
      <p:ext uri="{BB962C8B-B14F-4D97-AF65-F5344CB8AC3E}">
        <p14:creationId xmlns:p14="http://schemas.microsoft.com/office/powerpoint/2010/main" val="15515413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B625BAB1-385C-4019-BC01-37F3BDDA53CE}" type="datetimeFigureOut">
              <a:rPr lang="en-GB" smtClean="0"/>
              <a:t>02/12/2024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CEDF028-A27A-4F8F-B764-2073C79AE5AE}" type="slidenum">
              <a:rPr lang="en-GB" smtClean="0"/>
              <a:t>‹#›</a:t>
            </a:fld>
            <a:endParaRPr lang="en-GB"/>
          </a:p>
        </p:txBody>
      </p:sp>
    </p:spTree>
    <p:extLst>
      <p:ext uri="{BB962C8B-B14F-4D97-AF65-F5344CB8AC3E}">
        <p14:creationId xmlns:p14="http://schemas.microsoft.com/office/powerpoint/2010/main" val="6467526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B625BAB1-385C-4019-BC01-37F3BDDA53CE}" type="datetimeFigureOut">
              <a:rPr lang="en-GB" smtClean="0"/>
              <a:t>02/12/2024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CEDF028-A27A-4F8F-B764-2073C79AE5AE}" type="slidenum">
              <a:rPr lang="en-GB" smtClean="0"/>
              <a:t>‹#›</a:t>
            </a:fld>
            <a:endParaRPr lang="en-GB"/>
          </a:p>
        </p:txBody>
      </p:sp>
    </p:spTree>
    <p:extLst>
      <p:ext uri="{BB962C8B-B14F-4D97-AF65-F5344CB8AC3E}">
        <p14:creationId xmlns:p14="http://schemas.microsoft.com/office/powerpoint/2010/main" val="26286416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_eng">
    <p:spTree>
      <p:nvGrpSpPr>
        <p:cNvPr id="1" name=""/>
        <p:cNvGrpSpPr/>
        <p:nvPr/>
      </p:nvGrpSpPr>
      <p:grpSpPr>
        <a:xfrm>
          <a:off x="0" y="0"/>
          <a:ext cx="0" cy="0"/>
          <a:chOff x="0" y="0"/>
          <a:chExt cx="0" cy="0"/>
        </a:xfrm>
      </p:grpSpPr>
      <p:pic>
        <p:nvPicPr>
          <p:cNvPr id="152" name="Bildobjekt 19">
            <a:extLst>
              <a:ext uri="{FF2B5EF4-FFF2-40B4-BE49-F238E27FC236}">
                <a16:creationId xmlns:a16="http://schemas.microsoft.com/office/drawing/2014/main" id="{824DB9BD-A298-6442-B174-7EC707EC3227}"/>
              </a:ext>
            </a:extLst>
          </p:cNvPr>
          <p:cNvPicPr>
            <a:picLocks noChangeAspect="1" noChangeArrowheads="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9129372" y="448216"/>
            <a:ext cx="2455333" cy="294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Date Placeholder 4">
            <a:extLst>
              <a:ext uri="{FF2B5EF4-FFF2-40B4-BE49-F238E27FC236}">
                <a16:creationId xmlns:a16="http://schemas.microsoft.com/office/drawing/2014/main" id="{005333CB-1434-CD48-8D6D-0877D03C989B}"/>
              </a:ext>
            </a:extLst>
          </p:cNvPr>
          <p:cNvSpPr>
            <a:spLocks noGrp="1"/>
          </p:cNvSpPr>
          <p:nvPr>
            <p:ph type="dt" sz="half" idx="10"/>
          </p:nvPr>
        </p:nvSpPr>
        <p:spPr/>
        <p:txBody>
          <a:bodyPr/>
          <a:lstStyle/>
          <a:p>
            <a:fld id="{732254F0-E97B-4744-BFAF-7FF54B0017C2}" type="datetime1">
              <a:rPr lang="sv-SE" smtClean="0"/>
              <a:t>2024-12-02</a:t>
            </a:fld>
            <a:endParaRPr lang="sv-SE"/>
          </a:p>
        </p:txBody>
      </p:sp>
      <p:sp>
        <p:nvSpPr>
          <p:cNvPr id="6" name="Footer Placeholder 5">
            <a:extLst>
              <a:ext uri="{FF2B5EF4-FFF2-40B4-BE49-F238E27FC236}">
                <a16:creationId xmlns:a16="http://schemas.microsoft.com/office/drawing/2014/main" id="{302AFE5C-937B-EE40-9A6B-AEB1D44B0D41}"/>
              </a:ext>
            </a:extLst>
          </p:cNvPr>
          <p:cNvSpPr>
            <a:spLocks noGrp="1"/>
          </p:cNvSpPr>
          <p:nvPr>
            <p:ph type="ftr" sz="quarter" idx="11"/>
          </p:nvPr>
        </p:nvSpPr>
        <p:spPr/>
        <p:txBody>
          <a:bodyPr/>
          <a:lstStyle/>
          <a:p>
            <a:r>
              <a:rPr lang="sv-SE"/>
              <a:t>Footer</a:t>
            </a:r>
          </a:p>
        </p:txBody>
      </p:sp>
      <p:sp>
        <p:nvSpPr>
          <p:cNvPr id="7" name="Slide Number Placeholder 6">
            <a:extLst>
              <a:ext uri="{FF2B5EF4-FFF2-40B4-BE49-F238E27FC236}">
                <a16:creationId xmlns:a16="http://schemas.microsoft.com/office/drawing/2014/main" id="{6090237B-88FE-A740-9275-6347AA1C63B3}"/>
              </a:ext>
            </a:extLst>
          </p:cNvPr>
          <p:cNvSpPr>
            <a:spLocks noGrp="1"/>
          </p:cNvSpPr>
          <p:nvPr>
            <p:ph type="sldNum" sz="quarter" idx="12"/>
          </p:nvPr>
        </p:nvSpPr>
        <p:spPr/>
        <p:txBody>
          <a:bodyPr/>
          <a:lstStyle/>
          <a:p>
            <a:fld id="{8527FB4B-7893-4946-9C41-FB1EB79145A0}" type="slidenum">
              <a:rPr lang="sv-SE" smtClean="0"/>
              <a:t>‹#›</a:t>
            </a:fld>
            <a:endParaRPr lang="sv-SE"/>
          </a:p>
        </p:txBody>
      </p:sp>
      <p:sp>
        <p:nvSpPr>
          <p:cNvPr id="9" name="Rubrik 1">
            <a:extLst>
              <a:ext uri="{FF2B5EF4-FFF2-40B4-BE49-F238E27FC236}">
                <a16:creationId xmlns:a16="http://schemas.microsoft.com/office/drawing/2014/main" id="{7954B8BA-4DAB-4627-8613-2775B12BE06F}"/>
              </a:ext>
            </a:extLst>
          </p:cNvPr>
          <p:cNvSpPr>
            <a:spLocks noGrp="1"/>
          </p:cNvSpPr>
          <p:nvPr>
            <p:ph type="ctrTitle" hasCustomPrompt="1"/>
          </p:nvPr>
        </p:nvSpPr>
        <p:spPr>
          <a:xfrm>
            <a:off x="1038579" y="1915420"/>
            <a:ext cx="10700222" cy="864000"/>
          </a:xfrm>
        </p:spPr>
        <p:txBody>
          <a:bodyPr lIns="0" rIns="0" anchor="t">
            <a:noAutofit/>
          </a:bodyPr>
          <a:lstStyle>
            <a:lvl1pPr algn="l">
              <a:lnSpc>
                <a:spcPct val="90000"/>
              </a:lnSpc>
              <a:defRPr sz="3600"/>
            </a:lvl1pPr>
          </a:lstStyle>
          <a:p>
            <a:r>
              <a:rPr lang="sv-SE" dirty="0"/>
              <a:t>Klicka för att ändra rubrikformat</a:t>
            </a:r>
            <a:endParaRPr lang="en-GB" dirty="0"/>
          </a:p>
        </p:txBody>
      </p:sp>
      <p:sp>
        <p:nvSpPr>
          <p:cNvPr id="10" name="Underrubrik 2">
            <a:extLst>
              <a:ext uri="{FF2B5EF4-FFF2-40B4-BE49-F238E27FC236}">
                <a16:creationId xmlns:a16="http://schemas.microsoft.com/office/drawing/2014/main" id="{5376CEF8-4EAE-46E6-8292-1AC0484E8000}"/>
              </a:ext>
            </a:extLst>
          </p:cNvPr>
          <p:cNvSpPr>
            <a:spLocks noGrp="1"/>
          </p:cNvSpPr>
          <p:nvPr>
            <p:ph type="subTitle" idx="1"/>
          </p:nvPr>
        </p:nvSpPr>
        <p:spPr>
          <a:xfrm>
            <a:off x="1038559" y="2817821"/>
            <a:ext cx="10699042" cy="611179"/>
          </a:xfrm>
        </p:spPr>
        <p:txBody>
          <a:bodyPr lIns="0" rIns="0">
            <a:noAutofit/>
          </a:bodyPr>
          <a:lstStyle>
            <a:lvl1pPr marL="0" indent="0" algn="l">
              <a:lnSpc>
                <a:spcPct val="90000"/>
              </a:lnSpc>
              <a:buNone/>
              <a:defRPr sz="200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a:t>Click to edit Master subtitle style</a:t>
            </a:r>
            <a:endParaRPr lang="en-GB" dirty="0"/>
          </a:p>
        </p:txBody>
      </p:sp>
      <p:pic>
        <p:nvPicPr>
          <p:cNvPr id="14" name="Graphic 13">
            <a:extLst>
              <a:ext uri="{FF2B5EF4-FFF2-40B4-BE49-F238E27FC236}">
                <a16:creationId xmlns:a16="http://schemas.microsoft.com/office/drawing/2014/main" id="{3DB5E93F-E018-934D-B125-CFB6D3B25908}"/>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rcRect r="2089"/>
          <a:stretch/>
        </p:blipFill>
        <p:spPr>
          <a:xfrm>
            <a:off x="438698" y="4085814"/>
            <a:ext cx="11301748" cy="2468885"/>
          </a:xfrm>
          <a:prstGeom prst="rect">
            <a:avLst/>
          </a:prstGeom>
        </p:spPr>
      </p:pic>
    </p:spTree>
    <p:extLst>
      <p:ext uri="{BB962C8B-B14F-4D97-AF65-F5344CB8AC3E}">
        <p14:creationId xmlns:p14="http://schemas.microsoft.com/office/powerpoint/2010/main" val="2402628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Headline and Content">
    <p:spTree>
      <p:nvGrpSpPr>
        <p:cNvPr id="1" name=""/>
        <p:cNvGrpSpPr/>
        <p:nvPr/>
      </p:nvGrpSpPr>
      <p:grpSpPr>
        <a:xfrm>
          <a:off x="0" y="0"/>
          <a:ext cx="0" cy="0"/>
          <a:chOff x="0" y="0"/>
          <a:chExt cx="0" cy="0"/>
        </a:xfrm>
      </p:grpSpPr>
      <p:sp>
        <p:nvSpPr>
          <p:cNvPr id="6" name="Rubrik 1"/>
          <p:cNvSpPr>
            <a:spLocks noGrp="1"/>
          </p:cNvSpPr>
          <p:nvPr>
            <p:ph type="title"/>
          </p:nvPr>
        </p:nvSpPr>
        <p:spPr>
          <a:xfrm>
            <a:off x="2159000" y="404869"/>
            <a:ext cx="9247717" cy="668339"/>
          </a:xfrm>
        </p:spPr>
        <p:txBody>
          <a:bodyPr/>
          <a:lstStyle/>
          <a:p>
            <a:r>
              <a:rPr lang="en-US" smtClean="0"/>
              <a:t>Click to edit Master title style</a:t>
            </a:r>
            <a:endParaRPr lang="en-GB" dirty="0"/>
          </a:p>
        </p:txBody>
      </p:sp>
      <p:sp>
        <p:nvSpPr>
          <p:cNvPr id="7" name="Platshållare för innehåll 2"/>
          <p:cNvSpPr>
            <a:spLocks noGrp="1"/>
          </p:cNvSpPr>
          <p:nvPr>
            <p:ph idx="1"/>
          </p:nvPr>
        </p:nvSpPr>
        <p:spPr>
          <a:xfrm>
            <a:off x="2159000" y="1582739"/>
            <a:ext cx="9247717" cy="40782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8" name="Platshållare för datum 3"/>
          <p:cNvSpPr>
            <a:spLocks noGrp="1"/>
          </p:cNvSpPr>
          <p:nvPr>
            <p:ph type="dt" sz="half" idx="10"/>
          </p:nvPr>
        </p:nvSpPr>
        <p:spPr>
          <a:xfrm>
            <a:off x="7440149" y="6288510"/>
            <a:ext cx="2844800" cy="365125"/>
          </a:xfrm>
        </p:spPr>
        <p:txBody>
          <a:bodyPr/>
          <a:lstStyle>
            <a:lvl1pPr>
              <a:defRPr sz="1100"/>
            </a:lvl1pPr>
          </a:lstStyle>
          <a:p>
            <a:fld id="{CFCB38AA-14D0-4B67-BE5B-608C5A8A7489}" type="datetimeFigureOut">
              <a:rPr lang="sv-SE" smtClean="0"/>
              <a:pPr/>
              <a:t>2024-12-02</a:t>
            </a:fld>
            <a:endParaRPr lang="sv-SE"/>
          </a:p>
        </p:txBody>
      </p:sp>
      <p:sp>
        <p:nvSpPr>
          <p:cNvPr id="9" name="Platshållare för bildnummer 5"/>
          <p:cNvSpPr>
            <a:spLocks noGrp="1"/>
          </p:cNvSpPr>
          <p:nvPr>
            <p:ph type="sldNum" sz="quarter" idx="12"/>
          </p:nvPr>
        </p:nvSpPr>
        <p:spPr>
          <a:xfrm>
            <a:off x="10896534" y="6301411"/>
            <a:ext cx="709150" cy="365125"/>
          </a:xfrm>
        </p:spPr>
        <p:txBody>
          <a:bodyPr/>
          <a:lstStyle>
            <a:lvl1pPr>
              <a:defRPr sz="1100"/>
            </a:lvl1pPr>
          </a:lstStyle>
          <a:p>
            <a:fld id="{680D72F4-1C41-4187-A4BC-492CF086CF40}" type="slidenum">
              <a:rPr lang="sv-SE" smtClean="0"/>
              <a:pPr/>
              <a:t>‹#›</a:t>
            </a:fld>
            <a:endParaRPr lang="sv-SE"/>
          </a:p>
        </p:txBody>
      </p:sp>
      <p:sp>
        <p:nvSpPr>
          <p:cNvPr id="10" name="Platshållare för sidfot 4"/>
          <p:cNvSpPr>
            <a:spLocks noGrp="1"/>
          </p:cNvSpPr>
          <p:nvPr>
            <p:ph type="ftr" sz="quarter" idx="11"/>
          </p:nvPr>
        </p:nvSpPr>
        <p:spPr>
          <a:xfrm>
            <a:off x="2159001" y="6345300"/>
            <a:ext cx="3860800" cy="365125"/>
          </a:xfrm>
        </p:spPr>
        <p:txBody>
          <a:bodyPr lIns="0" tIns="0" rIns="0" bIns="0" anchor="t"/>
          <a:lstStyle>
            <a:lvl1pPr algn="l">
              <a:lnSpc>
                <a:spcPts val="900"/>
              </a:lnSpc>
              <a:defRPr sz="1100" b="1" cap="all" baseline="0">
                <a:solidFill>
                  <a:schemeClr val="bg1"/>
                </a:solidFill>
              </a:defRPr>
            </a:lvl1pPr>
          </a:lstStyle>
          <a:p>
            <a:endParaRPr lang="sv-SE" dirty="0"/>
          </a:p>
        </p:txBody>
      </p:sp>
    </p:spTree>
    <p:extLst>
      <p:ext uri="{BB962C8B-B14F-4D97-AF65-F5344CB8AC3E}">
        <p14:creationId xmlns:p14="http://schemas.microsoft.com/office/powerpoint/2010/main" val="3282170222"/>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25BAB1-385C-4019-BC01-37F3BDDA53CE}" type="datetimeFigureOut">
              <a:rPr lang="en-GB" smtClean="0"/>
              <a:t>02/12/2024</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EDF028-A27A-4F8F-B764-2073C79AE5AE}" type="slidenum">
              <a:rPr lang="en-GB" smtClean="0"/>
              <a:t>‹#›</a:t>
            </a:fld>
            <a:endParaRPr lang="en-GB"/>
          </a:p>
        </p:txBody>
      </p:sp>
    </p:spTree>
    <p:extLst>
      <p:ext uri="{BB962C8B-B14F-4D97-AF65-F5344CB8AC3E}">
        <p14:creationId xmlns:p14="http://schemas.microsoft.com/office/powerpoint/2010/main" val="2781958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5.png"/><Relationship Id="rId5" Type="http://schemas.openxmlformats.org/officeDocument/2006/relationships/hyperlink" Target="https://creativecommons.org/licenses/by-sa/3.0/" TargetMode="External"/><Relationship Id="rId4" Type="http://schemas.openxmlformats.org/officeDocument/2006/relationships/hyperlink" Target="https://commons.wikimedia.org/wiki/File:EU-SE-Stockholm-KK-Systemolaget.JPG"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hyperlink" Target="https://creativecommons.org/licenses/by-nc-sa/3.0/" TargetMode="External"/><Relationship Id="rId4" Type="http://schemas.openxmlformats.org/officeDocument/2006/relationships/hyperlink" Target="http://geriatricsforcaregivers.net/4-steps-to-get-better-medical-advice"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hyperlink" Target="https://doi.org/10.1046/j.0306-5251.2001.01498.x" TargetMode="External"/><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p:cNvSpPr>
            <a:spLocks noGrp="1"/>
          </p:cNvSpPr>
          <p:nvPr>
            <p:ph type="ctrTitle"/>
          </p:nvPr>
        </p:nvSpPr>
        <p:spPr/>
        <p:txBody>
          <a:bodyPr>
            <a:normAutofit/>
          </a:bodyPr>
          <a:lstStyle/>
          <a:p>
            <a:r>
              <a:rPr lang="en-GB" dirty="0">
                <a:latin typeface="+mn-lt"/>
              </a:rPr>
              <a:t>Lecture 2: Paternalism and medical technologies</a:t>
            </a:r>
            <a:endParaRPr lang="sv-SE" dirty="0">
              <a:latin typeface="+mn-lt"/>
              <a:cs typeface="Arial" panose="020B0604020202020204" pitchFamily="34" charset="0"/>
            </a:endParaRPr>
          </a:p>
        </p:txBody>
      </p:sp>
      <p:sp>
        <p:nvSpPr>
          <p:cNvPr id="3" name="Underrubrik 2"/>
          <p:cNvSpPr>
            <a:spLocks noGrp="1"/>
          </p:cNvSpPr>
          <p:nvPr>
            <p:ph type="subTitle" idx="1"/>
          </p:nvPr>
        </p:nvSpPr>
        <p:spPr>
          <a:xfrm>
            <a:off x="1099751" y="2841380"/>
            <a:ext cx="9241587" cy="611179"/>
          </a:xfrm>
        </p:spPr>
        <p:txBody>
          <a:bodyPr>
            <a:noAutofit/>
          </a:bodyPr>
          <a:lstStyle/>
          <a:p>
            <a:pPr>
              <a:lnSpc>
                <a:spcPct val="100000"/>
              </a:lnSpc>
            </a:pPr>
            <a:r>
              <a:rPr lang="nl-NL" sz="2800" dirty="0" smtClean="0"/>
              <a:t>Med Etik TaMos - HT24</a:t>
            </a:r>
            <a:endParaRPr lang="sv-SE" sz="2800" dirty="0">
              <a:cs typeface="Times New Roman" panose="02020603050405020304" pitchFamily="18" charset="0"/>
            </a:endParaRPr>
          </a:p>
          <a:p>
            <a:pPr>
              <a:lnSpc>
                <a:spcPct val="100000"/>
              </a:lnSpc>
            </a:pPr>
            <a:r>
              <a:rPr lang="nl-NL" sz="2800" dirty="0"/>
              <a:t>Barbro Fröding</a:t>
            </a:r>
          </a:p>
          <a:p>
            <a:pPr>
              <a:lnSpc>
                <a:spcPct val="100000"/>
              </a:lnSpc>
            </a:pPr>
            <a:endParaRPr lang="sv-SE" sz="1400" dirty="0">
              <a:latin typeface="+mj-lt"/>
            </a:endParaRPr>
          </a:p>
        </p:txBody>
      </p:sp>
    </p:spTree>
    <p:extLst>
      <p:ext uri="{BB962C8B-B14F-4D97-AF65-F5344CB8AC3E}">
        <p14:creationId xmlns:p14="http://schemas.microsoft.com/office/powerpoint/2010/main" val="18858952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7905" y="404869"/>
            <a:ext cx="7142204" cy="668339"/>
          </a:xfrm>
        </p:spPr>
        <p:txBody>
          <a:bodyPr>
            <a:normAutofit fontScale="90000"/>
          </a:bodyPr>
          <a:lstStyle/>
          <a:p>
            <a:r>
              <a:rPr lang="en-US" dirty="0" smtClean="0"/>
              <a:t>Key points from previous lecture</a:t>
            </a:r>
            <a:endParaRPr lang="en-US" dirty="0"/>
          </a:p>
        </p:txBody>
      </p:sp>
      <p:sp>
        <p:nvSpPr>
          <p:cNvPr id="3" name="Content Placeholder 2"/>
          <p:cNvSpPr>
            <a:spLocks noGrp="1"/>
          </p:cNvSpPr>
          <p:nvPr>
            <p:ph idx="1"/>
          </p:nvPr>
        </p:nvSpPr>
        <p:spPr>
          <a:xfrm>
            <a:off x="827904" y="1582739"/>
            <a:ext cx="10578814" cy="4078287"/>
          </a:xfrm>
        </p:spPr>
        <p:txBody>
          <a:bodyPr>
            <a:noAutofit/>
          </a:bodyPr>
          <a:lstStyle/>
          <a:p>
            <a:r>
              <a:rPr lang="en-US" sz="2400" dirty="0" smtClean="0"/>
              <a:t>Applied ethics aims to provide normative guidance – e.g. </a:t>
            </a:r>
            <a:r>
              <a:rPr lang="en-US" sz="2400" i="1" dirty="0" smtClean="0"/>
              <a:t>prescriptions</a:t>
            </a:r>
            <a:r>
              <a:rPr lang="en-US" sz="2400" dirty="0" smtClean="0"/>
              <a:t> and </a:t>
            </a:r>
            <a:r>
              <a:rPr lang="en-US" sz="2400" i="1" dirty="0" smtClean="0"/>
              <a:t>evaluations</a:t>
            </a:r>
            <a:r>
              <a:rPr lang="en-US" sz="2400" dirty="0" smtClean="0"/>
              <a:t> regrading practical moral problems</a:t>
            </a:r>
          </a:p>
          <a:p>
            <a:r>
              <a:rPr lang="en-US" sz="2400" dirty="0" smtClean="0"/>
              <a:t>Normative claims need to be justified</a:t>
            </a:r>
          </a:p>
          <a:p>
            <a:pPr lvl="1"/>
            <a:r>
              <a:rPr lang="en-US" sz="2000" dirty="0" smtClean="0"/>
              <a:t>To justify is to provide convincing reasons for a claim</a:t>
            </a:r>
          </a:p>
          <a:p>
            <a:r>
              <a:rPr lang="en-US" sz="2400" dirty="0" smtClean="0"/>
              <a:t>Reflective equilibrium – a </a:t>
            </a:r>
            <a:r>
              <a:rPr lang="en-US" sz="2400" dirty="0" err="1" smtClean="0"/>
              <a:t>coherentist</a:t>
            </a:r>
            <a:r>
              <a:rPr lang="en-US" sz="2400" dirty="0" smtClean="0"/>
              <a:t> theory</a:t>
            </a:r>
          </a:p>
          <a:p>
            <a:r>
              <a:rPr lang="en-US" sz="2400" dirty="0" smtClean="0"/>
              <a:t>Ethical theories (top-down, bottom-up, mid-level theory)</a:t>
            </a:r>
          </a:p>
          <a:p>
            <a:r>
              <a:rPr lang="en-US" sz="2400" dirty="0" smtClean="0"/>
              <a:t>Principlism – the four principles</a:t>
            </a:r>
          </a:p>
          <a:p>
            <a:r>
              <a:rPr lang="en-US" sz="2400" dirty="0" smtClean="0"/>
              <a:t>Applying Principlism</a:t>
            </a:r>
          </a:p>
          <a:p>
            <a:pPr lvl="1"/>
            <a:endParaRPr lang="en-US" dirty="0"/>
          </a:p>
          <a:p>
            <a:pPr lvl="1"/>
            <a:r>
              <a:rPr lang="en-US" sz="2000" dirty="0" smtClean="0"/>
              <a:t>Make sure that you can: explain Principlism and the four principles and that you know how to apply that method.</a:t>
            </a:r>
          </a:p>
          <a:p>
            <a:pPr marL="0" indent="0">
              <a:buNone/>
            </a:pPr>
            <a:endParaRPr lang="en-GB" sz="1467" dirty="0"/>
          </a:p>
        </p:txBody>
      </p:sp>
      <p:sp>
        <p:nvSpPr>
          <p:cNvPr id="4" name="TextBox 3"/>
          <p:cNvSpPr txBox="1"/>
          <p:nvPr/>
        </p:nvSpPr>
        <p:spPr>
          <a:xfrm>
            <a:off x="10435282" y="500445"/>
            <a:ext cx="945292" cy="461665"/>
          </a:xfrm>
          <a:prstGeom prst="rect">
            <a:avLst/>
          </a:prstGeom>
          <a:noFill/>
          <a:ln w="12700">
            <a:solidFill>
              <a:srgbClr val="00B0F0"/>
            </a:solidFill>
            <a:prstDash val="dashDot"/>
          </a:ln>
        </p:spPr>
        <p:txBody>
          <a:bodyPr wrap="square" rtlCol="0">
            <a:spAutoFit/>
          </a:bodyPr>
          <a:lstStyle/>
          <a:p>
            <a:r>
              <a:rPr lang="en-GB" sz="2400" dirty="0">
                <a:solidFill>
                  <a:srgbClr val="00B0F0"/>
                </a:solidFill>
              </a:rPr>
              <a:t>R</a:t>
            </a:r>
            <a:r>
              <a:rPr lang="en-GB" sz="2400" dirty="0" smtClean="0">
                <a:solidFill>
                  <a:srgbClr val="00B0F0"/>
                </a:solidFill>
              </a:rPr>
              <a:t>ecap</a:t>
            </a:r>
            <a:endParaRPr lang="en-GB" sz="2400" dirty="0">
              <a:solidFill>
                <a:srgbClr val="00B0F0"/>
              </a:solidFill>
            </a:endParaRPr>
          </a:p>
        </p:txBody>
      </p:sp>
      <p:pic>
        <p:nvPicPr>
          <p:cNvPr id="5" name="Picture 4"/>
          <p:cNvPicPr>
            <a:picLocks noChangeAspect="1"/>
          </p:cNvPicPr>
          <p:nvPr/>
        </p:nvPicPr>
        <p:blipFill>
          <a:blip r:embed="rId3"/>
          <a:stretch>
            <a:fillRect/>
          </a:stretch>
        </p:blipFill>
        <p:spPr>
          <a:xfrm>
            <a:off x="900135" y="5213875"/>
            <a:ext cx="665162" cy="726026"/>
          </a:xfrm>
          <a:prstGeom prst="rect">
            <a:avLst/>
          </a:prstGeom>
        </p:spPr>
      </p:pic>
    </p:spTree>
    <p:extLst>
      <p:ext uri="{BB962C8B-B14F-4D97-AF65-F5344CB8AC3E}">
        <p14:creationId xmlns:p14="http://schemas.microsoft.com/office/powerpoint/2010/main" val="89185622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dirty="0"/>
          </a:p>
        </p:txBody>
      </p:sp>
      <p:pic>
        <p:nvPicPr>
          <p:cNvPr id="4" name="Content Placeholder 4">
            <a:extLst>
              <a:ext uri="{FF2B5EF4-FFF2-40B4-BE49-F238E27FC236}">
                <a16:creationId xmlns:a16="http://schemas.microsoft.com/office/drawing/2014/main" id="{6A9D09FE-551D-294E-B263-C56F81A08581}"/>
              </a:ext>
            </a:extLst>
          </p:cNvPr>
          <p:cNvPicPr>
            <a:picLocks noChangeAspect="1"/>
          </p:cNvPicPr>
          <p:nvPr/>
        </p:nvPicPr>
        <p:blipFill>
          <a:blip r:embed="rId3">
            <a:extLst>
              <a:ext uri="{837473B0-CC2E-450A-ABE3-18F120FF3D39}">
                <a1611:picAttrSrcUrl xmlns:a1611="http://schemas.microsoft.com/office/drawing/2016/11/main" xmlns="" r:id="rId4"/>
              </a:ext>
            </a:extLst>
          </a:blip>
          <a:stretch>
            <a:fillRect/>
          </a:stretch>
        </p:blipFill>
        <p:spPr>
          <a:xfrm>
            <a:off x="69366" y="69366"/>
            <a:ext cx="4023359" cy="3016830"/>
          </a:xfrm>
          <a:prstGeom prst="rect">
            <a:avLst/>
          </a:prstGeom>
        </p:spPr>
      </p:pic>
      <p:sp>
        <p:nvSpPr>
          <p:cNvPr id="5" name="TextBox 4">
            <a:extLst>
              <a:ext uri="{FF2B5EF4-FFF2-40B4-BE49-F238E27FC236}">
                <a16:creationId xmlns:a16="http://schemas.microsoft.com/office/drawing/2014/main" id="{864B5C73-6D59-FD40-BB04-8EF9D81CD088}"/>
              </a:ext>
            </a:extLst>
          </p:cNvPr>
          <p:cNvSpPr txBox="1"/>
          <p:nvPr/>
        </p:nvSpPr>
        <p:spPr>
          <a:xfrm>
            <a:off x="1" y="6473825"/>
            <a:ext cx="1709738" cy="374463"/>
          </a:xfrm>
          <a:prstGeom prst="rect">
            <a:avLst/>
          </a:prstGeom>
          <a:noFill/>
        </p:spPr>
        <p:txBody>
          <a:bodyPr wrap="square" rtlCol="0">
            <a:spAutoFit/>
          </a:bodyPr>
          <a:lstStyle/>
          <a:p>
            <a:r>
              <a:rPr lang="en-GB" sz="900" dirty="0">
                <a:hlinkClick r:id="rId4" tooltip="https://commons.wikimedia.org/wiki/File:EU-SE-Stockholm-KK-Systemolaget.JPG"/>
              </a:rPr>
              <a:t>This Photo</a:t>
            </a:r>
            <a:r>
              <a:rPr lang="en-GB" sz="900" dirty="0"/>
              <a:t> by Unknown Author is licensed under </a:t>
            </a:r>
            <a:r>
              <a:rPr lang="en-GB" sz="900" dirty="0">
                <a:hlinkClick r:id="rId5" tooltip="https://creativecommons.org/licenses/by-sa/3.0/"/>
              </a:rPr>
              <a:t>CC BY-SA</a:t>
            </a:r>
            <a:endParaRPr lang="en-GB" sz="900" dirty="0"/>
          </a:p>
        </p:txBody>
      </p:sp>
      <p:pic>
        <p:nvPicPr>
          <p:cNvPr id="6" name="Picture 5"/>
          <p:cNvPicPr>
            <a:picLocks noChangeAspect="1"/>
          </p:cNvPicPr>
          <p:nvPr/>
        </p:nvPicPr>
        <p:blipFill>
          <a:blip r:embed="rId6"/>
          <a:stretch>
            <a:fillRect/>
          </a:stretch>
        </p:blipFill>
        <p:spPr>
          <a:xfrm>
            <a:off x="9045904" y="69829"/>
            <a:ext cx="3085944" cy="3051656"/>
          </a:xfrm>
          <a:prstGeom prst="rect">
            <a:avLst/>
          </a:prstGeom>
        </p:spPr>
      </p:pic>
      <p:pic>
        <p:nvPicPr>
          <p:cNvPr id="7" name="Picture 6"/>
          <p:cNvPicPr>
            <a:picLocks noChangeAspect="1"/>
          </p:cNvPicPr>
          <p:nvPr/>
        </p:nvPicPr>
        <p:blipFill>
          <a:blip r:embed="rId7"/>
          <a:stretch>
            <a:fillRect/>
          </a:stretch>
        </p:blipFill>
        <p:spPr>
          <a:xfrm>
            <a:off x="4193623" y="76135"/>
            <a:ext cx="4759885" cy="3051743"/>
          </a:xfrm>
          <a:prstGeom prst="rect">
            <a:avLst/>
          </a:prstGeom>
        </p:spPr>
      </p:pic>
      <p:sp>
        <p:nvSpPr>
          <p:cNvPr id="9" name="TextBox 8"/>
          <p:cNvSpPr txBox="1"/>
          <p:nvPr/>
        </p:nvSpPr>
        <p:spPr>
          <a:xfrm>
            <a:off x="2014151" y="3713205"/>
            <a:ext cx="8204887" cy="954107"/>
          </a:xfrm>
          <a:prstGeom prst="rect">
            <a:avLst/>
          </a:prstGeom>
          <a:noFill/>
        </p:spPr>
        <p:txBody>
          <a:bodyPr wrap="square" rtlCol="0">
            <a:spAutoFit/>
          </a:bodyPr>
          <a:lstStyle/>
          <a:p>
            <a:r>
              <a:rPr lang="en-GB" sz="2800" dirty="0" smtClean="0"/>
              <a:t>What unites these public health strategies is that they are often brought up as examples of </a:t>
            </a:r>
            <a:r>
              <a:rPr lang="en-GB" sz="2800" i="1" dirty="0" smtClean="0"/>
              <a:t>paternalis</a:t>
            </a:r>
            <a:r>
              <a:rPr lang="en-GB" sz="2800" i="1" dirty="0"/>
              <a:t>m</a:t>
            </a:r>
          </a:p>
        </p:txBody>
      </p:sp>
    </p:spTree>
    <p:extLst>
      <p:ext uri="{BB962C8B-B14F-4D97-AF65-F5344CB8AC3E}">
        <p14:creationId xmlns:p14="http://schemas.microsoft.com/office/powerpoint/2010/main" val="154432475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5482" y="404869"/>
            <a:ext cx="10801236" cy="668339"/>
          </a:xfrm>
        </p:spPr>
        <p:txBody>
          <a:bodyPr>
            <a:normAutofit fontScale="90000"/>
          </a:bodyPr>
          <a:lstStyle/>
          <a:p>
            <a:r>
              <a:rPr lang="en-GB" dirty="0"/>
              <a:t>What is paternalism</a:t>
            </a:r>
            <a:r>
              <a:rPr lang="en-GB" i="1" dirty="0"/>
              <a:t>? </a:t>
            </a:r>
            <a:r>
              <a:rPr lang="en-GB" dirty="0"/>
              <a:t>Here is one definition</a:t>
            </a:r>
            <a:r>
              <a:rPr lang="en-GB" dirty="0" smtClean="0"/>
              <a:t>:</a:t>
            </a:r>
            <a:endParaRPr lang="en-US" dirty="0"/>
          </a:p>
        </p:txBody>
      </p:sp>
      <p:sp>
        <p:nvSpPr>
          <p:cNvPr id="3" name="Content Placeholder 2"/>
          <p:cNvSpPr>
            <a:spLocks noGrp="1"/>
          </p:cNvSpPr>
          <p:nvPr>
            <p:ph idx="1"/>
          </p:nvPr>
        </p:nvSpPr>
        <p:spPr>
          <a:xfrm>
            <a:off x="741406" y="1582739"/>
            <a:ext cx="10665312" cy="4078287"/>
          </a:xfrm>
        </p:spPr>
        <p:txBody>
          <a:bodyPr>
            <a:noAutofit/>
          </a:bodyPr>
          <a:lstStyle/>
          <a:p>
            <a:pPr marL="0" indent="0">
              <a:buNone/>
            </a:pPr>
            <a:r>
              <a:rPr lang="en-GB" sz="2400" dirty="0" smtClean="0"/>
              <a:t>“[T]he interference of a state or an individual with another person, against their will, and defended or motivated by a claim that the person interfered with will be better off or protected from harm.”</a:t>
            </a:r>
            <a:br>
              <a:rPr lang="en-GB" sz="2400" dirty="0" smtClean="0"/>
            </a:br>
            <a:r>
              <a:rPr lang="en-GB" sz="2400" dirty="0" smtClean="0"/>
              <a:t>																					</a:t>
            </a:r>
            <a:r>
              <a:rPr lang="en-GB" sz="1600" dirty="0" smtClean="0"/>
              <a:t>(Dworkin 2014)</a:t>
            </a:r>
          </a:p>
          <a:p>
            <a:pPr marL="0" indent="0">
              <a:buNone/>
            </a:pPr>
            <a:endParaRPr lang="en-GB" sz="1467" dirty="0"/>
          </a:p>
        </p:txBody>
      </p:sp>
      <p:sp>
        <p:nvSpPr>
          <p:cNvPr id="4" name="TextBox 3"/>
          <p:cNvSpPr txBox="1"/>
          <p:nvPr/>
        </p:nvSpPr>
        <p:spPr>
          <a:xfrm>
            <a:off x="973394" y="4001729"/>
            <a:ext cx="10205883" cy="369332"/>
          </a:xfrm>
          <a:prstGeom prst="rect">
            <a:avLst/>
          </a:prstGeom>
          <a:noFill/>
        </p:spPr>
        <p:txBody>
          <a:bodyPr wrap="square" rtlCol="0">
            <a:spAutoFit/>
          </a:bodyPr>
          <a:lstStyle/>
          <a:p>
            <a:r>
              <a:rPr lang="en-GB" dirty="0" smtClean="0"/>
              <a:t>NB – it’s the liberty or autonomy of the person that is interfered with.</a:t>
            </a:r>
            <a:endParaRPr lang="en-GB" dirty="0"/>
          </a:p>
        </p:txBody>
      </p:sp>
    </p:spTree>
    <p:extLst>
      <p:ext uri="{BB962C8B-B14F-4D97-AF65-F5344CB8AC3E}">
        <p14:creationId xmlns:p14="http://schemas.microsoft.com/office/powerpoint/2010/main" val="318875029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73395" y="404869"/>
            <a:ext cx="6715897" cy="668339"/>
          </a:xfrm>
        </p:spPr>
        <p:txBody>
          <a:bodyPr>
            <a:normAutofit fontScale="90000"/>
          </a:bodyPr>
          <a:lstStyle/>
          <a:p>
            <a:r>
              <a:rPr lang="en-GB" dirty="0"/>
              <a:t>P</a:t>
            </a:r>
            <a:r>
              <a:rPr lang="en-GB" dirty="0" smtClean="0"/>
              <a:t>aternalistic interventions</a:t>
            </a:r>
            <a:endParaRPr lang="en-US" dirty="0"/>
          </a:p>
        </p:txBody>
      </p:sp>
      <p:sp>
        <p:nvSpPr>
          <p:cNvPr id="3" name="Content Placeholder 2"/>
          <p:cNvSpPr>
            <a:spLocks noGrp="1"/>
          </p:cNvSpPr>
          <p:nvPr>
            <p:ph idx="1"/>
          </p:nvPr>
        </p:nvSpPr>
        <p:spPr>
          <a:xfrm>
            <a:off x="7315199" y="1582739"/>
            <a:ext cx="3311611" cy="4078287"/>
          </a:xfrm>
        </p:spPr>
        <p:txBody>
          <a:bodyPr>
            <a:noAutofit/>
          </a:bodyPr>
          <a:lstStyle/>
          <a:p>
            <a:pPr marL="0" indent="0">
              <a:buNone/>
            </a:pPr>
            <a:endParaRPr lang="en-GB" sz="1600" dirty="0" smtClean="0"/>
          </a:p>
          <a:p>
            <a:pPr marL="0" indent="0">
              <a:buNone/>
            </a:pPr>
            <a:r>
              <a:rPr lang="en-GB" sz="1600" dirty="0" smtClean="0"/>
              <a:t>HARD</a:t>
            </a:r>
            <a:endParaRPr lang="en-GB" sz="1600" dirty="0"/>
          </a:p>
          <a:p>
            <a:pPr marL="0" indent="0">
              <a:buNone/>
            </a:pPr>
            <a:r>
              <a:rPr lang="en-GB" sz="1600" dirty="0" smtClean="0"/>
              <a:t>If individuals are prevented from or manipulated into, performing an action or making a choice on the basis that this will be in their own best interests. </a:t>
            </a:r>
          </a:p>
          <a:p>
            <a:pPr marL="0" indent="0">
              <a:buNone/>
            </a:pPr>
            <a:endParaRPr lang="en-GB" sz="1600" dirty="0" smtClean="0"/>
          </a:p>
          <a:p>
            <a:pPr marL="0" indent="0">
              <a:buNone/>
            </a:pPr>
            <a:r>
              <a:rPr lang="en-GB" sz="1600" dirty="0" smtClean="0"/>
              <a:t>(Sometimes, the associated assumption is that they are not the best judge of their interests.)</a:t>
            </a:r>
          </a:p>
          <a:p>
            <a:pPr marL="0" indent="0">
              <a:buNone/>
            </a:pPr>
            <a:r>
              <a:rPr lang="en-GB" sz="900" dirty="0" smtClean="0"/>
              <a:t>		(</a:t>
            </a:r>
            <a:r>
              <a:rPr lang="en-GB" sz="900" dirty="0" err="1" smtClean="0"/>
              <a:t>Begon</a:t>
            </a:r>
            <a:r>
              <a:rPr lang="en-GB" sz="900" dirty="0" smtClean="0"/>
              <a:t> 2016)</a:t>
            </a:r>
            <a:endParaRPr lang="en-GB" sz="900" dirty="0"/>
          </a:p>
        </p:txBody>
      </p:sp>
      <p:sp>
        <p:nvSpPr>
          <p:cNvPr id="4" name="Content Placeholder 2"/>
          <p:cNvSpPr txBox="1">
            <a:spLocks/>
          </p:cNvSpPr>
          <p:nvPr/>
        </p:nvSpPr>
        <p:spPr>
          <a:xfrm>
            <a:off x="1530161" y="2013166"/>
            <a:ext cx="3405717" cy="407828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1600" dirty="0" smtClean="0"/>
              <a:t>SOFT </a:t>
            </a:r>
            <a:endParaRPr lang="en-GB" sz="1600" dirty="0"/>
          </a:p>
          <a:p>
            <a:pPr marL="0" indent="0">
              <a:buNone/>
            </a:pPr>
            <a:r>
              <a:rPr lang="en-SE" sz="1600" dirty="0" smtClean="0"/>
              <a:t>I</a:t>
            </a:r>
            <a:r>
              <a:rPr lang="en-GB" sz="1600" dirty="0" err="1" smtClean="0"/>
              <a:t>nterventions</a:t>
            </a:r>
            <a:r>
              <a:rPr lang="en-GB" sz="1600" dirty="0" smtClean="0"/>
              <a:t> that help individuals achieve goals they have set for themselves. </a:t>
            </a:r>
            <a:br>
              <a:rPr lang="en-GB" sz="1600" dirty="0" smtClean="0"/>
            </a:br>
            <a:r>
              <a:rPr lang="en-GB" sz="1600" dirty="0" smtClean="0"/>
              <a:t/>
            </a:r>
            <a:br>
              <a:rPr lang="en-GB" sz="1600" dirty="0" smtClean="0"/>
            </a:br>
            <a:r>
              <a:rPr lang="en-GB" sz="1600" dirty="0" smtClean="0"/>
              <a:t>	</a:t>
            </a:r>
            <a:r>
              <a:rPr lang="en-GB" sz="900" dirty="0" smtClean="0"/>
              <a:t>(</a:t>
            </a:r>
            <a:r>
              <a:rPr lang="en-GB" sz="900" dirty="0" err="1" smtClean="0"/>
              <a:t>Haybron</a:t>
            </a:r>
            <a:r>
              <a:rPr lang="en-GB" sz="900" dirty="0" smtClean="0"/>
              <a:t> and </a:t>
            </a:r>
            <a:r>
              <a:rPr lang="en-GB" sz="900" dirty="0" err="1" smtClean="0"/>
              <a:t>Alexandrova</a:t>
            </a:r>
            <a:r>
              <a:rPr lang="en-GB" sz="900" dirty="0" smtClean="0"/>
              <a:t> 2013) </a:t>
            </a:r>
          </a:p>
          <a:p>
            <a:pPr marL="0" indent="0">
              <a:buFont typeface="Arial" panose="020B0604020202020204" pitchFamily="34" charset="0"/>
              <a:buNone/>
            </a:pPr>
            <a:endParaRPr lang="en-GB" sz="900" dirty="0"/>
          </a:p>
        </p:txBody>
      </p:sp>
      <p:cxnSp>
        <p:nvCxnSpPr>
          <p:cNvPr id="5" name="Straight Arrow Connector 4">
            <a:extLst>
              <a:ext uri="{FF2B5EF4-FFF2-40B4-BE49-F238E27FC236}">
                <a16:creationId xmlns:a16="http://schemas.microsoft.com/office/drawing/2014/main" id="{583927E9-33F3-9B4B-B5F4-D16734D7E873}"/>
              </a:ext>
            </a:extLst>
          </p:cNvPr>
          <p:cNvCxnSpPr/>
          <p:nvPr/>
        </p:nvCxnSpPr>
        <p:spPr>
          <a:xfrm>
            <a:off x="2139927" y="1446836"/>
            <a:ext cx="7912145" cy="0"/>
          </a:xfrm>
          <a:prstGeom prst="straightConnector1">
            <a:avLst/>
          </a:prstGeom>
          <a:ln w="76200">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971578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F5B5A7-080B-6D4E-994D-FD4EBAFFB585}"/>
              </a:ext>
            </a:extLst>
          </p:cNvPr>
          <p:cNvSpPr>
            <a:spLocks noGrp="1"/>
          </p:cNvSpPr>
          <p:nvPr>
            <p:ph idx="1"/>
          </p:nvPr>
        </p:nvSpPr>
        <p:spPr>
          <a:xfrm>
            <a:off x="623561" y="1251696"/>
            <a:ext cx="4936581" cy="4926654"/>
          </a:xfrm>
        </p:spPr>
        <p:txBody>
          <a:bodyPr>
            <a:normAutofit/>
          </a:bodyPr>
          <a:lstStyle/>
          <a:p>
            <a:pPr marL="0" indent="0">
              <a:buNone/>
            </a:pPr>
            <a:r>
              <a:rPr lang="en-GB" sz="2400" dirty="0"/>
              <a:t>Paternalism has been one of the traditional characteristics of medicine and public health. It’s been especially discussed in the context of the therapeutic relationship in medicine. </a:t>
            </a:r>
            <a:br>
              <a:rPr lang="en-GB" sz="2400" dirty="0"/>
            </a:br>
            <a:r>
              <a:rPr lang="en-GB" sz="2400" dirty="0"/>
              <a:t/>
            </a:r>
            <a:br>
              <a:rPr lang="en-GB" sz="2400" dirty="0"/>
            </a:br>
            <a:endParaRPr lang="en-GB" sz="2400" dirty="0" smtClean="0"/>
          </a:p>
          <a:p>
            <a:pPr marL="0" indent="0">
              <a:buNone/>
            </a:pPr>
            <a:r>
              <a:rPr lang="en-GB" sz="2400" dirty="0" smtClean="0"/>
              <a:t>It </a:t>
            </a:r>
            <a:r>
              <a:rPr lang="en-GB" sz="2400" dirty="0"/>
              <a:t>implies that the physician makes decisions based on what they consider to be in the patient’s best interests, even for those patients </a:t>
            </a:r>
            <a:r>
              <a:rPr lang="en-GB" sz="2400" i="1" dirty="0"/>
              <a:t>who could make the decisions for themselves</a:t>
            </a:r>
            <a:r>
              <a:rPr lang="en-GB" sz="2400" dirty="0"/>
              <a:t>.</a:t>
            </a:r>
            <a:endParaRPr lang="en-SE" sz="2400" dirty="0"/>
          </a:p>
          <a:p>
            <a:endParaRPr lang="en-GB" sz="2800" dirty="0"/>
          </a:p>
        </p:txBody>
      </p:sp>
      <p:pic>
        <p:nvPicPr>
          <p:cNvPr id="5" name="Picture 4">
            <a:extLst>
              <a:ext uri="{FF2B5EF4-FFF2-40B4-BE49-F238E27FC236}">
                <a16:creationId xmlns:a16="http://schemas.microsoft.com/office/drawing/2014/main" id="{D0B71A31-68CF-DE48-9A78-571405A88782}"/>
              </a:ext>
            </a:extLst>
          </p:cNvPr>
          <p:cNvPicPr>
            <a:picLocks noChangeAspect="1"/>
          </p:cNvPicPr>
          <p:nvPr/>
        </p:nvPicPr>
        <p:blipFill>
          <a:blip r:embed="rId3">
            <a:extLst>
              <a:ext uri="{837473B0-CC2E-450A-ABE3-18F120FF3D39}">
                <a1611:picAttrSrcUrl xmlns:a1611="http://schemas.microsoft.com/office/drawing/2016/11/main" xmlns="" r:id="rId4"/>
              </a:ext>
            </a:extLst>
          </a:blip>
          <a:stretch>
            <a:fillRect/>
          </a:stretch>
        </p:blipFill>
        <p:spPr>
          <a:xfrm>
            <a:off x="6039466" y="1392747"/>
            <a:ext cx="5882148" cy="3921432"/>
          </a:xfrm>
          <a:prstGeom prst="rect">
            <a:avLst/>
          </a:prstGeom>
        </p:spPr>
      </p:pic>
      <p:sp>
        <p:nvSpPr>
          <p:cNvPr id="6" name="TextBox 5">
            <a:extLst>
              <a:ext uri="{FF2B5EF4-FFF2-40B4-BE49-F238E27FC236}">
                <a16:creationId xmlns:a16="http://schemas.microsoft.com/office/drawing/2014/main" id="{62A4B61A-880A-484E-8D8F-B674B0EAE393}"/>
              </a:ext>
            </a:extLst>
          </p:cNvPr>
          <p:cNvSpPr txBox="1"/>
          <p:nvPr/>
        </p:nvSpPr>
        <p:spPr>
          <a:xfrm>
            <a:off x="7078784" y="5460821"/>
            <a:ext cx="4342171" cy="230832"/>
          </a:xfrm>
          <a:prstGeom prst="rect">
            <a:avLst/>
          </a:prstGeom>
          <a:noFill/>
        </p:spPr>
        <p:txBody>
          <a:bodyPr wrap="square" rtlCol="0">
            <a:spAutoFit/>
          </a:bodyPr>
          <a:lstStyle/>
          <a:p>
            <a:r>
              <a:rPr lang="en-GB" sz="900" dirty="0">
                <a:hlinkClick r:id="rId4" tooltip="http://geriatricsforcaregivers.net/4-steps-to-get-better-medical-advice"/>
              </a:rPr>
              <a:t>This Photo</a:t>
            </a:r>
            <a:r>
              <a:rPr lang="en-GB" sz="900" dirty="0"/>
              <a:t> by Unknown Author is licensed under </a:t>
            </a:r>
            <a:r>
              <a:rPr lang="en-GB" sz="900" dirty="0">
                <a:hlinkClick r:id="rId5" tooltip="https://creativecommons.org/licenses/by-nc-sa/3.0/"/>
              </a:rPr>
              <a:t>CC BY-SA-NC</a:t>
            </a:r>
            <a:endParaRPr lang="en-GB" sz="900" dirty="0"/>
          </a:p>
        </p:txBody>
      </p:sp>
      <p:sp>
        <p:nvSpPr>
          <p:cNvPr id="2" name="TextBox 1"/>
          <p:cNvSpPr txBox="1"/>
          <p:nvPr/>
        </p:nvSpPr>
        <p:spPr>
          <a:xfrm>
            <a:off x="623561" y="345989"/>
            <a:ext cx="8094131" cy="646331"/>
          </a:xfrm>
          <a:prstGeom prst="rect">
            <a:avLst/>
          </a:prstGeom>
          <a:noFill/>
        </p:spPr>
        <p:txBody>
          <a:bodyPr wrap="square" rtlCol="0">
            <a:spAutoFit/>
          </a:bodyPr>
          <a:lstStyle/>
          <a:p>
            <a:r>
              <a:rPr lang="en-GB" sz="3600" dirty="0" smtClean="0"/>
              <a:t>Medical paternalis</a:t>
            </a:r>
            <a:r>
              <a:rPr lang="en-GB" sz="3600" dirty="0"/>
              <a:t>m</a:t>
            </a:r>
          </a:p>
        </p:txBody>
      </p:sp>
    </p:spTree>
    <p:extLst>
      <p:ext uri="{BB962C8B-B14F-4D97-AF65-F5344CB8AC3E}">
        <p14:creationId xmlns:p14="http://schemas.microsoft.com/office/powerpoint/2010/main" val="348762490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F5B5A7-080B-6D4E-994D-FD4EBAFFB585}"/>
              </a:ext>
            </a:extLst>
          </p:cNvPr>
          <p:cNvSpPr>
            <a:spLocks noGrp="1"/>
          </p:cNvSpPr>
          <p:nvPr>
            <p:ph idx="1"/>
          </p:nvPr>
        </p:nvSpPr>
        <p:spPr>
          <a:xfrm>
            <a:off x="623561" y="1251696"/>
            <a:ext cx="10757012" cy="4926654"/>
          </a:xfrm>
        </p:spPr>
        <p:txBody>
          <a:bodyPr>
            <a:normAutofit/>
          </a:bodyPr>
          <a:lstStyle/>
          <a:p>
            <a:pPr marL="0" indent="0">
              <a:lnSpc>
                <a:spcPct val="120000"/>
              </a:lnSpc>
              <a:buNone/>
            </a:pPr>
            <a:r>
              <a:rPr lang="en-GB" sz="2200" dirty="0" smtClean="0"/>
              <a:t>For an act to qualify as medical paternalism 1 &amp; 2 below are jointly sufficient </a:t>
            </a:r>
          </a:p>
          <a:p>
            <a:pPr marL="514350" indent="-514350">
              <a:lnSpc>
                <a:spcPct val="120000"/>
              </a:lnSpc>
              <a:buFont typeface="+mj-lt"/>
              <a:buAutoNum type="arabicPeriod"/>
            </a:pPr>
            <a:r>
              <a:rPr lang="en-GB" sz="2200" dirty="0" smtClean="0"/>
              <a:t>a </a:t>
            </a:r>
            <a:r>
              <a:rPr lang="en-GB" sz="2200" dirty="0"/>
              <a:t>physician </a:t>
            </a:r>
            <a:r>
              <a:rPr lang="en-GB" sz="2200" dirty="0" smtClean="0"/>
              <a:t>or </a:t>
            </a:r>
            <a:r>
              <a:rPr lang="en-US" sz="2200" dirty="0" smtClean="0"/>
              <a:t>other </a:t>
            </a:r>
            <a:r>
              <a:rPr lang="en-US" sz="2200" dirty="0"/>
              <a:t>healthcare professional undertakes </a:t>
            </a:r>
            <a:r>
              <a:rPr lang="en-US" sz="2200" dirty="0" smtClean="0"/>
              <a:t>actions designed </a:t>
            </a:r>
            <a:r>
              <a:rPr lang="en-US" sz="2200" dirty="0"/>
              <a:t>to limit the exercise of the </a:t>
            </a:r>
            <a:r>
              <a:rPr lang="en-US" sz="2200" dirty="0" smtClean="0"/>
              <a:t>patient’s autonomy, </a:t>
            </a:r>
          </a:p>
          <a:p>
            <a:pPr marL="514350" indent="-514350">
              <a:lnSpc>
                <a:spcPct val="120000"/>
              </a:lnSpc>
              <a:buFont typeface="+mj-lt"/>
              <a:buAutoNum type="arabicPeriod"/>
            </a:pPr>
            <a:r>
              <a:rPr lang="en-US" sz="2200" dirty="0" smtClean="0"/>
              <a:t>on </a:t>
            </a:r>
            <a:r>
              <a:rPr lang="en-US" sz="2200" dirty="0"/>
              <a:t>the basis of clinical </a:t>
            </a:r>
            <a:r>
              <a:rPr lang="en-US" sz="2200" dirty="0" smtClean="0"/>
              <a:t>judgment and </a:t>
            </a:r>
            <a:r>
              <a:rPr lang="en-US" sz="2200" dirty="0"/>
              <a:t>decision-making that are reliably </a:t>
            </a:r>
            <a:r>
              <a:rPr lang="en-US" sz="2200" dirty="0" smtClean="0"/>
              <a:t>beneficence based </a:t>
            </a:r>
            <a:r>
              <a:rPr lang="en-US" sz="2200" dirty="0"/>
              <a:t>in order to protect the health-related </a:t>
            </a:r>
            <a:r>
              <a:rPr lang="en-US" sz="2200" dirty="0" smtClean="0"/>
              <a:t>interests of </a:t>
            </a:r>
            <a:r>
              <a:rPr lang="en-US" sz="2200" dirty="0"/>
              <a:t>the patient from the consequences of </a:t>
            </a:r>
            <a:r>
              <a:rPr lang="en-US" sz="2200" dirty="0" smtClean="0"/>
              <a:t>the patient’s </a:t>
            </a:r>
            <a:r>
              <a:rPr lang="en-US" sz="2200" dirty="0"/>
              <a:t>decisions and actions based on them.</a:t>
            </a:r>
            <a:endParaRPr lang="en-GB" sz="2200" dirty="0" smtClean="0"/>
          </a:p>
          <a:p>
            <a:pPr marL="0" indent="0">
              <a:lnSpc>
                <a:spcPct val="120000"/>
              </a:lnSpc>
              <a:buNone/>
            </a:pPr>
            <a:endParaRPr lang="en-GB" sz="2200" dirty="0" smtClean="0"/>
          </a:p>
          <a:p>
            <a:pPr marL="0" indent="0">
              <a:lnSpc>
                <a:spcPct val="120000"/>
              </a:lnSpc>
              <a:buNone/>
            </a:pPr>
            <a:r>
              <a:rPr lang="en-GB" sz="2200" dirty="0" smtClean="0"/>
              <a:t>Note that </a:t>
            </a:r>
            <a:r>
              <a:rPr lang="en-GB" sz="2200" i="1" dirty="0" smtClean="0"/>
              <a:t>clinical judgement </a:t>
            </a:r>
            <a:r>
              <a:rPr lang="en-GB" sz="2200" dirty="0" smtClean="0"/>
              <a:t>in (2) is shorthand for: expert clinical judgements which are both evidence-based and beneficence-based in their evaluation of the relevant evidence.</a:t>
            </a:r>
            <a:endParaRPr lang="en-GB" sz="2200" dirty="0"/>
          </a:p>
        </p:txBody>
      </p:sp>
      <p:sp>
        <p:nvSpPr>
          <p:cNvPr id="2" name="TextBox 1"/>
          <p:cNvSpPr txBox="1"/>
          <p:nvPr/>
        </p:nvSpPr>
        <p:spPr>
          <a:xfrm>
            <a:off x="623561" y="345989"/>
            <a:ext cx="8094131" cy="646331"/>
          </a:xfrm>
          <a:prstGeom prst="rect">
            <a:avLst/>
          </a:prstGeom>
          <a:noFill/>
        </p:spPr>
        <p:txBody>
          <a:bodyPr wrap="square" rtlCol="0">
            <a:spAutoFit/>
          </a:bodyPr>
          <a:lstStyle/>
          <a:p>
            <a:r>
              <a:rPr lang="en-GB" sz="3600" dirty="0" smtClean="0"/>
              <a:t>Criteria for medical paternalis</a:t>
            </a:r>
            <a:r>
              <a:rPr lang="en-GB" sz="3600" dirty="0"/>
              <a:t>m</a:t>
            </a:r>
          </a:p>
        </p:txBody>
      </p:sp>
    </p:spTree>
    <p:extLst>
      <p:ext uri="{BB962C8B-B14F-4D97-AF65-F5344CB8AC3E}">
        <p14:creationId xmlns:p14="http://schemas.microsoft.com/office/powerpoint/2010/main" val="156705189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D26C74-D887-6F46-909A-8F2D7892A631}"/>
              </a:ext>
            </a:extLst>
          </p:cNvPr>
          <p:cNvSpPr>
            <a:spLocks noGrp="1"/>
          </p:cNvSpPr>
          <p:nvPr>
            <p:ph idx="1"/>
          </p:nvPr>
        </p:nvSpPr>
        <p:spPr>
          <a:xfrm>
            <a:off x="932935" y="1590908"/>
            <a:ext cx="11259065" cy="3101983"/>
          </a:xfrm>
        </p:spPr>
        <p:txBody>
          <a:bodyPr>
            <a:normAutofit/>
          </a:bodyPr>
          <a:lstStyle/>
          <a:p>
            <a:pPr marL="0" indent="0">
              <a:buNone/>
            </a:pPr>
            <a:endParaRPr lang="en-GB" sz="3200" dirty="0"/>
          </a:p>
          <a:p>
            <a:r>
              <a:rPr lang="en-GB" b="1" dirty="0"/>
              <a:t>Autonomy</a:t>
            </a:r>
          </a:p>
          <a:p>
            <a:r>
              <a:rPr lang="en-GB" dirty="0"/>
              <a:t>Nonmaleficence</a:t>
            </a:r>
          </a:p>
          <a:p>
            <a:r>
              <a:rPr lang="en-GB" b="1" dirty="0"/>
              <a:t>Beneficence</a:t>
            </a:r>
          </a:p>
          <a:p>
            <a:r>
              <a:rPr lang="en-GB" dirty="0"/>
              <a:t>Justice</a:t>
            </a:r>
          </a:p>
        </p:txBody>
      </p:sp>
      <p:cxnSp>
        <p:nvCxnSpPr>
          <p:cNvPr id="4" name="Straight Arrow Connector 3">
            <a:extLst>
              <a:ext uri="{FF2B5EF4-FFF2-40B4-BE49-F238E27FC236}">
                <a16:creationId xmlns:a16="http://schemas.microsoft.com/office/drawing/2014/main" id="{E580FFBC-CCA4-2A49-835A-B594DA2354F2}"/>
              </a:ext>
            </a:extLst>
          </p:cNvPr>
          <p:cNvCxnSpPr/>
          <p:nvPr/>
        </p:nvCxnSpPr>
        <p:spPr>
          <a:xfrm>
            <a:off x="4313703" y="2596208"/>
            <a:ext cx="1932039" cy="545691"/>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4824F987-3185-BF46-9EED-22DCBB99D7FA}"/>
              </a:ext>
            </a:extLst>
          </p:cNvPr>
          <p:cNvCxnSpPr/>
          <p:nvPr/>
        </p:nvCxnSpPr>
        <p:spPr>
          <a:xfrm flipV="1">
            <a:off x="4475936" y="3475162"/>
            <a:ext cx="1769806" cy="36133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A138702-28C9-A14A-9737-5AD93244EC64}"/>
              </a:ext>
            </a:extLst>
          </p:cNvPr>
          <p:cNvSpPr txBox="1"/>
          <p:nvPr/>
        </p:nvSpPr>
        <p:spPr>
          <a:xfrm>
            <a:off x="6740013" y="2986548"/>
            <a:ext cx="4159045" cy="646331"/>
          </a:xfrm>
          <a:prstGeom prst="rect">
            <a:avLst/>
          </a:prstGeom>
          <a:noFill/>
        </p:spPr>
        <p:txBody>
          <a:bodyPr wrap="square" rtlCol="0">
            <a:spAutoFit/>
          </a:bodyPr>
          <a:lstStyle/>
          <a:p>
            <a:r>
              <a:rPr lang="en-GB" dirty="0"/>
              <a:t>Philosophical problem: when, if ever, are paternalistic interventions permissible? </a:t>
            </a:r>
          </a:p>
        </p:txBody>
      </p:sp>
      <p:sp>
        <p:nvSpPr>
          <p:cNvPr id="2" name="TextBox 1"/>
          <p:cNvSpPr txBox="1"/>
          <p:nvPr/>
        </p:nvSpPr>
        <p:spPr>
          <a:xfrm>
            <a:off x="932935" y="475513"/>
            <a:ext cx="8940114" cy="646331"/>
          </a:xfrm>
          <a:prstGeom prst="rect">
            <a:avLst/>
          </a:prstGeom>
          <a:noFill/>
        </p:spPr>
        <p:txBody>
          <a:bodyPr wrap="square" rtlCol="0">
            <a:spAutoFit/>
          </a:bodyPr>
          <a:lstStyle/>
          <a:p>
            <a:r>
              <a:rPr lang="en-GB" sz="3600" dirty="0"/>
              <a:t>Recall the four principles in </a:t>
            </a:r>
            <a:r>
              <a:rPr lang="en-GB" sz="3600" dirty="0" err="1"/>
              <a:t>Principlism</a:t>
            </a:r>
            <a:endParaRPr lang="en-GB" sz="3600" dirty="0"/>
          </a:p>
        </p:txBody>
      </p:sp>
    </p:spTree>
    <p:extLst>
      <p:ext uri="{BB962C8B-B14F-4D97-AF65-F5344CB8AC3E}">
        <p14:creationId xmlns:p14="http://schemas.microsoft.com/office/powerpoint/2010/main" val="164458045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F5B5A7-080B-6D4E-994D-FD4EBAFFB585}"/>
              </a:ext>
            </a:extLst>
          </p:cNvPr>
          <p:cNvSpPr>
            <a:spLocks noGrp="1"/>
          </p:cNvSpPr>
          <p:nvPr>
            <p:ph idx="1"/>
          </p:nvPr>
        </p:nvSpPr>
        <p:spPr>
          <a:xfrm>
            <a:off x="623561" y="1251696"/>
            <a:ext cx="11078912" cy="4926654"/>
          </a:xfrm>
        </p:spPr>
        <p:txBody>
          <a:bodyPr>
            <a:normAutofit/>
          </a:bodyPr>
          <a:lstStyle/>
          <a:p>
            <a:pPr marL="0" indent="0">
              <a:buNone/>
            </a:pPr>
            <a:endParaRPr lang="en-GB" sz="2400" dirty="0"/>
          </a:p>
          <a:p>
            <a:pPr marL="0" indent="0">
              <a:buNone/>
            </a:pPr>
            <a:r>
              <a:rPr lang="en-GB" sz="1700" dirty="0" smtClean="0"/>
              <a:t>Recall that: “Paternalism </a:t>
            </a:r>
            <a:r>
              <a:rPr lang="en-GB" sz="1700" dirty="0"/>
              <a:t>implies that the physician makes decisions based on what they consider to be in the patient’s best interests, even for those patients </a:t>
            </a:r>
            <a:r>
              <a:rPr lang="en-GB" sz="1700" i="1" dirty="0"/>
              <a:t>who could make the decisions for themselves</a:t>
            </a:r>
            <a:r>
              <a:rPr lang="en-GB" sz="1700" dirty="0" smtClean="0"/>
              <a:t>.”</a:t>
            </a:r>
            <a:endParaRPr lang="en-GB" sz="1700" dirty="0"/>
          </a:p>
          <a:p>
            <a:r>
              <a:rPr lang="en-GB" sz="1700" dirty="0" smtClean="0"/>
              <a:t>So if we are to think of examples it might be tempting to point to some horrific practice </a:t>
            </a:r>
            <a:r>
              <a:rPr lang="en-GB" sz="1700" dirty="0"/>
              <a:t>like </a:t>
            </a:r>
            <a:r>
              <a:rPr lang="en-GB" sz="1700" dirty="0" smtClean="0"/>
              <a:t>forced </a:t>
            </a:r>
            <a:r>
              <a:rPr lang="en-GB" sz="1700" dirty="0"/>
              <a:t>sterilization </a:t>
            </a:r>
            <a:r>
              <a:rPr lang="en-GB" sz="1700" dirty="0" smtClean="0"/>
              <a:t>(some </a:t>
            </a:r>
            <a:r>
              <a:rPr lang="en-GB" sz="1700" dirty="0"/>
              <a:t> </a:t>
            </a:r>
            <a:r>
              <a:rPr lang="en-GB" sz="1700" dirty="0" smtClean="0"/>
              <a:t>   60 000 cases in Sweden in the 1940s’ and 1950’s). Evidently those practices constituted a flagrant violation of human rights and ruined many peoples lives but strictly speaking that might not be medical paternalism, it does not meet the definition of clinical judgement nor of beneficence (</a:t>
            </a:r>
            <a:r>
              <a:rPr lang="en-GB" sz="1700" i="1" u="sng" dirty="0" smtClean="0"/>
              <a:t>expected</a:t>
            </a:r>
            <a:r>
              <a:rPr lang="en-GB" sz="1700" i="1" dirty="0" smtClean="0"/>
              <a:t> </a:t>
            </a:r>
            <a:r>
              <a:rPr lang="en-GB" sz="1700" dirty="0" smtClean="0"/>
              <a:t>positive outcome for that individual).</a:t>
            </a:r>
          </a:p>
          <a:p>
            <a:r>
              <a:rPr lang="en-GB" sz="1700" dirty="0" smtClean="0"/>
              <a:t>A standard example of medical paternalism is withholding information from patients about their conditions (undermines autonomy and decision-making) or when the physician frames the options to influence the decision or “disguised paternalism”, informed by the doctor’s own subconscious values.</a:t>
            </a:r>
          </a:p>
          <a:p>
            <a:pPr marL="0" indent="0">
              <a:buNone/>
            </a:pPr>
            <a:endParaRPr lang="en-GB" sz="1700" dirty="0" smtClean="0"/>
          </a:p>
          <a:p>
            <a:pPr>
              <a:buFont typeface="Wingdings" panose="05000000000000000000" pitchFamily="2" charset="2"/>
              <a:buChar char="Ø"/>
            </a:pPr>
            <a:r>
              <a:rPr lang="en-GB" sz="1700" dirty="0"/>
              <a:t>But note that paternalism can be considered wrong even when the outcome for the patient could be conceived of as</a:t>
            </a:r>
            <a:r>
              <a:rPr lang="en-GB" sz="1700" b="1" dirty="0"/>
              <a:t> </a:t>
            </a:r>
            <a:r>
              <a:rPr lang="en-GB" sz="1700" b="1" dirty="0" smtClean="0"/>
              <a:t>good </a:t>
            </a:r>
            <a:r>
              <a:rPr lang="en-GB" sz="1700" dirty="0" smtClean="0"/>
              <a:t>(at least from a somatic perspective).</a:t>
            </a:r>
          </a:p>
          <a:p>
            <a:pPr marL="0" indent="0">
              <a:buNone/>
            </a:pPr>
            <a:endParaRPr lang="en-GB" sz="2800" dirty="0"/>
          </a:p>
        </p:txBody>
      </p:sp>
      <p:sp>
        <p:nvSpPr>
          <p:cNvPr id="2" name="TextBox 1"/>
          <p:cNvSpPr txBox="1"/>
          <p:nvPr/>
        </p:nvSpPr>
        <p:spPr>
          <a:xfrm>
            <a:off x="623561" y="500454"/>
            <a:ext cx="10472807" cy="646331"/>
          </a:xfrm>
          <a:prstGeom prst="rect">
            <a:avLst/>
          </a:prstGeom>
          <a:noFill/>
        </p:spPr>
        <p:txBody>
          <a:bodyPr wrap="square" rtlCol="0">
            <a:spAutoFit/>
          </a:bodyPr>
          <a:lstStyle/>
          <a:p>
            <a:r>
              <a:rPr lang="en-GB" sz="3600" dirty="0" smtClean="0"/>
              <a:t>Some examples of negative patient outcomes </a:t>
            </a:r>
            <a:endParaRPr lang="en-GB" sz="3600" dirty="0"/>
          </a:p>
        </p:txBody>
      </p:sp>
    </p:spTree>
    <p:extLst>
      <p:ext uri="{BB962C8B-B14F-4D97-AF65-F5344CB8AC3E}">
        <p14:creationId xmlns:p14="http://schemas.microsoft.com/office/powerpoint/2010/main" val="428554247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722DD-05CC-474C-8216-541D0756BACF}"/>
              </a:ext>
            </a:extLst>
          </p:cNvPr>
          <p:cNvSpPr>
            <a:spLocks noGrp="1"/>
          </p:cNvSpPr>
          <p:nvPr>
            <p:ph type="title"/>
          </p:nvPr>
        </p:nvSpPr>
        <p:spPr>
          <a:xfrm>
            <a:off x="1383957" y="1509598"/>
            <a:ext cx="9786551" cy="3838803"/>
          </a:xfrm>
          <a:ln w="57150">
            <a:solidFill>
              <a:srgbClr val="00B0F0"/>
            </a:solidFill>
          </a:ln>
        </p:spPr>
        <p:txBody>
          <a:bodyPr>
            <a:normAutofit fontScale="90000"/>
          </a:bodyPr>
          <a:lstStyle/>
          <a:p>
            <a:pPr algn="ctr">
              <a:lnSpc>
                <a:spcPct val="150000"/>
              </a:lnSpc>
            </a:pPr>
            <a:r>
              <a:rPr lang="en-GB" b="1" dirty="0"/>
              <a:t/>
            </a:r>
            <a:br>
              <a:rPr lang="en-GB" b="1" dirty="0"/>
            </a:br>
            <a:r>
              <a:rPr lang="en-GB" b="1" dirty="0"/>
              <a:t>Today, we will </a:t>
            </a:r>
            <a:r>
              <a:rPr lang="en-GB" b="1" dirty="0" smtClean="0"/>
              <a:t>zoom in and look </a:t>
            </a:r>
            <a:r>
              <a:rPr lang="en-GB" b="1" dirty="0"/>
              <a:t>at debates concerning paternalism </a:t>
            </a:r>
            <a:r>
              <a:rPr lang="en-GB" b="1" dirty="0" smtClean="0"/>
              <a:t>and personalised </a:t>
            </a:r>
            <a:r>
              <a:rPr lang="en-GB" b="1" dirty="0"/>
              <a:t>medicine (especially personalised risk scores).</a:t>
            </a:r>
            <a:r>
              <a:rPr lang="en-SE" dirty="0"/>
              <a:t/>
            </a:r>
            <a:br>
              <a:rPr lang="en-SE" dirty="0"/>
            </a:br>
            <a:endParaRPr lang="en-GB" dirty="0"/>
          </a:p>
        </p:txBody>
      </p:sp>
    </p:spTree>
    <p:extLst>
      <p:ext uri="{BB962C8B-B14F-4D97-AF65-F5344CB8AC3E}">
        <p14:creationId xmlns:p14="http://schemas.microsoft.com/office/powerpoint/2010/main" val="58246969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5317CC-2144-3B4B-9AB3-F7D812257B3C}"/>
              </a:ext>
            </a:extLst>
          </p:cNvPr>
          <p:cNvSpPr>
            <a:spLocks noGrp="1"/>
          </p:cNvSpPr>
          <p:nvPr>
            <p:ph idx="1"/>
          </p:nvPr>
        </p:nvSpPr>
        <p:spPr>
          <a:xfrm>
            <a:off x="821724" y="1146780"/>
            <a:ext cx="10401800" cy="5004256"/>
          </a:xfrm>
          <a:noFill/>
          <a:ln>
            <a:noFill/>
          </a:ln>
        </p:spPr>
        <p:txBody>
          <a:bodyPr>
            <a:normAutofit/>
          </a:bodyPr>
          <a:lstStyle/>
          <a:p>
            <a:endParaRPr lang="en-GB" dirty="0"/>
          </a:p>
          <a:p>
            <a:pPr marL="0" indent="0">
              <a:buNone/>
            </a:pPr>
            <a:r>
              <a:rPr lang="en-GB" sz="1800" dirty="0"/>
              <a:t>Personalised medicine can be understood as a practice </a:t>
            </a:r>
            <a:r>
              <a:rPr lang="en-GB" sz="1800" dirty="0" smtClean="0"/>
              <a:t>where:</a:t>
            </a:r>
            <a:endParaRPr lang="en-GB" sz="1800" dirty="0"/>
          </a:p>
          <a:p>
            <a:r>
              <a:rPr lang="en-GB" sz="1800" dirty="0" smtClean="0"/>
              <a:t>“</a:t>
            </a:r>
            <a:r>
              <a:rPr lang="en-US" sz="1800" dirty="0"/>
              <a:t>Personalized medicine is an emerging practice of medicine that uses an individual's genetic profile to guide decisions made in regard to the prevention, diagnosis, and treatment of disease. Knowledge of a patient's genetic profile can help doctors select the proper medication or therapy and administer it using the proper dose or regimen. </a:t>
            </a:r>
            <a:r>
              <a:rPr lang="en-US" sz="1800" dirty="0" smtClean="0"/>
              <a:t>” NIH National human genome research institute </a:t>
            </a:r>
          </a:p>
          <a:p>
            <a:pPr marL="0" indent="0">
              <a:buNone/>
            </a:pPr>
            <a:endParaRPr lang="en-US" sz="1800" dirty="0" smtClean="0"/>
          </a:p>
          <a:p>
            <a:pPr marL="0" indent="0">
              <a:buNone/>
            </a:pPr>
            <a:r>
              <a:rPr lang="en-US" sz="1800" dirty="0" smtClean="0"/>
              <a:t>Vocabulary: </a:t>
            </a:r>
          </a:p>
          <a:p>
            <a:r>
              <a:rPr lang="en-US" sz="1800" dirty="0" smtClean="0"/>
              <a:t>“</a:t>
            </a:r>
            <a:r>
              <a:rPr lang="en-US" sz="1800" i="1" dirty="0" smtClean="0"/>
              <a:t>Precision </a:t>
            </a:r>
            <a:r>
              <a:rPr lang="en-US" sz="1800" i="1" dirty="0"/>
              <a:t>medicine </a:t>
            </a:r>
            <a:r>
              <a:rPr lang="en-US" sz="1800" dirty="0"/>
              <a:t>is a way health care providers can offer and plan specific care for their patients, based on the particular genes, proteins, and other substances in a person’s body. This approach is also sometimes called </a:t>
            </a:r>
            <a:r>
              <a:rPr lang="en-US" sz="1800" i="1" dirty="0"/>
              <a:t>personalized medicine</a:t>
            </a:r>
            <a:r>
              <a:rPr lang="en-US" sz="1800" dirty="0"/>
              <a:t> or </a:t>
            </a:r>
            <a:r>
              <a:rPr lang="en-US" sz="1800" i="1" dirty="0"/>
              <a:t>personalized care</a:t>
            </a:r>
            <a:r>
              <a:rPr lang="en-US" sz="1800" dirty="0" smtClean="0"/>
              <a:t>.” American Cancer Society </a:t>
            </a:r>
            <a:endParaRPr lang="en-GB" sz="1800" dirty="0"/>
          </a:p>
        </p:txBody>
      </p:sp>
      <p:sp>
        <p:nvSpPr>
          <p:cNvPr id="2" name="TextBox 1"/>
          <p:cNvSpPr txBox="1"/>
          <p:nvPr/>
        </p:nvSpPr>
        <p:spPr>
          <a:xfrm>
            <a:off x="722870" y="500449"/>
            <a:ext cx="10231395" cy="646331"/>
          </a:xfrm>
          <a:prstGeom prst="rect">
            <a:avLst/>
          </a:prstGeom>
          <a:noFill/>
        </p:spPr>
        <p:txBody>
          <a:bodyPr wrap="square" rtlCol="0">
            <a:spAutoFit/>
          </a:bodyPr>
          <a:lstStyle/>
          <a:p>
            <a:r>
              <a:rPr lang="en-GB" sz="3600" dirty="0" smtClean="0"/>
              <a:t>What is personalised medicine? </a:t>
            </a:r>
            <a:endParaRPr lang="en-GB" sz="3600" dirty="0"/>
          </a:p>
        </p:txBody>
      </p:sp>
    </p:spTree>
    <p:extLst>
      <p:ext uri="{BB962C8B-B14F-4D97-AF65-F5344CB8AC3E}">
        <p14:creationId xmlns:p14="http://schemas.microsoft.com/office/powerpoint/2010/main" val="253330866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65C64-259F-054A-8929-1FBD740A2821}"/>
              </a:ext>
            </a:extLst>
          </p:cNvPr>
          <p:cNvSpPr>
            <a:spLocks noGrp="1"/>
          </p:cNvSpPr>
          <p:nvPr>
            <p:ph type="title"/>
          </p:nvPr>
        </p:nvSpPr>
        <p:spPr/>
        <p:txBody>
          <a:bodyPr>
            <a:normAutofit/>
          </a:bodyPr>
          <a:lstStyle/>
          <a:p>
            <a:r>
              <a:rPr lang="sv-SE" sz="4000" dirty="0" err="1" smtClean="0">
                <a:latin typeface="+mn-lt"/>
              </a:rPr>
              <a:t>What</a:t>
            </a:r>
            <a:r>
              <a:rPr lang="sv-SE" sz="4000" dirty="0" smtClean="0">
                <a:latin typeface="+mn-lt"/>
              </a:rPr>
              <a:t> is the </a:t>
            </a:r>
            <a:r>
              <a:rPr lang="sv-SE" sz="4000" dirty="0" err="1" smtClean="0">
                <a:latin typeface="+mn-lt"/>
              </a:rPr>
              <a:t>purpose</a:t>
            </a:r>
            <a:r>
              <a:rPr lang="sv-SE" sz="4000" dirty="0" smtClean="0">
                <a:latin typeface="+mn-lt"/>
              </a:rPr>
              <a:t> </a:t>
            </a:r>
            <a:r>
              <a:rPr lang="sv-SE" sz="4000" dirty="0" err="1" smtClean="0">
                <a:latin typeface="+mn-lt"/>
              </a:rPr>
              <a:t>of</a:t>
            </a:r>
            <a:r>
              <a:rPr lang="sv-SE" sz="4000" dirty="0" smtClean="0">
                <a:latin typeface="+mn-lt"/>
              </a:rPr>
              <a:t> </a:t>
            </a:r>
            <a:r>
              <a:rPr lang="sv-SE" sz="4000" dirty="0" err="1" smtClean="0">
                <a:latin typeface="+mn-lt"/>
              </a:rPr>
              <a:t>personalised</a:t>
            </a:r>
            <a:r>
              <a:rPr lang="sv-SE" sz="4000" dirty="0" smtClean="0">
                <a:latin typeface="+mn-lt"/>
              </a:rPr>
              <a:t> medicine?</a:t>
            </a:r>
            <a:r>
              <a:rPr lang="en-SE" dirty="0"/>
              <a:t/>
            </a:r>
            <a:br>
              <a:rPr lang="en-SE" dirty="0"/>
            </a:br>
            <a:endParaRPr lang="en-GB" dirty="0"/>
          </a:p>
        </p:txBody>
      </p:sp>
      <p:sp>
        <p:nvSpPr>
          <p:cNvPr id="3" name="Content Placeholder 2">
            <a:extLst>
              <a:ext uri="{FF2B5EF4-FFF2-40B4-BE49-F238E27FC236}">
                <a16:creationId xmlns:a16="http://schemas.microsoft.com/office/drawing/2014/main" id="{3884634A-4878-9A48-8381-31D45BBEF25F}"/>
              </a:ext>
            </a:extLst>
          </p:cNvPr>
          <p:cNvSpPr>
            <a:spLocks noGrp="1"/>
          </p:cNvSpPr>
          <p:nvPr>
            <p:ph idx="1"/>
          </p:nvPr>
        </p:nvSpPr>
        <p:spPr>
          <a:xfrm>
            <a:off x="1007076" y="1377778"/>
            <a:ext cx="10083113" cy="4678741"/>
          </a:xfrm>
        </p:spPr>
        <p:txBody>
          <a:bodyPr>
            <a:normAutofit lnSpcReduction="10000"/>
          </a:bodyPr>
          <a:lstStyle/>
          <a:p>
            <a:pPr marL="0" indent="0">
              <a:buNone/>
            </a:pPr>
            <a:r>
              <a:rPr lang="en-SE" sz="2400" dirty="0"/>
              <a:t>”Personalized medicine, often referred to as precision medicine, is an evolving field in which physicians use molecular diagnostic tests to determine which medical treatments and strategies will work best for their patients. </a:t>
            </a:r>
            <a:endParaRPr lang="sv-SE" sz="2400" dirty="0" smtClean="0"/>
          </a:p>
          <a:p>
            <a:pPr marL="0" indent="0">
              <a:buNone/>
            </a:pPr>
            <a:r>
              <a:rPr lang="en-SE" sz="2400" dirty="0" smtClean="0"/>
              <a:t>By </a:t>
            </a:r>
            <a:r>
              <a:rPr lang="en-SE" sz="2400" dirty="0"/>
              <a:t>combining the data from those tests with an individual’s medical history, circumstances, and values, health care providers and patients can develop targeted treatment and prevention plans</a:t>
            </a:r>
            <a:r>
              <a:rPr lang="en-SE" sz="2400" dirty="0" smtClean="0"/>
              <a:t>.”</a:t>
            </a:r>
            <a:endParaRPr lang="sv-SE" sz="2400" dirty="0" smtClean="0"/>
          </a:p>
          <a:p>
            <a:pPr marL="0" indent="0">
              <a:buNone/>
            </a:pPr>
            <a:endParaRPr lang="sv-SE" sz="2400" dirty="0"/>
          </a:p>
          <a:p>
            <a:pPr marL="0" indent="0">
              <a:buNone/>
            </a:pPr>
            <a:endParaRPr lang="sv-SE" sz="2400" dirty="0"/>
          </a:p>
          <a:p>
            <a:pPr marL="0" indent="0">
              <a:buNone/>
            </a:pPr>
            <a:r>
              <a:rPr lang="en-GB" sz="1300" dirty="0"/>
              <a:t>http://www.personalizedmedicinecoalition.org/Userfiles/PMC-Corporate/file/PMC_Moving_Beyond_Population_Averages_A_Patient-Centered_Research_Agenda_Advancing_Personalized_Medicine1.pdf</a:t>
            </a:r>
          </a:p>
          <a:p>
            <a:pPr marL="0" indent="0">
              <a:buNone/>
            </a:pPr>
            <a:r>
              <a:rPr lang="en-SE" sz="2800" dirty="0"/>
              <a:t/>
            </a:r>
            <a:br>
              <a:rPr lang="en-SE" sz="2800" dirty="0"/>
            </a:br>
            <a:r>
              <a:rPr lang="en-SE" sz="2800" dirty="0"/>
              <a:t/>
            </a:r>
            <a:br>
              <a:rPr lang="en-SE" sz="2800" dirty="0"/>
            </a:br>
            <a:endParaRPr lang="en-SE" sz="2800" dirty="0"/>
          </a:p>
          <a:p>
            <a:endParaRPr lang="en-GB" sz="2800" dirty="0"/>
          </a:p>
        </p:txBody>
      </p:sp>
    </p:spTree>
    <p:extLst>
      <p:ext uri="{BB962C8B-B14F-4D97-AF65-F5344CB8AC3E}">
        <p14:creationId xmlns:p14="http://schemas.microsoft.com/office/powerpoint/2010/main" val="260424659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2B9CDD-455D-DB48-B4CE-0210A9B7CF65}"/>
              </a:ext>
            </a:extLst>
          </p:cNvPr>
          <p:cNvSpPr>
            <a:spLocks noGrp="1"/>
          </p:cNvSpPr>
          <p:nvPr>
            <p:ph idx="1"/>
          </p:nvPr>
        </p:nvSpPr>
        <p:spPr>
          <a:xfrm>
            <a:off x="902042" y="1396214"/>
            <a:ext cx="10657703" cy="5276537"/>
          </a:xfrm>
          <a:noFill/>
        </p:spPr>
        <p:txBody>
          <a:bodyPr>
            <a:noAutofit/>
          </a:bodyPr>
          <a:lstStyle/>
          <a:p>
            <a:pPr marL="457200" indent="-457200">
              <a:buFont typeface="+mj-lt"/>
              <a:buAutoNum type="arabicPeriod"/>
            </a:pPr>
            <a:r>
              <a:rPr lang="en-GB" sz="2000" dirty="0" smtClean="0"/>
              <a:t>better </a:t>
            </a:r>
            <a:r>
              <a:rPr lang="en-GB" sz="2000" dirty="0"/>
              <a:t>medication effectiveness, since treatments are tailored to patient characteristics, e.g., genetic profile</a:t>
            </a:r>
            <a:r>
              <a:rPr lang="en-GB" sz="2000" dirty="0" smtClean="0"/>
              <a:t>;</a:t>
            </a:r>
          </a:p>
          <a:p>
            <a:pPr marL="457200" indent="-457200">
              <a:buFont typeface="+mj-lt"/>
              <a:buAutoNum type="arabicPeriod"/>
            </a:pPr>
            <a:r>
              <a:rPr lang="en-GB" sz="2000" dirty="0" smtClean="0"/>
              <a:t>reduction </a:t>
            </a:r>
            <a:r>
              <a:rPr lang="en-GB" sz="2000" dirty="0"/>
              <a:t>of adverse event risks through avoidance of therapies showing no clear positive effect on the disease, while at the same time exhibiting (partially unavoidable) negative side effects</a:t>
            </a:r>
            <a:r>
              <a:rPr lang="en-GB" sz="2000" dirty="0" smtClean="0"/>
              <a:t>;</a:t>
            </a:r>
          </a:p>
          <a:p>
            <a:pPr marL="457200" indent="-457200">
              <a:buFont typeface="+mj-lt"/>
              <a:buAutoNum type="arabicPeriod"/>
            </a:pPr>
            <a:r>
              <a:rPr lang="en-GB" sz="2000" dirty="0" smtClean="0"/>
              <a:t>lower </a:t>
            </a:r>
            <a:r>
              <a:rPr lang="en-GB" sz="2000" dirty="0"/>
              <a:t>healthcare costs as a consequence of optimized and effective use of therapies; </a:t>
            </a:r>
            <a:endParaRPr lang="en-GB" sz="2000" dirty="0" smtClean="0"/>
          </a:p>
          <a:p>
            <a:pPr marL="457200" indent="-457200">
              <a:buFont typeface="+mj-lt"/>
              <a:buAutoNum type="arabicPeriod"/>
            </a:pPr>
            <a:r>
              <a:rPr lang="en-GB" sz="2000" dirty="0" smtClean="0"/>
              <a:t>early </a:t>
            </a:r>
            <a:r>
              <a:rPr lang="en-GB" sz="2000" dirty="0"/>
              <a:t>disease diagnosis and prevention by using molecular and non-molecular biomarkers; </a:t>
            </a:r>
            <a:endParaRPr lang="sv-SE" sz="2000" dirty="0"/>
          </a:p>
          <a:p>
            <a:pPr marL="457200" indent="-457200">
              <a:buFont typeface="+mj-lt"/>
              <a:buAutoNum type="arabicPeriod"/>
            </a:pPr>
            <a:r>
              <a:rPr lang="en-GB" sz="2000" dirty="0" smtClean="0"/>
              <a:t>improved </a:t>
            </a:r>
            <a:r>
              <a:rPr lang="en-GB" sz="2000" dirty="0"/>
              <a:t>disease management with the help of wearable sensors and mobile health applications; </a:t>
            </a:r>
            <a:endParaRPr lang="en-SE" sz="2000" dirty="0"/>
          </a:p>
          <a:p>
            <a:pPr marL="457200" indent="-457200">
              <a:buFont typeface="+mj-lt"/>
              <a:buAutoNum type="arabicPeriod"/>
            </a:pPr>
            <a:r>
              <a:rPr lang="en-GB" sz="2000" dirty="0" smtClean="0"/>
              <a:t>smarter </a:t>
            </a:r>
            <a:r>
              <a:rPr lang="en-GB" sz="2000" dirty="0"/>
              <a:t>design of clinical trials due to selection of likely responders at baseline</a:t>
            </a:r>
            <a:endParaRPr lang="en-SE" sz="2000" dirty="0"/>
          </a:p>
          <a:p>
            <a:pPr marL="0" indent="0">
              <a:buNone/>
            </a:pPr>
            <a:r>
              <a:rPr lang="en-GB" sz="2000" dirty="0"/>
              <a:t>	</a:t>
            </a:r>
            <a:r>
              <a:rPr lang="en-GB" sz="2000" dirty="0" smtClean="0"/>
              <a:t>							</a:t>
            </a:r>
            <a:r>
              <a:rPr lang="en-GB" sz="1600" dirty="0" smtClean="0"/>
              <a:t>(</a:t>
            </a:r>
            <a:r>
              <a:rPr lang="en-GB" sz="1600" dirty="0"/>
              <a:t>see </a:t>
            </a:r>
            <a:r>
              <a:rPr lang="en-GB" sz="1600" dirty="0" err="1"/>
              <a:t>Frölich</a:t>
            </a:r>
            <a:r>
              <a:rPr lang="en-GB" sz="1600" dirty="0"/>
              <a:t> et al 2018) </a:t>
            </a:r>
          </a:p>
          <a:p>
            <a:endParaRPr lang="en-GB" sz="2000" dirty="0"/>
          </a:p>
        </p:txBody>
      </p:sp>
      <p:sp>
        <p:nvSpPr>
          <p:cNvPr id="5" name="Rectangle 4">
            <a:extLst>
              <a:ext uri="{FF2B5EF4-FFF2-40B4-BE49-F238E27FC236}">
                <a16:creationId xmlns:a16="http://schemas.microsoft.com/office/drawing/2014/main" id="{807DD2B7-86D2-924E-BAFE-876A8E226B80}"/>
              </a:ext>
            </a:extLst>
          </p:cNvPr>
          <p:cNvSpPr/>
          <p:nvPr/>
        </p:nvSpPr>
        <p:spPr>
          <a:xfrm>
            <a:off x="759941" y="302031"/>
            <a:ext cx="9928654" cy="646331"/>
          </a:xfrm>
          <a:prstGeom prst="rect">
            <a:avLst/>
          </a:prstGeom>
        </p:spPr>
        <p:txBody>
          <a:bodyPr wrap="square">
            <a:spAutoFit/>
          </a:bodyPr>
          <a:lstStyle/>
          <a:p>
            <a:r>
              <a:rPr lang="en-GB" sz="3600" dirty="0" smtClean="0"/>
              <a:t>Potential benefits of personalised medicine </a:t>
            </a:r>
            <a:endParaRPr lang="en-GB" sz="3600" dirty="0"/>
          </a:p>
        </p:txBody>
      </p:sp>
    </p:spTree>
    <p:extLst>
      <p:ext uri="{BB962C8B-B14F-4D97-AF65-F5344CB8AC3E}">
        <p14:creationId xmlns:p14="http://schemas.microsoft.com/office/powerpoint/2010/main" val="107312831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F43AC5-4CC1-D548-BD1C-67CE09026880}"/>
              </a:ext>
            </a:extLst>
          </p:cNvPr>
          <p:cNvSpPr>
            <a:spLocks noGrp="1"/>
          </p:cNvSpPr>
          <p:nvPr>
            <p:ph idx="1"/>
          </p:nvPr>
        </p:nvSpPr>
        <p:spPr>
          <a:xfrm>
            <a:off x="541763" y="1414996"/>
            <a:ext cx="6032032" cy="4417393"/>
          </a:xfrm>
          <a:noFill/>
          <a:ln w="38100">
            <a:solidFill>
              <a:srgbClr val="00B0F0"/>
            </a:solidFill>
          </a:ln>
        </p:spPr>
        <p:txBody>
          <a:bodyPr>
            <a:normAutofit fontScale="92500" lnSpcReduction="10000"/>
          </a:bodyPr>
          <a:lstStyle/>
          <a:p>
            <a:pPr marL="0" indent="0">
              <a:buNone/>
            </a:pPr>
            <a:endParaRPr lang="en-GB" sz="2400" dirty="0" smtClean="0"/>
          </a:p>
          <a:p>
            <a:pPr marL="0" indent="0">
              <a:buNone/>
            </a:pPr>
            <a:r>
              <a:rPr lang="en-GB" sz="2400" dirty="0" smtClean="0"/>
              <a:t>“</a:t>
            </a:r>
            <a:r>
              <a:rPr lang="en-GB" sz="2400" dirty="0"/>
              <a:t>Within the next decade we will see an evolution in medicine as we understand more about the underlying drivers of a patient’s condition and their individual response. …This evolution to personalisation in medicine is not new, but is being driven by scientific advances and the development of new technologies, particularly the huge leaps in computing power that have driven the development of </a:t>
            </a:r>
            <a:r>
              <a:rPr lang="en-GB" sz="2400" b="1" dirty="0"/>
              <a:t>artificial intelligence and data analytics.</a:t>
            </a:r>
            <a:r>
              <a:rPr lang="en-GB" sz="2400" dirty="0"/>
              <a:t> Innovations such as 3D printing and circulating tumour DNA analysis are also providing ways of personalising care as never before.”</a:t>
            </a:r>
            <a:r>
              <a:rPr lang="en-GB" dirty="0"/>
              <a:t/>
            </a:r>
            <a:br>
              <a:rPr lang="en-GB" dirty="0"/>
            </a:br>
            <a:r>
              <a:rPr lang="en-GB" dirty="0"/>
              <a:t/>
            </a:r>
            <a:br>
              <a:rPr lang="en-GB" dirty="0"/>
            </a:br>
            <a:endParaRPr lang="en-GB" dirty="0"/>
          </a:p>
        </p:txBody>
      </p:sp>
      <p:sp>
        <p:nvSpPr>
          <p:cNvPr id="4" name="TextBox 3">
            <a:extLst>
              <a:ext uri="{FF2B5EF4-FFF2-40B4-BE49-F238E27FC236}">
                <a16:creationId xmlns:a16="http://schemas.microsoft.com/office/drawing/2014/main" id="{754F32B6-6A0B-BE4E-872E-3877C36613BE}"/>
              </a:ext>
            </a:extLst>
          </p:cNvPr>
          <p:cNvSpPr txBox="1"/>
          <p:nvPr/>
        </p:nvSpPr>
        <p:spPr>
          <a:xfrm>
            <a:off x="7420232" y="4804723"/>
            <a:ext cx="3517658" cy="538609"/>
          </a:xfrm>
          <a:prstGeom prst="rect">
            <a:avLst/>
          </a:prstGeom>
          <a:noFill/>
        </p:spPr>
        <p:txBody>
          <a:bodyPr wrap="square" rtlCol="0">
            <a:spAutoFit/>
          </a:bodyPr>
          <a:lstStyle/>
          <a:p>
            <a:r>
              <a:rPr lang="en-GB" dirty="0"/>
              <a:t/>
            </a:r>
            <a:br>
              <a:rPr lang="en-GB" dirty="0"/>
            </a:br>
            <a:r>
              <a:rPr lang="en-GB" sz="1100" dirty="0"/>
              <a:t>Prof. Dame Sue Hill (Chief Scientific </a:t>
            </a:r>
            <a:r>
              <a:rPr lang="en-GB" sz="1100" dirty="0" smtClean="0"/>
              <a:t>Officer for </a:t>
            </a:r>
            <a:r>
              <a:rPr lang="en-GB" sz="1100" dirty="0"/>
              <a:t>England)</a:t>
            </a:r>
          </a:p>
        </p:txBody>
      </p:sp>
      <p:pic>
        <p:nvPicPr>
          <p:cNvPr id="6" name="Picture 5">
            <a:extLst>
              <a:ext uri="{FF2B5EF4-FFF2-40B4-BE49-F238E27FC236}">
                <a16:creationId xmlns:a16="http://schemas.microsoft.com/office/drawing/2014/main" id="{6EAD7266-751F-1D4A-AD2E-0BFF57B000FC}"/>
              </a:ext>
            </a:extLst>
          </p:cNvPr>
          <p:cNvPicPr>
            <a:picLocks noChangeAspect="1"/>
          </p:cNvPicPr>
          <p:nvPr/>
        </p:nvPicPr>
        <p:blipFill>
          <a:blip r:embed="rId3"/>
          <a:stretch>
            <a:fillRect/>
          </a:stretch>
        </p:blipFill>
        <p:spPr>
          <a:xfrm>
            <a:off x="7279540" y="1446740"/>
            <a:ext cx="3584210" cy="3584210"/>
          </a:xfrm>
          <a:prstGeom prst="rect">
            <a:avLst/>
          </a:prstGeom>
        </p:spPr>
      </p:pic>
      <p:sp>
        <p:nvSpPr>
          <p:cNvPr id="2" name="TextBox 1"/>
          <p:cNvSpPr txBox="1"/>
          <p:nvPr/>
        </p:nvSpPr>
        <p:spPr>
          <a:xfrm>
            <a:off x="541763" y="226142"/>
            <a:ext cx="10145900" cy="646331"/>
          </a:xfrm>
          <a:prstGeom prst="rect">
            <a:avLst/>
          </a:prstGeom>
          <a:noFill/>
        </p:spPr>
        <p:txBody>
          <a:bodyPr wrap="square" rtlCol="0">
            <a:spAutoFit/>
          </a:bodyPr>
          <a:lstStyle/>
          <a:p>
            <a:r>
              <a:rPr lang="en-GB" sz="3600" dirty="0"/>
              <a:t>What are the relevant medical </a:t>
            </a:r>
            <a:r>
              <a:rPr lang="en-GB" sz="3600" dirty="0" smtClean="0"/>
              <a:t>technologies</a:t>
            </a:r>
            <a:r>
              <a:rPr lang="en-GB" sz="3600" dirty="0"/>
              <a:t>?</a:t>
            </a:r>
          </a:p>
        </p:txBody>
      </p:sp>
      <p:sp>
        <p:nvSpPr>
          <p:cNvPr id="5" name="TextBox 4"/>
          <p:cNvSpPr txBox="1"/>
          <p:nvPr/>
        </p:nvSpPr>
        <p:spPr>
          <a:xfrm>
            <a:off x="597368" y="6194323"/>
            <a:ext cx="10542580" cy="646331"/>
          </a:xfrm>
          <a:prstGeom prst="rect">
            <a:avLst/>
          </a:prstGeom>
          <a:noFill/>
        </p:spPr>
        <p:txBody>
          <a:bodyPr wrap="square" rtlCol="0">
            <a:spAutoFit/>
          </a:bodyPr>
          <a:lstStyle/>
          <a:p>
            <a:r>
              <a:rPr lang="en-GB" dirty="0"/>
              <a:t> </a:t>
            </a:r>
            <a:r>
              <a:rPr lang="en-GB" sz="1600" dirty="0"/>
              <a:t>(https://www.phgfoundation.org/documents/phgf-personalised-medicine-technology-landscape-report-50918.pdf</a:t>
            </a:r>
            <a:endParaRPr lang="en-SE" sz="1600" dirty="0"/>
          </a:p>
          <a:p>
            <a:endParaRPr lang="en-GB" dirty="0"/>
          </a:p>
        </p:txBody>
      </p:sp>
    </p:spTree>
    <p:extLst>
      <p:ext uri="{BB962C8B-B14F-4D97-AF65-F5344CB8AC3E}">
        <p14:creationId xmlns:p14="http://schemas.microsoft.com/office/powerpoint/2010/main" val="335436924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2B9CDD-455D-DB48-B4CE-0210A9B7CF65}"/>
              </a:ext>
            </a:extLst>
          </p:cNvPr>
          <p:cNvSpPr>
            <a:spLocks noGrp="1"/>
          </p:cNvSpPr>
          <p:nvPr>
            <p:ph idx="1"/>
          </p:nvPr>
        </p:nvSpPr>
        <p:spPr>
          <a:xfrm>
            <a:off x="679621" y="506528"/>
            <a:ext cx="10657703" cy="5276537"/>
          </a:xfrm>
          <a:noFill/>
        </p:spPr>
        <p:txBody>
          <a:bodyPr>
            <a:noAutofit/>
          </a:bodyPr>
          <a:lstStyle/>
          <a:p>
            <a:pPr marL="0" indent="0">
              <a:buNone/>
            </a:pPr>
            <a:r>
              <a:rPr lang="en-GB" sz="3600" dirty="0" smtClean="0"/>
              <a:t>Personalised risk scores</a:t>
            </a:r>
          </a:p>
          <a:p>
            <a:pPr marL="0" indent="0">
              <a:buNone/>
            </a:pPr>
            <a:endParaRPr lang="en-GB" sz="2000" dirty="0"/>
          </a:p>
          <a:p>
            <a:pPr marL="0" indent="0">
              <a:buNone/>
            </a:pPr>
            <a:r>
              <a:rPr lang="en-GB" sz="2400" dirty="0" smtClean="0"/>
              <a:t>A personalised risk score (or personal risk information) estimates the probability of future health outcomes for individual patients. </a:t>
            </a:r>
          </a:p>
          <a:p>
            <a:pPr marL="0" indent="0">
              <a:buNone/>
            </a:pPr>
            <a:endParaRPr lang="en-GB" sz="2400" dirty="0" smtClean="0"/>
          </a:p>
          <a:p>
            <a:pPr marL="0" indent="0">
              <a:buNone/>
            </a:pPr>
            <a:r>
              <a:rPr lang="en-GB" sz="2400" dirty="0" smtClean="0"/>
              <a:t>Personalised risk scores are regarded promising, because </a:t>
            </a:r>
          </a:p>
          <a:p>
            <a:pPr lvl="1"/>
            <a:r>
              <a:rPr lang="en-GB" sz="2000" dirty="0" smtClean="0"/>
              <a:t>they could help clinicians and other medical practitioners to better predict whether individuals will develop disease</a:t>
            </a:r>
          </a:p>
          <a:p>
            <a:pPr lvl="1"/>
            <a:r>
              <a:rPr lang="en-GB" sz="2000" dirty="0" smtClean="0"/>
              <a:t>more effective prevention and treatment options</a:t>
            </a:r>
            <a:r>
              <a:rPr lang="en-GB" sz="1600" dirty="0" smtClean="0"/>
              <a:t/>
            </a:r>
            <a:br>
              <a:rPr lang="en-GB" sz="1600" dirty="0" smtClean="0"/>
            </a:br>
            <a:endParaRPr lang="en-GB" sz="2000" dirty="0" smtClean="0"/>
          </a:p>
          <a:p>
            <a:pPr marL="0" indent="0">
              <a:buNone/>
            </a:pPr>
            <a:r>
              <a:rPr lang="en-GB" sz="1200" dirty="0" smtClean="0"/>
              <a:t>For more information and concrete examples, see e.g.</a:t>
            </a:r>
          </a:p>
          <a:p>
            <a:pPr marL="0" indent="0">
              <a:buNone/>
            </a:pPr>
            <a:r>
              <a:rPr lang="en-GB" sz="1200" dirty="0" smtClean="0"/>
              <a:t/>
            </a:r>
            <a:br>
              <a:rPr lang="en-GB" sz="1200" dirty="0" smtClean="0"/>
            </a:br>
            <a:r>
              <a:rPr lang="en-GB" sz="1200" dirty="0" smtClean="0"/>
              <a:t>Han PKJ, </a:t>
            </a:r>
            <a:r>
              <a:rPr lang="en-GB" sz="1200" dirty="0" err="1" smtClean="0"/>
              <a:t>Hootsmans</a:t>
            </a:r>
            <a:r>
              <a:rPr lang="en-GB" sz="1200" dirty="0" smtClean="0"/>
              <a:t> N, Neilson M</a:t>
            </a:r>
            <a:r>
              <a:rPr lang="en-GB" sz="1200" i="1" dirty="0" smtClean="0"/>
              <a:t>, et al </a:t>
            </a:r>
            <a:r>
              <a:rPr lang="en-GB" sz="1200" dirty="0" smtClean="0"/>
              <a:t>The value of personalised risk information: a qualitative study of the perceptions of patients with prostate cancer </a:t>
            </a:r>
            <a:r>
              <a:rPr lang="en-GB" sz="1200" i="1" dirty="0" smtClean="0"/>
              <a:t>BMJ Open </a:t>
            </a:r>
            <a:r>
              <a:rPr lang="en-GB" sz="1200" dirty="0" smtClean="0"/>
              <a:t>2013;</a:t>
            </a:r>
            <a:r>
              <a:rPr lang="en-GB" sz="1200" b="1" dirty="0" smtClean="0"/>
              <a:t>3:</a:t>
            </a:r>
            <a:r>
              <a:rPr lang="en-GB" sz="1200" dirty="0" smtClean="0"/>
              <a:t>e003226. </a:t>
            </a:r>
            <a:r>
              <a:rPr lang="en-GB" sz="1200" dirty="0" err="1" smtClean="0"/>
              <a:t>doi</a:t>
            </a:r>
            <a:r>
              <a:rPr lang="en-GB" sz="1200" dirty="0" smtClean="0"/>
              <a:t>: 10.1136/bmjopen-2013-003226</a:t>
            </a:r>
            <a:br>
              <a:rPr lang="en-GB" sz="1200" dirty="0" smtClean="0"/>
            </a:br>
            <a:r>
              <a:rPr lang="en-GB" sz="1200" dirty="0" smtClean="0"/>
              <a:t/>
            </a:r>
            <a:br>
              <a:rPr lang="en-GB" sz="1200" dirty="0" smtClean="0"/>
            </a:br>
            <a:r>
              <a:rPr lang="en-GB" sz="1200" dirty="0" smtClean="0"/>
              <a:t>Edwards  AGK, </a:t>
            </a:r>
            <a:r>
              <a:rPr lang="en-GB" sz="1200" dirty="0" err="1" smtClean="0"/>
              <a:t>Naik</a:t>
            </a:r>
            <a:r>
              <a:rPr lang="en-GB" sz="1200" dirty="0" smtClean="0"/>
              <a:t>  G, Ahmed  H, </a:t>
            </a:r>
            <a:r>
              <a:rPr lang="en-GB" sz="1200" dirty="0" err="1" smtClean="0"/>
              <a:t>Elwyn</a:t>
            </a:r>
            <a:r>
              <a:rPr lang="en-GB" sz="1200" dirty="0" smtClean="0"/>
              <a:t>  GJ, Pickles  T, Hood  K, </a:t>
            </a:r>
            <a:r>
              <a:rPr lang="en-GB" sz="1200" dirty="0" err="1" smtClean="0"/>
              <a:t>Playle</a:t>
            </a:r>
            <a:r>
              <a:rPr lang="en-GB" sz="1200" dirty="0" smtClean="0"/>
              <a:t>  R. Personalised risk communication for informed decision making about taking screening tests. Cochrane Database of Systematic Reviews 2013, Issue 2. Art. No.: CD001865. DOI: 10.1002/14651858.CD001865.pub3. Accessed 03 December 2020.</a:t>
            </a:r>
          </a:p>
          <a:p>
            <a:pPr marL="0" indent="0">
              <a:buNone/>
            </a:pPr>
            <a:endParaRPr lang="en-GB" sz="2000" dirty="0"/>
          </a:p>
        </p:txBody>
      </p:sp>
    </p:spTree>
    <p:extLst>
      <p:ext uri="{BB962C8B-B14F-4D97-AF65-F5344CB8AC3E}">
        <p14:creationId xmlns:p14="http://schemas.microsoft.com/office/powerpoint/2010/main" val="393821509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5DB61D-A504-B64F-AFFD-7E3CDB0A8D03}"/>
              </a:ext>
            </a:extLst>
          </p:cNvPr>
          <p:cNvSpPr>
            <a:spLocks noGrp="1"/>
          </p:cNvSpPr>
          <p:nvPr>
            <p:ph idx="1"/>
          </p:nvPr>
        </p:nvSpPr>
        <p:spPr>
          <a:xfrm>
            <a:off x="902042" y="1690689"/>
            <a:ext cx="10762735" cy="4444442"/>
          </a:xfrm>
        </p:spPr>
        <p:txBody>
          <a:bodyPr>
            <a:normAutofit/>
          </a:bodyPr>
          <a:lstStyle/>
          <a:p>
            <a:pPr marL="0" indent="0">
              <a:buNone/>
            </a:pPr>
            <a:r>
              <a:rPr lang="en-GB" sz="2400" dirty="0" smtClean="0"/>
              <a:t>According to Stephen John (and others) there are two reasons to be sceptical of claims that imply that personalised risk score technologies will pave the way for effective prevention:</a:t>
            </a:r>
          </a:p>
        </p:txBody>
      </p:sp>
      <p:sp>
        <p:nvSpPr>
          <p:cNvPr id="4" name="Title 3"/>
          <p:cNvSpPr>
            <a:spLocks noGrp="1"/>
          </p:cNvSpPr>
          <p:nvPr>
            <p:ph type="title"/>
          </p:nvPr>
        </p:nvSpPr>
        <p:spPr/>
        <p:txBody>
          <a:bodyPr>
            <a:normAutofit/>
          </a:bodyPr>
          <a:lstStyle/>
          <a:p>
            <a:r>
              <a:rPr lang="en-GB" sz="3600" dirty="0" smtClean="0">
                <a:latin typeface="+mn-lt"/>
              </a:rPr>
              <a:t>Sceptical approach </a:t>
            </a:r>
            <a:endParaRPr lang="en-GB" sz="3600" dirty="0">
              <a:latin typeface="+mn-lt"/>
            </a:endParaRPr>
          </a:p>
        </p:txBody>
      </p:sp>
      <p:sp>
        <p:nvSpPr>
          <p:cNvPr id="7" name="TextBox 6"/>
          <p:cNvSpPr txBox="1"/>
          <p:nvPr/>
        </p:nvSpPr>
        <p:spPr>
          <a:xfrm>
            <a:off x="1149178" y="5671725"/>
            <a:ext cx="10775091" cy="553998"/>
          </a:xfrm>
          <a:prstGeom prst="rect">
            <a:avLst/>
          </a:prstGeom>
          <a:noFill/>
        </p:spPr>
        <p:txBody>
          <a:bodyPr wrap="square" rtlCol="0">
            <a:spAutoFit/>
          </a:bodyPr>
          <a:lstStyle/>
          <a:p>
            <a:r>
              <a:rPr lang="en-GB" sz="1200" dirty="0"/>
              <a:t>John, S. (forthcoming). Artificial Ignorance, Epistemic Paternalism and Epistemic Obligation(Ch.1). In </a:t>
            </a:r>
            <a:r>
              <a:rPr lang="en-GB" sz="1200" i="1" dirty="0"/>
              <a:t>Epistemic Paternalism Reconsidered, </a:t>
            </a:r>
            <a:r>
              <a:rPr lang="en-GB" sz="1200" dirty="0"/>
              <a:t>ed. Axtell and </a:t>
            </a:r>
            <a:r>
              <a:rPr lang="en-GB" sz="1200" dirty="0" err="1"/>
              <a:t>Bernall</a:t>
            </a:r>
            <a:endParaRPr lang="en-GB" sz="1200" dirty="0"/>
          </a:p>
          <a:p>
            <a:endParaRPr lang="en-GB" dirty="0"/>
          </a:p>
        </p:txBody>
      </p:sp>
      <p:pic>
        <p:nvPicPr>
          <p:cNvPr id="10" name="Picture 9"/>
          <p:cNvPicPr>
            <a:picLocks noChangeAspect="1"/>
          </p:cNvPicPr>
          <p:nvPr/>
        </p:nvPicPr>
        <p:blipFill>
          <a:blip r:embed="rId3"/>
          <a:stretch>
            <a:fillRect/>
          </a:stretch>
        </p:blipFill>
        <p:spPr>
          <a:xfrm>
            <a:off x="6283409" y="3418179"/>
            <a:ext cx="4924798" cy="1134170"/>
          </a:xfrm>
          <a:prstGeom prst="rect">
            <a:avLst/>
          </a:prstGeom>
        </p:spPr>
      </p:pic>
      <p:pic>
        <p:nvPicPr>
          <p:cNvPr id="11" name="Picture 10"/>
          <p:cNvPicPr>
            <a:picLocks noChangeAspect="1"/>
          </p:cNvPicPr>
          <p:nvPr/>
        </p:nvPicPr>
        <p:blipFill>
          <a:blip r:embed="rId4"/>
          <a:stretch>
            <a:fillRect/>
          </a:stretch>
        </p:blipFill>
        <p:spPr>
          <a:xfrm>
            <a:off x="949411" y="3429000"/>
            <a:ext cx="4985327" cy="1138143"/>
          </a:xfrm>
          <a:prstGeom prst="rect">
            <a:avLst/>
          </a:prstGeom>
        </p:spPr>
      </p:pic>
    </p:spTree>
    <p:extLst>
      <p:ext uri="{BB962C8B-B14F-4D97-AF65-F5344CB8AC3E}">
        <p14:creationId xmlns:p14="http://schemas.microsoft.com/office/powerpoint/2010/main" val="371537619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96311D-FE27-D041-B1BA-3DED8EB8F550}"/>
              </a:ext>
            </a:extLst>
          </p:cNvPr>
          <p:cNvSpPr>
            <a:spLocks noGrp="1"/>
          </p:cNvSpPr>
          <p:nvPr>
            <p:ph idx="1"/>
          </p:nvPr>
        </p:nvSpPr>
        <p:spPr>
          <a:xfrm>
            <a:off x="1198605" y="678473"/>
            <a:ext cx="9687697" cy="2558998"/>
          </a:xfrm>
        </p:spPr>
        <p:txBody>
          <a:bodyPr>
            <a:normAutofit/>
          </a:bodyPr>
          <a:lstStyle/>
          <a:p>
            <a:pPr marL="0" indent="0">
              <a:buNone/>
            </a:pPr>
            <a:r>
              <a:rPr lang="en-GB" sz="2600" dirty="0" smtClean="0"/>
              <a:t>“</a:t>
            </a:r>
            <a:r>
              <a:rPr lang="en-GB" sz="2600" dirty="0"/>
              <a:t>Both concerns, if valid, imply reasons to control the flow of information from personalised medical tests: the first implies that results should be available only when they are interpreted and contextualised by intermediary experts, such as trained genetic counsellors; the second implies reasons against allowing test results to be available at all.” </a:t>
            </a:r>
            <a:r>
              <a:rPr lang="en-GB" sz="1400" dirty="0"/>
              <a:t>(John forthcoming, p.1)</a:t>
            </a:r>
          </a:p>
          <a:p>
            <a:endParaRPr lang="en-GB" dirty="0"/>
          </a:p>
          <a:p>
            <a:endParaRPr lang="en-GB" dirty="0"/>
          </a:p>
          <a:p>
            <a:endParaRPr lang="en-GB" dirty="0"/>
          </a:p>
        </p:txBody>
      </p:sp>
      <p:sp>
        <p:nvSpPr>
          <p:cNvPr id="5" name="Rectangle 4"/>
          <p:cNvSpPr/>
          <p:nvPr/>
        </p:nvSpPr>
        <p:spPr>
          <a:xfrm>
            <a:off x="2414875" y="4161104"/>
            <a:ext cx="8534007" cy="1922207"/>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b="1" dirty="0"/>
              <a:t>Should </a:t>
            </a:r>
            <a:r>
              <a:rPr lang="en-GB" sz="2800" dirty="0"/>
              <a:t>we control the flow of information? </a:t>
            </a:r>
          </a:p>
          <a:p>
            <a:pPr algn="ctr"/>
            <a:r>
              <a:rPr lang="en-GB" sz="2800" dirty="0"/>
              <a:t>Or: how </a:t>
            </a:r>
            <a:r>
              <a:rPr lang="en-GB" sz="2800" b="1" dirty="0"/>
              <a:t>strongly should </a:t>
            </a:r>
            <a:r>
              <a:rPr lang="en-GB" sz="2800" dirty="0"/>
              <a:t>we control the flow of information?</a:t>
            </a:r>
          </a:p>
        </p:txBody>
      </p:sp>
      <p:sp>
        <p:nvSpPr>
          <p:cNvPr id="6" name="Rectangle 5"/>
          <p:cNvSpPr/>
          <p:nvPr/>
        </p:nvSpPr>
        <p:spPr>
          <a:xfrm>
            <a:off x="1126849" y="4161103"/>
            <a:ext cx="1288026" cy="1922207"/>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9600" b="1" dirty="0" smtClean="0"/>
              <a:t>?</a:t>
            </a:r>
            <a:endParaRPr lang="en-GB" sz="9600" b="1" dirty="0"/>
          </a:p>
        </p:txBody>
      </p:sp>
    </p:spTree>
    <p:extLst>
      <p:ext uri="{BB962C8B-B14F-4D97-AF65-F5344CB8AC3E}">
        <p14:creationId xmlns:p14="http://schemas.microsoft.com/office/powerpoint/2010/main" val="199354558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8E98C5-236B-F244-B57E-929DEEDB818E}"/>
              </a:ext>
            </a:extLst>
          </p:cNvPr>
          <p:cNvSpPr>
            <a:spLocks noGrp="1"/>
          </p:cNvSpPr>
          <p:nvPr>
            <p:ph idx="1"/>
          </p:nvPr>
        </p:nvSpPr>
        <p:spPr>
          <a:xfrm>
            <a:off x="838200" y="1093822"/>
            <a:ext cx="10515600" cy="1175544"/>
          </a:xfrm>
        </p:spPr>
        <p:txBody>
          <a:bodyPr>
            <a:normAutofit/>
          </a:bodyPr>
          <a:lstStyle/>
          <a:p>
            <a:pPr marL="0" indent="0">
              <a:buNone/>
            </a:pPr>
            <a:endParaRPr lang="en-GB" sz="2800" dirty="0"/>
          </a:p>
          <a:p>
            <a:pPr marL="0" indent="0">
              <a:buNone/>
            </a:pPr>
            <a:r>
              <a:rPr lang="en-GB" sz="2800" dirty="0"/>
              <a:t>Recall that paternalism is</a:t>
            </a:r>
            <a:endParaRPr lang="en-SE" sz="2800" dirty="0"/>
          </a:p>
        </p:txBody>
      </p:sp>
      <p:sp>
        <p:nvSpPr>
          <p:cNvPr id="4" name="TextBox 3">
            <a:extLst>
              <a:ext uri="{FF2B5EF4-FFF2-40B4-BE49-F238E27FC236}">
                <a16:creationId xmlns:a16="http://schemas.microsoft.com/office/drawing/2014/main" id="{5C149CDF-E81E-794B-9267-A125BD7773DF}"/>
              </a:ext>
            </a:extLst>
          </p:cNvPr>
          <p:cNvSpPr txBox="1"/>
          <p:nvPr/>
        </p:nvSpPr>
        <p:spPr>
          <a:xfrm>
            <a:off x="2018818" y="2431412"/>
            <a:ext cx="8958263" cy="3046988"/>
          </a:xfrm>
          <a:prstGeom prst="rect">
            <a:avLst/>
          </a:prstGeom>
          <a:noFill/>
        </p:spPr>
        <p:txBody>
          <a:bodyPr wrap="square" rtlCol="0">
            <a:spAutoFit/>
          </a:bodyPr>
          <a:lstStyle/>
          <a:p>
            <a:r>
              <a:rPr lang="en-GB" sz="3200" dirty="0"/>
              <a:t>“[T]he interference of a state or an individual with another person, against their will, and defended or motivated by a claim that the person interfered with will be better off or protected from harm.”</a:t>
            </a:r>
            <a:br>
              <a:rPr lang="en-GB" sz="3200" dirty="0"/>
            </a:br>
            <a:r>
              <a:rPr lang="en-GB" sz="3200" dirty="0"/>
              <a:t>(Dworkin 2014).</a:t>
            </a:r>
          </a:p>
          <a:p>
            <a:endParaRPr lang="en-GB" sz="3200" dirty="0"/>
          </a:p>
        </p:txBody>
      </p:sp>
    </p:spTree>
    <p:extLst>
      <p:ext uri="{BB962C8B-B14F-4D97-AF65-F5344CB8AC3E}">
        <p14:creationId xmlns:p14="http://schemas.microsoft.com/office/powerpoint/2010/main" val="99019838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8E98C5-236B-F244-B57E-929DEEDB818E}"/>
              </a:ext>
            </a:extLst>
          </p:cNvPr>
          <p:cNvSpPr>
            <a:spLocks noGrp="1"/>
          </p:cNvSpPr>
          <p:nvPr>
            <p:ph idx="1"/>
          </p:nvPr>
        </p:nvSpPr>
        <p:spPr>
          <a:xfrm>
            <a:off x="838200" y="1093822"/>
            <a:ext cx="10515600" cy="710264"/>
          </a:xfrm>
        </p:spPr>
        <p:txBody>
          <a:bodyPr>
            <a:normAutofit fontScale="25000" lnSpcReduction="20000"/>
          </a:bodyPr>
          <a:lstStyle/>
          <a:p>
            <a:pPr marL="0" indent="0">
              <a:buNone/>
            </a:pPr>
            <a:r>
              <a:rPr lang="en-GB" sz="14400" dirty="0"/>
              <a:t>So we are back to our original </a:t>
            </a:r>
            <a:r>
              <a:rPr lang="en-GB" sz="14400" dirty="0" smtClean="0"/>
              <a:t>question </a:t>
            </a:r>
            <a:endParaRPr lang="en-GB" sz="14400" dirty="0"/>
          </a:p>
          <a:p>
            <a:pPr marL="0" indent="0">
              <a:buNone/>
            </a:pPr>
            <a:endParaRPr lang="en-GB" dirty="0"/>
          </a:p>
          <a:p>
            <a:pPr marL="0" indent="0">
              <a:buNone/>
            </a:pPr>
            <a:endParaRPr lang="en-GB" sz="2800" dirty="0" smtClean="0"/>
          </a:p>
          <a:p>
            <a:pPr marL="0" indent="0">
              <a:buNone/>
            </a:pPr>
            <a:endParaRPr lang="en-GB" dirty="0"/>
          </a:p>
          <a:p>
            <a:pPr marL="0" indent="0">
              <a:buNone/>
            </a:pPr>
            <a:endParaRPr lang="en-GB" sz="2800" dirty="0" smtClean="0"/>
          </a:p>
          <a:p>
            <a:pPr marL="0" indent="0">
              <a:buNone/>
            </a:pPr>
            <a:endParaRPr lang="en-GB" dirty="0"/>
          </a:p>
          <a:p>
            <a:pPr marL="0" indent="0">
              <a:buNone/>
            </a:pPr>
            <a:r>
              <a:rPr lang="en-GB" sz="11200" b="1" dirty="0"/>
              <a:t>When, if ever, are paternalistic interventions justified?</a:t>
            </a:r>
            <a:r>
              <a:rPr lang="en-GB" sz="11200" dirty="0"/>
              <a:t/>
            </a:r>
            <a:br>
              <a:rPr lang="en-GB" sz="11200" dirty="0"/>
            </a:br>
            <a:endParaRPr lang="en-GB" sz="11200" b="1" i="1" dirty="0"/>
          </a:p>
          <a:p>
            <a:pPr marL="0" indent="0">
              <a:buNone/>
            </a:pPr>
            <a:r>
              <a:rPr lang="en-GB" sz="11200" i="1" dirty="0"/>
              <a:t>Or:  When are the controls on the flow of information on personal health risks permissible?</a:t>
            </a:r>
          </a:p>
          <a:p>
            <a:pPr marL="0" indent="0">
              <a:buNone/>
            </a:pPr>
            <a:endParaRPr lang="en-SE" sz="11200" dirty="0"/>
          </a:p>
        </p:txBody>
      </p:sp>
    </p:spTree>
    <p:extLst>
      <p:ext uri="{BB962C8B-B14F-4D97-AF65-F5344CB8AC3E}">
        <p14:creationId xmlns:p14="http://schemas.microsoft.com/office/powerpoint/2010/main" val="197426771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dirty="0"/>
          </a:p>
        </p:txBody>
      </p:sp>
      <p:sp>
        <p:nvSpPr>
          <p:cNvPr id="4" name="TextBox 3"/>
          <p:cNvSpPr txBox="1"/>
          <p:nvPr/>
        </p:nvSpPr>
        <p:spPr>
          <a:xfrm>
            <a:off x="3153105" y="767255"/>
            <a:ext cx="5171088" cy="5016758"/>
          </a:xfrm>
          <a:prstGeom prst="rect">
            <a:avLst/>
          </a:prstGeom>
          <a:solidFill>
            <a:schemeClr val="accent1">
              <a:lumMod val="40000"/>
              <a:lumOff val="60000"/>
            </a:schemeClr>
          </a:solidFill>
          <a:ln w="76200">
            <a:solidFill>
              <a:srgbClr val="00B0F0"/>
            </a:solidFill>
          </a:ln>
        </p:spPr>
        <p:txBody>
          <a:bodyPr wrap="square" rtlCol="0">
            <a:spAutoFit/>
          </a:bodyPr>
          <a:lstStyle/>
          <a:p>
            <a:pPr algn="ctr"/>
            <a:endParaRPr lang="en-GB" sz="8000" dirty="0" smtClean="0"/>
          </a:p>
          <a:p>
            <a:pPr algn="ctr"/>
            <a:r>
              <a:rPr lang="en-GB" sz="8000" dirty="0" smtClean="0"/>
              <a:t>Break </a:t>
            </a:r>
          </a:p>
          <a:p>
            <a:pPr algn="ctr"/>
            <a:r>
              <a:rPr lang="en-GB" sz="8000" dirty="0" smtClean="0"/>
              <a:t>15 min</a:t>
            </a:r>
          </a:p>
          <a:p>
            <a:pPr algn="ctr"/>
            <a:r>
              <a:rPr lang="en-GB" sz="8000" dirty="0" smtClean="0"/>
              <a:t> </a:t>
            </a:r>
            <a:endParaRPr lang="en-GB" sz="8000" dirty="0"/>
          </a:p>
        </p:txBody>
      </p:sp>
    </p:spTree>
    <p:extLst>
      <p:ext uri="{BB962C8B-B14F-4D97-AF65-F5344CB8AC3E}">
        <p14:creationId xmlns:p14="http://schemas.microsoft.com/office/powerpoint/2010/main" val="134602949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018DF6-CDC7-484F-BAF9-63DD503BE482}"/>
              </a:ext>
            </a:extLst>
          </p:cNvPr>
          <p:cNvSpPr>
            <a:spLocks noGrp="1"/>
          </p:cNvSpPr>
          <p:nvPr>
            <p:ph idx="1"/>
          </p:nvPr>
        </p:nvSpPr>
        <p:spPr>
          <a:xfrm>
            <a:off x="1124261" y="1258529"/>
            <a:ext cx="9428813" cy="4483509"/>
          </a:xfrm>
        </p:spPr>
        <p:txBody>
          <a:bodyPr>
            <a:normAutofit fontScale="92500" lnSpcReduction="10000"/>
          </a:bodyPr>
          <a:lstStyle/>
          <a:p>
            <a:pPr marL="0" indent="0">
              <a:buNone/>
            </a:pPr>
            <a:r>
              <a:rPr lang="en-GB" sz="3600" i="1" dirty="0"/>
              <a:t>Are controls on the flow of information on personal health risks permissible?</a:t>
            </a:r>
            <a:endParaRPr lang="en-GB" sz="3600" dirty="0"/>
          </a:p>
          <a:p>
            <a:pPr marL="0" indent="0">
              <a:buNone/>
            </a:pPr>
            <a:endParaRPr lang="en-GB" sz="3600" dirty="0"/>
          </a:p>
          <a:p>
            <a:pPr marL="0" indent="0">
              <a:buNone/>
            </a:pPr>
            <a:r>
              <a:rPr lang="en-GB" sz="3600" dirty="0"/>
              <a:t>We will consider three responses:</a:t>
            </a:r>
            <a:br>
              <a:rPr lang="en-GB" sz="3600" dirty="0"/>
            </a:br>
            <a:r>
              <a:rPr lang="en-GB" sz="3600" dirty="0"/>
              <a:t/>
            </a:r>
            <a:br>
              <a:rPr lang="en-GB" sz="3600" dirty="0"/>
            </a:br>
            <a:r>
              <a:rPr lang="en-GB" sz="3600" dirty="0"/>
              <a:t/>
            </a:r>
            <a:br>
              <a:rPr lang="en-GB" sz="3600" dirty="0"/>
            </a:br>
            <a:r>
              <a:rPr lang="en-GB" sz="3600" dirty="0"/>
              <a:t>(1) Not permissible (Extreme autonomy!)</a:t>
            </a:r>
          </a:p>
          <a:p>
            <a:pPr marL="0" indent="0">
              <a:buNone/>
            </a:pPr>
            <a:r>
              <a:rPr lang="en-GB" sz="3600" dirty="0"/>
              <a:t>(2) Permissible (Extreme beneficence!)</a:t>
            </a:r>
          </a:p>
          <a:p>
            <a:pPr marL="0" indent="0">
              <a:buNone/>
            </a:pPr>
            <a:r>
              <a:rPr lang="en-GB" sz="3600" dirty="0"/>
              <a:t>(3) Permissible. New framework: obligations.</a:t>
            </a:r>
          </a:p>
        </p:txBody>
      </p:sp>
    </p:spTree>
    <p:extLst>
      <p:ext uri="{BB962C8B-B14F-4D97-AF65-F5344CB8AC3E}">
        <p14:creationId xmlns:p14="http://schemas.microsoft.com/office/powerpoint/2010/main" val="34490853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3EA22-8BD1-BF44-9DF2-E57012EA25F5}"/>
              </a:ext>
            </a:extLst>
          </p:cNvPr>
          <p:cNvSpPr>
            <a:spLocks noGrp="1"/>
          </p:cNvSpPr>
          <p:nvPr>
            <p:ph type="title"/>
          </p:nvPr>
        </p:nvSpPr>
        <p:spPr/>
        <p:txBody>
          <a:bodyPr>
            <a:normAutofit/>
          </a:bodyPr>
          <a:lstStyle/>
          <a:p>
            <a:r>
              <a:rPr lang="en-GB" sz="3600" dirty="0">
                <a:latin typeface="+mn-lt"/>
              </a:rPr>
              <a:t>R</a:t>
            </a:r>
            <a:r>
              <a:rPr lang="en-GB" sz="3600" dirty="0" smtClean="0">
                <a:latin typeface="+mn-lt"/>
              </a:rPr>
              <a:t>esponse 1. </a:t>
            </a:r>
            <a:endParaRPr lang="en-GB" sz="3600" dirty="0">
              <a:latin typeface="+mn-lt"/>
            </a:endParaRPr>
          </a:p>
        </p:txBody>
      </p:sp>
      <p:sp>
        <p:nvSpPr>
          <p:cNvPr id="3" name="Content Placeholder 2">
            <a:extLst>
              <a:ext uri="{FF2B5EF4-FFF2-40B4-BE49-F238E27FC236}">
                <a16:creationId xmlns:a16="http://schemas.microsoft.com/office/drawing/2014/main" id="{3C055760-84F7-F943-9765-CE0EEEAC7A76}"/>
              </a:ext>
            </a:extLst>
          </p:cNvPr>
          <p:cNvSpPr>
            <a:spLocks noGrp="1"/>
          </p:cNvSpPr>
          <p:nvPr>
            <p:ph idx="1"/>
          </p:nvPr>
        </p:nvSpPr>
        <p:spPr/>
        <p:txBody>
          <a:bodyPr>
            <a:normAutofit/>
          </a:bodyPr>
          <a:lstStyle/>
          <a:p>
            <a:pPr marL="0" indent="0">
              <a:buNone/>
            </a:pPr>
            <a:r>
              <a:rPr lang="en-GB" dirty="0"/>
              <a:t>Controls on the flow of information are </a:t>
            </a:r>
            <a:r>
              <a:rPr lang="en-GB" b="1" dirty="0"/>
              <a:t>not</a:t>
            </a:r>
            <a:r>
              <a:rPr lang="en-GB" dirty="0"/>
              <a:t> permissible at all, because such controls place limits on freedom of inquiry, and placing limits of freedom of inquiry is not in the patients’ (epistemic) interests</a:t>
            </a:r>
            <a:r>
              <a:rPr lang="en-GB" dirty="0" smtClean="0"/>
              <a:t>.</a:t>
            </a:r>
          </a:p>
          <a:p>
            <a:pPr marL="0" indent="0">
              <a:buNone/>
            </a:pPr>
            <a:endParaRPr lang="en-GB" sz="3600" dirty="0"/>
          </a:p>
          <a:p>
            <a:pPr>
              <a:buFont typeface="Wingdings" panose="05000000000000000000" pitchFamily="2" charset="2"/>
              <a:buChar char="Ø"/>
            </a:pPr>
            <a:r>
              <a:rPr lang="en-GB" dirty="0" smtClean="0"/>
              <a:t>Rejects both the worries expressed by John – ‘bad’ reasons (even if they turned out to be correct that would not mean that they are overriding reasons)  </a:t>
            </a:r>
            <a:endParaRPr lang="en-GB" dirty="0"/>
          </a:p>
        </p:txBody>
      </p:sp>
    </p:spTree>
    <p:extLst>
      <p:ext uri="{BB962C8B-B14F-4D97-AF65-F5344CB8AC3E}">
        <p14:creationId xmlns:p14="http://schemas.microsoft.com/office/powerpoint/2010/main" val="166792281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3EA22-8BD1-BF44-9DF2-E57012EA25F5}"/>
              </a:ext>
            </a:extLst>
          </p:cNvPr>
          <p:cNvSpPr>
            <a:spLocks noGrp="1"/>
          </p:cNvSpPr>
          <p:nvPr>
            <p:ph type="title"/>
          </p:nvPr>
        </p:nvSpPr>
        <p:spPr/>
        <p:txBody>
          <a:bodyPr>
            <a:normAutofit/>
          </a:bodyPr>
          <a:lstStyle/>
          <a:p>
            <a:r>
              <a:rPr lang="en-GB" sz="3600" dirty="0">
                <a:latin typeface="+mn-lt"/>
              </a:rPr>
              <a:t>R</a:t>
            </a:r>
            <a:r>
              <a:rPr lang="en-GB" sz="3600" dirty="0" smtClean="0">
                <a:latin typeface="+mn-lt"/>
              </a:rPr>
              <a:t>esponse 1: not permissible to control flows of information</a:t>
            </a:r>
            <a:endParaRPr lang="en-GB" sz="3600" dirty="0">
              <a:latin typeface="+mn-lt"/>
            </a:endParaRPr>
          </a:p>
        </p:txBody>
      </p:sp>
      <p:sp>
        <p:nvSpPr>
          <p:cNvPr id="8" name="Rectangle 7">
            <a:extLst>
              <a:ext uri="{FF2B5EF4-FFF2-40B4-BE49-F238E27FC236}">
                <a16:creationId xmlns:a16="http://schemas.microsoft.com/office/drawing/2014/main" id="{6678D951-EE3E-6547-AEEF-D60CB43349F3}"/>
              </a:ext>
            </a:extLst>
          </p:cNvPr>
          <p:cNvSpPr/>
          <p:nvPr/>
        </p:nvSpPr>
        <p:spPr>
          <a:xfrm>
            <a:off x="568412" y="1971068"/>
            <a:ext cx="9392452" cy="4154984"/>
          </a:xfrm>
          <a:prstGeom prst="rect">
            <a:avLst/>
          </a:prstGeom>
        </p:spPr>
        <p:txBody>
          <a:bodyPr wrap="square">
            <a:spAutoFit/>
          </a:bodyPr>
          <a:lstStyle/>
          <a:p>
            <a:pPr marL="457200" indent="-457200">
              <a:buFontTx/>
              <a:buChar char="-"/>
            </a:pPr>
            <a:r>
              <a:rPr lang="en-GB" sz="2400" dirty="0">
                <a:ea typeface="Times New Roman" panose="02020603050405020304" pitchFamily="18" charset="0"/>
              </a:rPr>
              <a:t>Motivated by anti-paternalism</a:t>
            </a:r>
            <a:br>
              <a:rPr lang="en-GB" sz="2400" dirty="0">
                <a:ea typeface="Times New Roman" panose="02020603050405020304" pitchFamily="18" charset="0"/>
              </a:rPr>
            </a:br>
            <a:endParaRPr lang="en-GB" sz="2400" dirty="0">
              <a:ea typeface="Times New Roman" panose="02020603050405020304" pitchFamily="18" charset="0"/>
            </a:endParaRPr>
          </a:p>
          <a:p>
            <a:pPr marL="457200" indent="-457200">
              <a:buFontTx/>
              <a:buChar char="-"/>
            </a:pPr>
            <a:r>
              <a:rPr lang="en-GB" sz="2400" dirty="0" smtClean="0">
                <a:ea typeface="Times New Roman" panose="02020603050405020304" pitchFamily="18" charset="0"/>
              </a:rPr>
              <a:t>According </a:t>
            </a:r>
            <a:r>
              <a:rPr lang="en-GB" sz="2400" dirty="0">
                <a:ea typeface="Times New Roman" panose="02020603050405020304" pitchFamily="18" charset="0"/>
              </a:rPr>
              <a:t>to the strongest form of anti-paternalism – ‘hard anti-paternalism’ – one must never interfere with any self-regarding choice or action performed by an adult</a:t>
            </a:r>
            <a:r>
              <a:rPr lang="en-GB" sz="2400" dirty="0" smtClean="0">
                <a:ea typeface="Times New Roman" panose="02020603050405020304" pitchFamily="18" charset="0"/>
              </a:rPr>
              <a:t>.</a:t>
            </a:r>
          </a:p>
          <a:p>
            <a:pPr marL="457200" indent="-457200">
              <a:buFontTx/>
              <a:buChar char="-"/>
            </a:pPr>
            <a:endParaRPr lang="en-GB" sz="2400" dirty="0">
              <a:ea typeface="Times New Roman" panose="02020603050405020304" pitchFamily="18" charset="0"/>
            </a:endParaRPr>
          </a:p>
          <a:p>
            <a:pPr marL="457200" indent="-457200">
              <a:buFontTx/>
              <a:buChar char="-"/>
            </a:pPr>
            <a:r>
              <a:rPr lang="en-GB" sz="2400" dirty="0" smtClean="0">
                <a:ea typeface="Times New Roman" panose="02020603050405020304" pitchFamily="18" charset="0"/>
              </a:rPr>
              <a:t>But how compelling is response 1?</a:t>
            </a:r>
          </a:p>
          <a:p>
            <a:pPr marL="914400" lvl="1" indent="-457200">
              <a:buFontTx/>
              <a:buChar char="-"/>
            </a:pPr>
            <a:r>
              <a:rPr lang="en-GB" sz="2400" dirty="0" smtClean="0">
                <a:ea typeface="Times New Roman" panose="02020603050405020304" pitchFamily="18" charset="0"/>
              </a:rPr>
              <a:t>Can’t we imagine situations when we would be better off with filtered information? O</a:t>
            </a:r>
            <a:r>
              <a:rPr lang="en-GB" sz="2400" dirty="0" smtClean="0"/>
              <a:t>r </a:t>
            </a:r>
            <a:r>
              <a:rPr lang="en-GB" sz="2400" dirty="0"/>
              <a:t>at least </a:t>
            </a:r>
            <a:r>
              <a:rPr lang="en-GB" sz="2400" i="1" dirty="0"/>
              <a:t>some </a:t>
            </a:r>
            <a:r>
              <a:rPr lang="en-GB" sz="2400" dirty="0"/>
              <a:t>form of controls of information? </a:t>
            </a:r>
          </a:p>
          <a:p>
            <a:pPr marL="914400" lvl="1" indent="-457200">
              <a:buFontTx/>
              <a:buChar char="-"/>
            </a:pPr>
            <a:endParaRPr lang="en-SE" sz="2400" dirty="0">
              <a:ea typeface="Times New Roman" panose="02020603050405020304" pitchFamily="18" charset="0"/>
            </a:endParaRPr>
          </a:p>
        </p:txBody>
      </p:sp>
    </p:spTree>
    <p:extLst>
      <p:ext uri="{BB962C8B-B14F-4D97-AF65-F5344CB8AC3E}">
        <p14:creationId xmlns:p14="http://schemas.microsoft.com/office/powerpoint/2010/main" val="121432366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3EA22-8BD1-BF44-9DF2-E57012EA25F5}"/>
              </a:ext>
            </a:extLst>
          </p:cNvPr>
          <p:cNvSpPr>
            <a:spLocks noGrp="1"/>
          </p:cNvSpPr>
          <p:nvPr>
            <p:ph type="title"/>
          </p:nvPr>
        </p:nvSpPr>
        <p:spPr/>
        <p:txBody>
          <a:bodyPr>
            <a:normAutofit/>
          </a:bodyPr>
          <a:lstStyle/>
          <a:p>
            <a:r>
              <a:rPr lang="en-GB" sz="3600" dirty="0">
                <a:latin typeface="+mn-lt"/>
              </a:rPr>
              <a:t>R</a:t>
            </a:r>
            <a:r>
              <a:rPr lang="en-GB" sz="3600" dirty="0" smtClean="0">
                <a:latin typeface="+mn-lt"/>
              </a:rPr>
              <a:t>esponse 2. </a:t>
            </a:r>
            <a:endParaRPr lang="en-GB" sz="3600" dirty="0">
              <a:latin typeface="+mn-lt"/>
            </a:endParaRPr>
          </a:p>
        </p:txBody>
      </p:sp>
      <p:sp>
        <p:nvSpPr>
          <p:cNvPr id="3" name="Content Placeholder 2">
            <a:extLst>
              <a:ext uri="{FF2B5EF4-FFF2-40B4-BE49-F238E27FC236}">
                <a16:creationId xmlns:a16="http://schemas.microsoft.com/office/drawing/2014/main" id="{3C055760-84F7-F943-9765-CE0EEEAC7A76}"/>
              </a:ext>
            </a:extLst>
          </p:cNvPr>
          <p:cNvSpPr>
            <a:spLocks noGrp="1"/>
          </p:cNvSpPr>
          <p:nvPr>
            <p:ph idx="1"/>
          </p:nvPr>
        </p:nvSpPr>
        <p:spPr/>
        <p:txBody>
          <a:bodyPr>
            <a:normAutofit/>
          </a:bodyPr>
          <a:lstStyle/>
          <a:p>
            <a:pPr marL="0" indent="0">
              <a:buNone/>
            </a:pPr>
            <a:r>
              <a:rPr lang="en-GB" sz="3200" dirty="0" smtClean="0"/>
              <a:t>Controls on the flow of information are permissible, because increased knowledge of personalised risk scores will undermine citizens’ willingness to contribute to socialised healthcare.</a:t>
            </a:r>
            <a:endParaRPr lang="en-GB" sz="3200" dirty="0"/>
          </a:p>
        </p:txBody>
      </p:sp>
    </p:spTree>
    <p:extLst>
      <p:ext uri="{BB962C8B-B14F-4D97-AF65-F5344CB8AC3E}">
        <p14:creationId xmlns:p14="http://schemas.microsoft.com/office/powerpoint/2010/main" val="251883744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3EA22-8BD1-BF44-9DF2-E57012EA25F5}"/>
              </a:ext>
            </a:extLst>
          </p:cNvPr>
          <p:cNvSpPr>
            <a:spLocks noGrp="1"/>
          </p:cNvSpPr>
          <p:nvPr>
            <p:ph type="title"/>
          </p:nvPr>
        </p:nvSpPr>
        <p:spPr/>
        <p:txBody>
          <a:bodyPr>
            <a:normAutofit/>
          </a:bodyPr>
          <a:lstStyle/>
          <a:p>
            <a:r>
              <a:rPr lang="en-GB" sz="3600" dirty="0" smtClean="0"/>
              <a:t>Discussion from John (forthcoming) spelled out</a:t>
            </a:r>
            <a:endParaRPr lang="en-GB" sz="3600" dirty="0">
              <a:latin typeface="+mn-lt"/>
            </a:endParaRPr>
          </a:p>
        </p:txBody>
      </p:sp>
      <p:sp>
        <p:nvSpPr>
          <p:cNvPr id="3" name="Content Placeholder 2">
            <a:extLst>
              <a:ext uri="{FF2B5EF4-FFF2-40B4-BE49-F238E27FC236}">
                <a16:creationId xmlns:a16="http://schemas.microsoft.com/office/drawing/2014/main" id="{3C055760-84F7-F943-9765-CE0EEEAC7A76}"/>
              </a:ext>
            </a:extLst>
          </p:cNvPr>
          <p:cNvSpPr>
            <a:spLocks noGrp="1"/>
          </p:cNvSpPr>
          <p:nvPr>
            <p:ph idx="1"/>
          </p:nvPr>
        </p:nvSpPr>
        <p:spPr/>
        <p:txBody>
          <a:bodyPr>
            <a:normAutofit/>
          </a:bodyPr>
          <a:lstStyle/>
          <a:p>
            <a:pPr marL="342900" indent="-342900">
              <a:buAutoNum type="arabicParenBoth"/>
            </a:pPr>
            <a:r>
              <a:rPr lang="en-GB" sz="2000" dirty="0" smtClean="0"/>
              <a:t>Principles of justice demand that there a form of socialised healthcare available, where healthcare provision is, at least partially,  funded through general taxation. </a:t>
            </a:r>
          </a:p>
          <a:p>
            <a:pPr marL="342900" indent="-342900">
              <a:buAutoNum type="arabicParenBoth"/>
            </a:pPr>
            <a:r>
              <a:rPr lang="en-GB" sz="2000" dirty="0" smtClean="0"/>
              <a:t>Us who contribute to socialised healthcare systems do so because such a contribution is in our own interest.  There is a good chance that we will need to access such a system in the future!</a:t>
            </a:r>
            <a:r>
              <a:rPr lang="en-SE" sz="2000" dirty="0" smtClean="0"/>
              <a:t> </a:t>
            </a:r>
          </a:p>
          <a:p>
            <a:pPr marL="342900" indent="-342900">
              <a:buAutoNum type="arabicParenBoth"/>
            </a:pPr>
            <a:r>
              <a:rPr lang="en-SE" sz="2000" dirty="0" smtClean="0"/>
              <a:t> Point/premise (2) rests on the assumption that we all are on a roughly equal risk of needing healthcare in the future. </a:t>
            </a:r>
            <a:r>
              <a:rPr lang="en-SE" sz="2000" i="1" dirty="0" smtClean="0"/>
              <a:t>But some citizens undersanding their personal risk scores really, really well undermines this assumption. </a:t>
            </a:r>
            <a:r>
              <a:rPr lang="en-SE" sz="2000" dirty="0" smtClean="0"/>
              <a:t>What seemed like a prudent investement becomes a burdensom subsidy for them!</a:t>
            </a:r>
            <a:endParaRPr lang="sv-SE" sz="2000" dirty="0" smtClean="0"/>
          </a:p>
          <a:p>
            <a:pPr marL="342900" indent="-342900">
              <a:buAutoNum type="arabicParenBoth"/>
            </a:pPr>
            <a:endParaRPr lang="sv-SE" sz="2000" dirty="0"/>
          </a:p>
          <a:p>
            <a:pPr marL="342900" indent="-342900">
              <a:buAutoNum type="arabicParenBoth"/>
            </a:pPr>
            <a:endParaRPr lang="sv-SE" sz="2000" dirty="0" smtClean="0"/>
          </a:p>
          <a:p>
            <a:pPr marL="342900" indent="-342900">
              <a:buAutoNum type="arabicParenBoth"/>
            </a:pPr>
            <a:endParaRPr lang="sv-SE" sz="2000" dirty="0"/>
          </a:p>
          <a:p>
            <a:pPr marL="0" indent="0">
              <a:buNone/>
            </a:pPr>
            <a:r>
              <a:rPr lang="en-GB" sz="2000" b="1" dirty="0" smtClean="0"/>
              <a:t>Undermines citizens willingness to contribute to socialised healthcare,  which is a serious worry. </a:t>
            </a:r>
          </a:p>
          <a:p>
            <a:pPr marL="0" indent="0">
              <a:buNone/>
            </a:pPr>
            <a:endParaRPr lang="en-GB" sz="2000" dirty="0" smtClean="0"/>
          </a:p>
          <a:p>
            <a:pPr marL="0" indent="0">
              <a:buNone/>
            </a:pPr>
            <a:endParaRPr lang="en-GB" sz="3200" dirty="0"/>
          </a:p>
        </p:txBody>
      </p:sp>
      <p:sp>
        <p:nvSpPr>
          <p:cNvPr id="4" name="Down Arrow 3"/>
          <p:cNvSpPr/>
          <p:nvPr/>
        </p:nvSpPr>
        <p:spPr>
          <a:xfrm>
            <a:off x="1334530" y="4510216"/>
            <a:ext cx="469556" cy="889687"/>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76205598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5C1BAE-5EED-6942-8173-E4690999EB02}"/>
              </a:ext>
            </a:extLst>
          </p:cNvPr>
          <p:cNvSpPr>
            <a:spLocks noGrp="1"/>
          </p:cNvSpPr>
          <p:nvPr>
            <p:ph idx="1"/>
          </p:nvPr>
        </p:nvSpPr>
        <p:spPr>
          <a:xfrm>
            <a:off x="926757" y="948128"/>
            <a:ext cx="10490885" cy="1844499"/>
          </a:xfrm>
        </p:spPr>
        <p:txBody>
          <a:bodyPr>
            <a:normAutofit fontScale="62500" lnSpcReduction="20000"/>
          </a:bodyPr>
          <a:lstStyle/>
          <a:p>
            <a:pPr algn="ctr"/>
            <a:endParaRPr lang="en-GB" sz="2400" dirty="0"/>
          </a:p>
          <a:p>
            <a:pPr marL="0" indent="0" algn="ctr">
              <a:buNone/>
            </a:pPr>
            <a:r>
              <a:rPr lang="en-GB" sz="4400" dirty="0"/>
              <a:t>“Allowing access to personalised medical results will undermine the solidaristic attitudes necessary for sustaining [socialised healthcare] institutions which are demanded by justice.”</a:t>
            </a:r>
            <a:br>
              <a:rPr lang="en-GB" sz="4400" dirty="0"/>
            </a:br>
            <a:r>
              <a:rPr lang="en-GB" sz="4400" dirty="0"/>
              <a:t> </a:t>
            </a:r>
            <a:br>
              <a:rPr lang="en-GB" sz="4400" dirty="0"/>
            </a:br>
            <a:r>
              <a:rPr lang="en-GB" sz="2800" dirty="0"/>
              <a:t>(John (forthcoming), p. 9)</a:t>
            </a:r>
          </a:p>
          <a:p>
            <a:pPr marL="0" indent="0" algn="ctr">
              <a:buNone/>
            </a:pPr>
            <a:endParaRPr lang="en-GB" sz="2400" dirty="0"/>
          </a:p>
          <a:p>
            <a:pPr algn="ctr"/>
            <a:endParaRPr lang="en-GB" sz="2400" dirty="0"/>
          </a:p>
        </p:txBody>
      </p:sp>
      <p:sp>
        <p:nvSpPr>
          <p:cNvPr id="4" name="TextBox 3"/>
          <p:cNvSpPr txBox="1"/>
          <p:nvPr/>
        </p:nvSpPr>
        <p:spPr>
          <a:xfrm>
            <a:off x="2063579" y="3997410"/>
            <a:ext cx="8612659" cy="1077218"/>
          </a:xfrm>
          <a:prstGeom prst="rect">
            <a:avLst/>
          </a:prstGeom>
          <a:noFill/>
          <a:ln w="28575">
            <a:solidFill>
              <a:srgbClr val="00B0F0"/>
            </a:solidFill>
          </a:ln>
        </p:spPr>
        <p:txBody>
          <a:bodyPr wrap="square" rtlCol="0">
            <a:spAutoFit/>
          </a:bodyPr>
          <a:lstStyle/>
          <a:p>
            <a:pPr algn="ctr"/>
            <a:r>
              <a:rPr lang="en-GB" sz="3200" dirty="0" smtClean="0"/>
              <a:t>If this is true then some paternalistic interventions on the flow of information are justified</a:t>
            </a:r>
            <a:endParaRPr lang="en-GB" sz="3200" dirty="0"/>
          </a:p>
        </p:txBody>
      </p:sp>
    </p:spTree>
    <p:extLst>
      <p:ext uri="{BB962C8B-B14F-4D97-AF65-F5344CB8AC3E}">
        <p14:creationId xmlns:p14="http://schemas.microsoft.com/office/powerpoint/2010/main" val="423069733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DCBDA-EE2D-794E-90F2-BE60FFC54095}"/>
              </a:ext>
            </a:extLst>
          </p:cNvPr>
          <p:cNvSpPr>
            <a:spLocks noGrp="1"/>
          </p:cNvSpPr>
          <p:nvPr>
            <p:ph type="title"/>
          </p:nvPr>
        </p:nvSpPr>
        <p:spPr>
          <a:xfrm>
            <a:off x="914400" y="512445"/>
            <a:ext cx="10083114" cy="1188720"/>
          </a:xfrm>
        </p:spPr>
        <p:txBody>
          <a:bodyPr>
            <a:normAutofit/>
          </a:bodyPr>
          <a:lstStyle/>
          <a:p>
            <a:r>
              <a:rPr lang="en-GB" sz="3600" dirty="0" smtClean="0">
                <a:latin typeface="+mn-lt"/>
              </a:rPr>
              <a:t>A counter argument </a:t>
            </a:r>
            <a:r>
              <a:rPr lang="en-GB" sz="3600" dirty="0">
                <a:latin typeface="+mn-lt"/>
              </a:rPr>
              <a:t>against response </a:t>
            </a:r>
            <a:r>
              <a:rPr lang="en-GB" sz="3600" dirty="0" smtClean="0">
                <a:latin typeface="+mn-lt"/>
              </a:rPr>
              <a:t>2</a:t>
            </a:r>
            <a:endParaRPr lang="en-GB" sz="3600" dirty="0">
              <a:latin typeface="+mn-lt"/>
            </a:endParaRPr>
          </a:p>
        </p:txBody>
      </p:sp>
      <p:sp>
        <p:nvSpPr>
          <p:cNvPr id="3" name="Content Placeholder 2">
            <a:extLst>
              <a:ext uri="{FF2B5EF4-FFF2-40B4-BE49-F238E27FC236}">
                <a16:creationId xmlns:a16="http://schemas.microsoft.com/office/drawing/2014/main" id="{57BB1487-7164-CE4E-9E2A-F712544AD3F4}"/>
              </a:ext>
            </a:extLst>
          </p:cNvPr>
          <p:cNvSpPr>
            <a:spLocks noGrp="1"/>
          </p:cNvSpPr>
          <p:nvPr>
            <p:ph idx="1"/>
          </p:nvPr>
        </p:nvSpPr>
        <p:spPr>
          <a:xfrm>
            <a:off x="914399" y="1926183"/>
            <a:ext cx="10787449" cy="4357228"/>
          </a:xfrm>
        </p:spPr>
        <p:txBody>
          <a:bodyPr>
            <a:normAutofit fontScale="77500" lnSpcReduction="20000"/>
          </a:bodyPr>
          <a:lstStyle/>
          <a:p>
            <a:pPr marL="0" indent="0">
              <a:buNone/>
            </a:pPr>
            <a:r>
              <a:rPr lang="en-GB" sz="2600" dirty="0"/>
              <a:t>W</a:t>
            </a:r>
            <a:r>
              <a:rPr lang="en-GB" sz="2600" dirty="0" smtClean="0"/>
              <a:t>e </a:t>
            </a:r>
            <a:r>
              <a:rPr lang="en-GB" sz="2600" dirty="0"/>
              <a:t>might question that personalised medicine </a:t>
            </a:r>
            <a:r>
              <a:rPr lang="en-GB" sz="2600" i="1" dirty="0"/>
              <a:t>must </a:t>
            </a:r>
            <a:r>
              <a:rPr lang="en-GB" sz="2600" dirty="0"/>
              <a:t>undermine solidarity</a:t>
            </a:r>
            <a:r>
              <a:rPr lang="en-GB" sz="2600" dirty="0" smtClean="0"/>
              <a:t>. (</a:t>
            </a:r>
            <a:r>
              <a:rPr lang="en-GB" sz="2600" dirty="0" err="1" smtClean="0"/>
              <a:t>Praisanck</a:t>
            </a:r>
            <a:r>
              <a:rPr lang="en-GB" sz="2600" dirty="0" smtClean="0"/>
              <a:t> and </a:t>
            </a:r>
            <a:r>
              <a:rPr lang="en-GB" sz="2600" dirty="0" err="1" smtClean="0"/>
              <a:t>Buyx</a:t>
            </a:r>
            <a:r>
              <a:rPr lang="en-GB" sz="2600" dirty="0" smtClean="0"/>
              <a:t> 2017)</a:t>
            </a:r>
            <a:endParaRPr lang="en-GB" sz="2600" dirty="0"/>
          </a:p>
          <a:p>
            <a:pPr marL="0" indent="0">
              <a:buNone/>
            </a:pPr>
            <a:r>
              <a:rPr lang="en-GB" sz="2600" dirty="0"/>
              <a:t>“[…] a solidarity-based perspective enables us to see that personalised medicine can be harnessed and understood in a different way to the more individualistic interpretation that emerges when it is mainly considered in the context of genetic and other biomarkers (Hamburg and Collins 2010). And solidarity also gives us the tools to start harnessing this potential.”  (2017, p.138</a:t>
            </a:r>
            <a:r>
              <a:rPr lang="en-GB" sz="2600" dirty="0" smtClean="0"/>
              <a:t>)</a:t>
            </a:r>
          </a:p>
          <a:p>
            <a:pPr marL="0" indent="0">
              <a:buNone/>
            </a:pPr>
            <a:r>
              <a:rPr lang="en-GB" sz="2600" dirty="0" smtClean="0"/>
              <a:t>“. […]  A universal healthcare system organised in a </a:t>
            </a:r>
            <a:r>
              <a:rPr lang="en-GB" sz="2600" dirty="0" err="1" smtClean="0"/>
              <a:t>solidaristic</a:t>
            </a:r>
            <a:r>
              <a:rPr lang="en-GB" sz="2600" dirty="0" smtClean="0"/>
              <a:t> spirit would be the best safeguard against the scenario that personalisation would be used to justify undue exclusion, or distributed according to people’s ability to pay, rather than their need. ” (p. 138)</a:t>
            </a:r>
          </a:p>
          <a:p>
            <a:pPr marL="0" indent="0">
              <a:buNone/>
            </a:pPr>
            <a:endParaRPr lang="en-GB" sz="2600" dirty="0"/>
          </a:p>
          <a:p>
            <a:r>
              <a:rPr lang="en-GB" sz="2600" dirty="0" smtClean="0"/>
              <a:t>So for </a:t>
            </a:r>
            <a:r>
              <a:rPr lang="en-GB" sz="2600" dirty="0" err="1" smtClean="0"/>
              <a:t>Prainsack</a:t>
            </a:r>
            <a:r>
              <a:rPr lang="en-GB" sz="2600" dirty="0" smtClean="0"/>
              <a:t> and </a:t>
            </a:r>
            <a:r>
              <a:rPr lang="en-GB" sz="2600" dirty="0" err="1" smtClean="0"/>
              <a:t>Buyx</a:t>
            </a:r>
            <a:r>
              <a:rPr lang="en-GB" sz="2600" dirty="0" smtClean="0"/>
              <a:t>, access to personalised risk scores will not automatically jeopardise socialised healthcare (or make people less willing to contribute), insofar as we are striving for a more </a:t>
            </a:r>
            <a:r>
              <a:rPr lang="en-GB" sz="2600" dirty="0" err="1" smtClean="0"/>
              <a:t>solidaristic</a:t>
            </a:r>
            <a:r>
              <a:rPr lang="en-GB" sz="2600" dirty="0" smtClean="0"/>
              <a:t> system overall.</a:t>
            </a:r>
          </a:p>
          <a:p>
            <a:r>
              <a:rPr lang="en-GB" sz="2600" dirty="0" smtClean="0"/>
              <a:t>But perhaps maintaining “</a:t>
            </a:r>
            <a:r>
              <a:rPr lang="en-GB" sz="2600" dirty="0" err="1" smtClean="0"/>
              <a:t>solidaristic</a:t>
            </a:r>
            <a:r>
              <a:rPr lang="en-GB" sz="2600" dirty="0" smtClean="0"/>
              <a:t> attitudes” does call for </a:t>
            </a:r>
            <a:r>
              <a:rPr lang="en-GB" sz="2600" i="1" dirty="0" smtClean="0"/>
              <a:t>some restrictions </a:t>
            </a:r>
            <a:r>
              <a:rPr lang="en-GB" sz="2600" dirty="0" smtClean="0"/>
              <a:t>on the flow of information? </a:t>
            </a:r>
          </a:p>
          <a:p>
            <a:pPr marL="0" indent="0">
              <a:buNone/>
            </a:pPr>
            <a:r>
              <a:rPr lang="en-GB" sz="2600" dirty="0" smtClean="0">
                <a:sym typeface="Wingdings" pitchFamily="2" charset="2"/>
              </a:rPr>
              <a:t> then </a:t>
            </a:r>
            <a:r>
              <a:rPr lang="en-GB" sz="2600" dirty="0" err="1" smtClean="0">
                <a:sym typeface="Wingdings" pitchFamily="2" charset="2"/>
              </a:rPr>
              <a:t>Prainsack</a:t>
            </a:r>
            <a:r>
              <a:rPr lang="en-GB" sz="2600" dirty="0" smtClean="0">
                <a:sym typeface="Wingdings" pitchFamily="2" charset="2"/>
              </a:rPr>
              <a:t> and </a:t>
            </a:r>
            <a:r>
              <a:rPr lang="en-GB" sz="2600" dirty="0" err="1" smtClean="0">
                <a:sym typeface="Wingdings" pitchFamily="2" charset="2"/>
              </a:rPr>
              <a:t>Buyx’s</a:t>
            </a:r>
            <a:r>
              <a:rPr lang="en-GB" sz="2600" dirty="0" smtClean="0">
                <a:sym typeface="Wingdings" pitchFamily="2" charset="2"/>
              </a:rPr>
              <a:t> argument is not all that convincing if mobilised to support </a:t>
            </a:r>
            <a:r>
              <a:rPr lang="en-GB" sz="2600" i="1" dirty="0" smtClean="0">
                <a:sym typeface="Wingdings" pitchFamily="2" charset="2"/>
              </a:rPr>
              <a:t>unrestricted </a:t>
            </a:r>
            <a:r>
              <a:rPr lang="en-GB" sz="2600" dirty="0" smtClean="0">
                <a:sym typeface="Wingdings" pitchFamily="2" charset="2"/>
              </a:rPr>
              <a:t>access to personalised risk scores.</a:t>
            </a:r>
            <a:endParaRPr lang="en-GB" sz="2600" dirty="0" smtClean="0"/>
          </a:p>
          <a:p>
            <a:pPr marL="0" indent="0">
              <a:buNone/>
            </a:pPr>
            <a:endParaRPr lang="en-GB" sz="2000" dirty="0"/>
          </a:p>
          <a:p>
            <a:pPr marL="0" indent="0">
              <a:buNone/>
            </a:pPr>
            <a:endParaRPr lang="en-GB" sz="2800" dirty="0"/>
          </a:p>
        </p:txBody>
      </p:sp>
      <p:pic>
        <p:nvPicPr>
          <p:cNvPr id="4" name="Picture 3"/>
          <p:cNvPicPr>
            <a:picLocks noChangeAspect="1"/>
          </p:cNvPicPr>
          <p:nvPr/>
        </p:nvPicPr>
        <p:blipFill>
          <a:blip r:embed="rId3"/>
          <a:stretch>
            <a:fillRect/>
          </a:stretch>
        </p:blipFill>
        <p:spPr>
          <a:xfrm>
            <a:off x="9031590" y="183635"/>
            <a:ext cx="1048603" cy="1585097"/>
          </a:xfrm>
          <a:prstGeom prst="rect">
            <a:avLst/>
          </a:prstGeom>
        </p:spPr>
      </p:pic>
    </p:spTree>
    <p:extLst>
      <p:ext uri="{BB962C8B-B14F-4D97-AF65-F5344CB8AC3E}">
        <p14:creationId xmlns:p14="http://schemas.microsoft.com/office/powerpoint/2010/main" val="110078518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018DF6-CDC7-484F-BAF9-63DD503BE482}"/>
              </a:ext>
            </a:extLst>
          </p:cNvPr>
          <p:cNvSpPr>
            <a:spLocks noGrp="1"/>
          </p:cNvSpPr>
          <p:nvPr>
            <p:ph idx="1"/>
          </p:nvPr>
        </p:nvSpPr>
        <p:spPr>
          <a:xfrm>
            <a:off x="1124261" y="1258529"/>
            <a:ext cx="9428813" cy="4483509"/>
          </a:xfrm>
        </p:spPr>
        <p:txBody>
          <a:bodyPr>
            <a:normAutofit fontScale="92500" lnSpcReduction="10000"/>
          </a:bodyPr>
          <a:lstStyle/>
          <a:p>
            <a:pPr marL="0" indent="0">
              <a:buNone/>
            </a:pPr>
            <a:r>
              <a:rPr lang="en-GB" sz="3600" i="1" dirty="0"/>
              <a:t>Are controls on the flow of information on personal health risks permissible?</a:t>
            </a:r>
            <a:endParaRPr lang="en-GB" sz="3600" dirty="0"/>
          </a:p>
          <a:p>
            <a:pPr marL="0" indent="0">
              <a:buNone/>
            </a:pPr>
            <a:endParaRPr lang="en-GB" sz="3600" dirty="0"/>
          </a:p>
          <a:p>
            <a:pPr marL="0" indent="0">
              <a:buNone/>
            </a:pPr>
            <a:r>
              <a:rPr lang="en-GB" sz="3600" dirty="0"/>
              <a:t>We will consider three responses:</a:t>
            </a:r>
            <a:br>
              <a:rPr lang="en-GB" sz="3600" dirty="0"/>
            </a:br>
            <a:r>
              <a:rPr lang="en-GB" sz="3600" dirty="0"/>
              <a:t/>
            </a:r>
            <a:br>
              <a:rPr lang="en-GB" sz="3600" dirty="0"/>
            </a:br>
            <a:r>
              <a:rPr lang="en-GB" sz="3600" dirty="0"/>
              <a:t/>
            </a:r>
            <a:br>
              <a:rPr lang="en-GB" sz="3600" dirty="0"/>
            </a:br>
            <a:r>
              <a:rPr lang="en-GB" sz="3600" strike="sngStrike" dirty="0"/>
              <a:t>(1) Not permissible (Extreme autonomy!)</a:t>
            </a:r>
          </a:p>
          <a:p>
            <a:pPr marL="0" indent="0">
              <a:buNone/>
            </a:pPr>
            <a:r>
              <a:rPr lang="en-GB" sz="3600" strike="sngStrike" dirty="0"/>
              <a:t>(2) Permissible (Extreme beneficence/solidarity!)</a:t>
            </a:r>
          </a:p>
          <a:p>
            <a:pPr marL="0" indent="0">
              <a:buNone/>
            </a:pPr>
            <a:r>
              <a:rPr lang="en-GB" sz="3600" dirty="0"/>
              <a:t>(3) Permissible. New framework: obligations.</a:t>
            </a:r>
          </a:p>
        </p:txBody>
      </p:sp>
    </p:spTree>
    <p:extLst>
      <p:ext uri="{BB962C8B-B14F-4D97-AF65-F5344CB8AC3E}">
        <p14:creationId xmlns:p14="http://schemas.microsoft.com/office/powerpoint/2010/main" val="210955344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F16DC-A1CB-9041-99E7-23D84FBDF76C}"/>
              </a:ext>
            </a:extLst>
          </p:cNvPr>
          <p:cNvSpPr>
            <a:spLocks noGrp="1"/>
          </p:cNvSpPr>
          <p:nvPr>
            <p:ph type="title"/>
          </p:nvPr>
        </p:nvSpPr>
        <p:spPr/>
        <p:txBody>
          <a:bodyPr/>
          <a:lstStyle/>
          <a:p>
            <a:r>
              <a:rPr lang="en-GB" dirty="0"/>
              <a:t>Obligations</a:t>
            </a:r>
          </a:p>
        </p:txBody>
      </p:sp>
      <p:sp>
        <p:nvSpPr>
          <p:cNvPr id="3" name="Content Placeholder 2">
            <a:extLst>
              <a:ext uri="{FF2B5EF4-FFF2-40B4-BE49-F238E27FC236}">
                <a16:creationId xmlns:a16="http://schemas.microsoft.com/office/drawing/2014/main" id="{0927B95C-7552-C746-A737-98D012E044AF}"/>
              </a:ext>
            </a:extLst>
          </p:cNvPr>
          <p:cNvSpPr>
            <a:spLocks noGrp="1"/>
          </p:cNvSpPr>
          <p:nvPr>
            <p:ph idx="1"/>
          </p:nvPr>
        </p:nvSpPr>
        <p:spPr/>
        <p:txBody>
          <a:bodyPr>
            <a:normAutofit/>
          </a:bodyPr>
          <a:lstStyle/>
          <a:p>
            <a:pPr marL="0" indent="0">
              <a:buNone/>
            </a:pPr>
            <a:r>
              <a:rPr lang="en-GB" dirty="0"/>
              <a:t>John (</a:t>
            </a:r>
            <a:r>
              <a:rPr lang="en-GB" dirty="0" smtClean="0"/>
              <a:t>forthcoming</a:t>
            </a:r>
            <a:r>
              <a:rPr lang="en-GB" dirty="0"/>
              <a:t>). </a:t>
            </a:r>
            <a:br>
              <a:rPr lang="en-GB" dirty="0"/>
            </a:br>
            <a:endParaRPr lang="en-GB" sz="2400" dirty="0"/>
          </a:p>
          <a:p>
            <a:pPr marL="0" indent="0">
              <a:buNone/>
            </a:pPr>
            <a:r>
              <a:rPr lang="en-GB" sz="2400" dirty="0"/>
              <a:t>“(…) debates over epistemic paternalism lead us to problems about how to commensurate freedom and the good. I will now suggest that an advantage of the alternative, “obligation-first” approach is that it avoids this problem.”</a:t>
            </a:r>
          </a:p>
          <a:p>
            <a:endParaRPr lang="en-GB" dirty="0"/>
          </a:p>
        </p:txBody>
      </p:sp>
    </p:spTree>
    <p:extLst>
      <p:ext uri="{BB962C8B-B14F-4D97-AF65-F5344CB8AC3E}">
        <p14:creationId xmlns:p14="http://schemas.microsoft.com/office/powerpoint/2010/main" val="92116864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F05A6C-9836-A34C-A80F-8524D23D9235}"/>
              </a:ext>
            </a:extLst>
          </p:cNvPr>
          <p:cNvSpPr>
            <a:spLocks noGrp="1"/>
          </p:cNvSpPr>
          <p:nvPr>
            <p:ph idx="1"/>
          </p:nvPr>
        </p:nvSpPr>
        <p:spPr/>
        <p:txBody>
          <a:bodyPr>
            <a:normAutofit fontScale="92500" lnSpcReduction="10000"/>
          </a:bodyPr>
          <a:lstStyle/>
          <a:p>
            <a:pPr marL="0" indent="0">
              <a:buNone/>
            </a:pPr>
            <a:r>
              <a:rPr lang="en-GB" sz="2400" b="1" dirty="0">
                <a:solidFill>
                  <a:schemeClr val="accent1">
                    <a:lumMod val="75000"/>
                  </a:schemeClr>
                </a:solidFill>
              </a:rPr>
              <a:t>Self-directed epistemic </a:t>
            </a:r>
            <a:r>
              <a:rPr lang="en-GB" sz="2400" b="1" dirty="0" smtClean="0">
                <a:solidFill>
                  <a:schemeClr val="accent1">
                    <a:lumMod val="75000"/>
                  </a:schemeClr>
                </a:solidFill>
              </a:rPr>
              <a:t>obligation</a:t>
            </a:r>
            <a:endParaRPr lang="en-GB" sz="2400" b="1" dirty="0"/>
          </a:p>
          <a:p>
            <a:pPr lvl="1"/>
            <a:r>
              <a:rPr lang="en-GB" sz="2000" dirty="0" smtClean="0"/>
              <a:t>“An </a:t>
            </a:r>
            <a:r>
              <a:rPr lang="en-GB" sz="2000" dirty="0"/>
              <a:t>obligation to acquire or maintain some epistemic state, derived from a more fundamental ethical obligation.”</a:t>
            </a:r>
            <a:r>
              <a:rPr lang="en-SE" sz="2000" dirty="0"/>
              <a:t> </a:t>
            </a:r>
          </a:p>
          <a:p>
            <a:pPr lvl="1"/>
            <a:r>
              <a:rPr lang="en-GB" sz="2000" dirty="0" smtClean="0"/>
              <a:t>Example: an obligation </a:t>
            </a:r>
            <a:r>
              <a:rPr lang="en-GB" sz="2000" dirty="0"/>
              <a:t>to become better informed.</a:t>
            </a:r>
          </a:p>
          <a:p>
            <a:pPr marL="0" indent="0">
              <a:buNone/>
            </a:pPr>
            <a:endParaRPr lang="en-GB" sz="2400" dirty="0" smtClean="0"/>
          </a:p>
          <a:p>
            <a:pPr marL="0" indent="0">
              <a:buNone/>
            </a:pPr>
            <a:r>
              <a:rPr lang="en-GB" sz="2400" dirty="0" smtClean="0"/>
              <a:t>But</a:t>
            </a:r>
            <a:r>
              <a:rPr lang="en-GB" sz="2400" dirty="0"/>
              <a:t>! We can also have an obligation to </a:t>
            </a:r>
            <a:r>
              <a:rPr lang="en-GB" sz="2400" b="1" i="1" dirty="0"/>
              <a:t>not</a:t>
            </a:r>
            <a:r>
              <a:rPr lang="en-GB" sz="2400" i="1" dirty="0"/>
              <a:t> </a:t>
            </a:r>
            <a:r>
              <a:rPr lang="en-GB" sz="2400" dirty="0"/>
              <a:t>be informed. </a:t>
            </a:r>
          </a:p>
          <a:p>
            <a:pPr lvl="1"/>
            <a:r>
              <a:rPr lang="en-GB" sz="2000" dirty="0"/>
              <a:t>“For example, in virtue of my more general obligations to respect my</a:t>
            </a:r>
            <a:r>
              <a:rPr lang="en-GB" sz="2000" b="1" dirty="0"/>
              <a:t> </a:t>
            </a:r>
            <a:r>
              <a:rPr lang="en-GB" sz="2000" dirty="0"/>
              <a:t>friend’s privacy, I have an obligation not to read his secret diary which he has left open on</a:t>
            </a:r>
            <a:r>
              <a:rPr lang="en-GB" sz="2000" b="1" dirty="0"/>
              <a:t> </a:t>
            </a:r>
            <a:r>
              <a:rPr lang="en-GB" sz="2000" dirty="0"/>
              <a:t>the table. I can have obligations to remain ignorant (Manson, 2012).</a:t>
            </a:r>
            <a:r>
              <a:rPr lang="en-SE" sz="2000" dirty="0"/>
              <a:t>”</a:t>
            </a:r>
          </a:p>
          <a:p>
            <a:pPr marL="0" indent="0">
              <a:buNone/>
            </a:pPr>
            <a:r>
              <a:rPr lang="en-SE" dirty="0"/>
              <a:t/>
            </a:r>
            <a:br>
              <a:rPr lang="en-SE" dirty="0"/>
            </a:br>
            <a:endParaRPr lang="sv-SE" dirty="0" smtClean="0"/>
          </a:p>
          <a:p>
            <a:pPr marL="0" indent="0">
              <a:buNone/>
            </a:pPr>
            <a:endParaRPr lang="sv-SE" sz="1200" dirty="0"/>
          </a:p>
          <a:p>
            <a:pPr marL="0" indent="0">
              <a:buNone/>
            </a:pPr>
            <a:r>
              <a:rPr lang="sv-SE" sz="1200" dirty="0" smtClean="0"/>
              <a:t>								</a:t>
            </a:r>
            <a:r>
              <a:rPr lang="en-SE" sz="1200" dirty="0" smtClean="0"/>
              <a:t>[</a:t>
            </a:r>
            <a:r>
              <a:rPr lang="en-SE" sz="1200" dirty="0"/>
              <a:t>All the direct quotes are from (John, forthcoming).]</a:t>
            </a:r>
          </a:p>
        </p:txBody>
      </p:sp>
      <p:sp>
        <p:nvSpPr>
          <p:cNvPr id="4" name="Title 1">
            <a:extLst>
              <a:ext uri="{FF2B5EF4-FFF2-40B4-BE49-F238E27FC236}">
                <a16:creationId xmlns:a16="http://schemas.microsoft.com/office/drawing/2014/main" id="{91FFFE3B-277E-2E40-BAAA-77DD150F3DF3}"/>
              </a:ext>
            </a:extLst>
          </p:cNvPr>
          <p:cNvSpPr>
            <a:spLocks noGrp="1"/>
          </p:cNvSpPr>
          <p:nvPr>
            <p:ph type="title"/>
          </p:nvPr>
        </p:nvSpPr>
        <p:spPr>
          <a:xfrm>
            <a:off x="838200" y="513671"/>
            <a:ext cx="8894064" cy="1188720"/>
          </a:xfrm>
        </p:spPr>
        <p:txBody>
          <a:bodyPr>
            <a:normAutofit/>
          </a:bodyPr>
          <a:lstStyle/>
          <a:p>
            <a:r>
              <a:rPr lang="en-GB" sz="3600" dirty="0" smtClean="0">
                <a:latin typeface="+mn-lt"/>
              </a:rPr>
              <a:t>Obligations towards ourselves</a:t>
            </a:r>
            <a:endParaRPr lang="en-GB" sz="3600" dirty="0">
              <a:latin typeface="+mn-lt"/>
            </a:endParaRPr>
          </a:p>
        </p:txBody>
      </p:sp>
    </p:spTree>
    <p:extLst>
      <p:ext uri="{BB962C8B-B14F-4D97-AF65-F5344CB8AC3E}">
        <p14:creationId xmlns:p14="http://schemas.microsoft.com/office/powerpoint/2010/main" val="162292780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51578-EC58-824D-981B-EE8DA23F989E}"/>
              </a:ext>
            </a:extLst>
          </p:cNvPr>
          <p:cNvSpPr>
            <a:spLocks noGrp="1"/>
          </p:cNvSpPr>
          <p:nvPr>
            <p:ph type="title"/>
          </p:nvPr>
        </p:nvSpPr>
        <p:spPr/>
        <p:txBody>
          <a:bodyPr>
            <a:normAutofit/>
          </a:bodyPr>
          <a:lstStyle/>
          <a:p>
            <a:r>
              <a:rPr lang="en-GB" sz="3600" dirty="0">
                <a:latin typeface="+mn-lt"/>
              </a:rPr>
              <a:t>Obligations </a:t>
            </a:r>
            <a:r>
              <a:rPr lang="en-GB" sz="3600" dirty="0" smtClean="0">
                <a:latin typeface="+mn-lt"/>
              </a:rPr>
              <a:t>towards others</a:t>
            </a:r>
            <a:endParaRPr lang="en-GB" sz="3600" dirty="0">
              <a:latin typeface="+mn-lt"/>
            </a:endParaRPr>
          </a:p>
        </p:txBody>
      </p:sp>
      <p:sp>
        <p:nvSpPr>
          <p:cNvPr id="3" name="Content Placeholder 2">
            <a:extLst>
              <a:ext uri="{FF2B5EF4-FFF2-40B4-BE49-F238E27FC236}">
                <a16:creationId xmlns:a16="http://schemas.microsoft.com/office/drawing/2014/main" id="{C66CAD93-D388-CC48-AFC7-1CA61E1A3ABE}"/>
              </a:ext>
            </a:extLst>
          </p:cNvPr>
          <p:cNvSpPr>
            <a:spLocks noGrp="1"/>
          </p:cNvSpPr>
          <p:nvPr>
            <p:ph idx="1"/>
          </p:nvPr>
        </p:nvSpPr>
        <p:spPr/>
        <p:txBody>
          <a:bodyPr>
            <a:normAutofit lnSpcReduction="10000"/>
          </a:bodyPr>
          <a:lstStyle/>
          <a:p>
            <a:pPr marL="0" indent="0">
              <a:buNone/>
            </a:pPr>
            <a:r>
              <a:rPr lang="en-GB" sz="2400" b="1" dirty="0">
                <a:solidFill>
                  <a:schemeClr val="accent1">
                    <a:lumMod val="75000"/>
                  </a:schemeClr>
                </a:solidFill>
              </a:rPr>
              <a:t>Epistemic enablement </a:t>
            </a:r>
            <a:r>
              <a:rPr lang="en-GB" sz="2400" b="1" dirty="0" smtClean="0">
                <a:solidFill>
                  <a:schemeClr val="accent1">
                    <a:lumMod val="75000"/>
                  </a:schemeClr>
                </a:solidFill>
              </a:rPr>
              <a:t>obligations</a:t>
            </a:r>
            <a:endParaRPr lang="en-GB" sz="2400" dirty="0"/>
          </a:p>
          <a:p>
            <a:pPr lvl="1"/>
            <a:r>
              <a:rPr lang="en-GB" sz="2000" dirty="0" smtClean="0"/>
              <a:t>“obligations </a:t>
            </a:r>
            <a:r>
              <a:rPr lang="en-GB" sz="2000" dirty="0"/>
              <a:t>to enable others to meet their epistemic obligations.</a:t>
            </a:r>
            <a:r>
              <a:rPr lang="en-SE" sz="2000" dirty="0"/>
              <a:t>”</a:t>
            </a:r>
          </a:p>
          <a:p>
            <a:pPr marL="0" indent="0">
              <a:buNone/>
            </a:pPr>
            <a:endParaRPr lang="en-GB" sz="2400" dirty="0" smtClean="0"/>
          </a:p>
          <a:p>
            <a:pPr marL="0" indent="0">
              <a:buNone/>
            </a:pPr>
            <a:r>
              <a:rPr lang="en-GB" sz="2400" dirty="0" smtClean="0"/>
              <a:t>Just </a:t>
            </a:r>
            <a:r>
              <a:rPr lang="en-GB" sz="2400" dirty="0"/>
              <a:t>as we can have obligations of ignorance, others may have an obligation to enable us to maintain our ignorance. </a:t>
            </a:r>
          </a:p>
          <a:p>
            <a:pPr lvl="1"/>
            <a:r>
              <a:rPr lang="en-GB" sz="2000" dirty="0"/>
              <a:t>“For example, a third party, who knows that I am insatiably (but improperly) curious about my friend’s private life, finds my friend’s diary open on the table. She has, I suggest, an obligation to hide away the diary as a way of enabling me to ensure that I meet</a:t>
            </a:r>
            <a:r>
              <a:rPr lang="en-SE" sz="2000" dirty="0"/>
              <a:t> </a:t>
            </a:r>
            <a:r>
              <a:rPr lang="en-GB" sz="2000" dirty="0"/>
              <a:t>my obligation of ignorance.”  </a:t>
            </a:r>
          </a:p>
          <a:p>
            <a:pPr marL="0" indent="0">
              <a:buNone/>
            </a:pPr>
            <a:endParaRPr lang="sv-SE" dirty="0" smtClean="0"/>
          </a:p>
          <a:p>
            <a:pPr marL="0" indent="0">
              <a:buNone/>
            </a:pPr>
            <a:r>
              <a:rPr lang="en-SE" dirty="0"/>
              <a:t/>
            </a:r>
            <a:br>
              <a:rPr lang="en-SE" dirty="0"/>
            </a:br>
            <a:r>
              <a:rPr lang="sv-SE" dirty="0" smtClean="0"/>
              <a:t>       								</a:t>
            </a:r>
            <a:r>
              <a:rPr lang="en-SE" sz="1100" dirty="0" smtClean="0"/>
              <a:t>[</a:t>
            </a:r>
            <a:r>
              <a:rPr lang="en-SE" sz="1100" dirty="0"/>
              <a:t>All the direct quotes are from (John, forthcoming).]</a:t>
            </a:r>
          </a:p>
          <a:p>
            <a:pPr marL="0" indent="0">
              <a:buNone/>
            </a:pPr>
            <a:endParaRPr lang="en-SE" dirty="0"/>
          </a:p>
          <a:p>
            <a:endParaRPr lang="en-GB" dirty="0"/>
          </a:p>
        </p:txBody>
      </p:sp>
    </p:spTree>
    <p:extLst>
      <p:ext uri="{BB962C8B-B14F-4D97-AF65-F5344CB8AC3E}">
        <p14:creationId xmlns:p14="http://schemas.microsoft.com/office/powerpoint/2010/main" val="118379684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573DB-AA0F-C447-8238-CD6FB815EDF1}"/>
              </a:ext>
            </a:extLst>
          </p:cNvPr>
          <p:cNvSpPr>
            <a:spLocks noGrp="1"/>
          </p:cNvSpPr>
          <p:nvPr>
            <p:ph type="title"/>
          </p:nvPr>
        </p:nvSpPr>
        <p:spPr/>
        <p:txBody>
          <a:bodyPr>
            <a:normAutofit/>
          </a:bodyPr>
          <a:lstStyle/>
          <a:p>
            <a:r>
              <a:rPr lang="en-GB" sz="3600" dirty="0">
                <a:latin typeface="+mn-lt"/>
              </a:rPr>
              <a:t>Obligations</a:t>
            </a:r>
          </a:p>
        </p:txBody>
      </p:sp>
      <p:sp>
        <p:nvSpPr>
          <p:cNvPr id="9" name="Rectangle 6">
            <a:extLst>
              <a:ext uri="{FF2B5EF4-FFF2-40B4-BE49-F238E27FC236}">
                <a16:creationId xmlns:a16="http://schemas.microsoft.com/office/drawing/2014/main" id="{031D9726-1F37-4D4B-BCB0-37D0C0ADD862}"/>
              </a:ext>
            </a:extLst>
          </p:cNvPr>
          <p:cNvSpPr>
            <a:spLocks noGrp="1" noChangeArrowheads="1"/>
          </p:cNvSpPr>
          <p:nvPr>
            <p:ph idx="1"/>
          </p:nvPr>
        </p:nvSpPr>
        <p:spPr bwMode="auto">
          <a:xfrm>
            <a:off x="838199" y="2104856"/>
            <a:ext cx="10999573"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spcBef>
                <a:spcPct val="0"/>
              </a:spcBef>
              <a:spcAft>
                <a:spcPct val="0"/>
              </a:spcAft>
              <a:buClrTx/>
              <a:buNone/>
            </a:pPr>
            <a:r>
              <a:rPr lang="en-GB" sz="2400" dirty="0" smtClean="0"/>
              <a:t>Citizens </a:t>
            </a:r>
            <a:r>
              <a:rPr lang="en-GB" sz="2400" dirty="0"/>
              <a:t>have obligations – grounded in their broader duties to support just institutions – not to gain more personalised information</a:t>
            </a:r>
            <a:r>
              <a:rPr lang="en-GB" sz="2400" dirty="0" smtClean="0"/>
              <a:t>.</a:t>
            </a:r>
          </a:p>
          <a:p>
            <a:pPr lvl="1" eaLnBrk="0" fontAlgn="base" hangingPunct="0">
              <a:spcBef>
                <a:spcPct val="0"/>
              </a:spcBef>
              <a:spcAft>
                <a:spcPct val="0"/>
              </a:spcAft>
            </a:pPr>
            <a:r>
              <a:rPr lang="en-GB" sz="2000" dirty="0"/>
              <a:t>“our obligation to support </a:t>
            </a:r>
            <a:r>
              <a:rPr lang="en-GB" sz="2000" b="1" dirty="0"/>
              <a:t>just</a:t>
            </a:r>
            <a:r>
              <a:rPr lang="en-GB" sz="2000" dirty="0"/>
              <a:t> </a:t>
            </a:r>
            <a:r>
              <a:rPr lang="en-GB" sz="2000" b="1" dirty="0"/>
              <a:t>institutions</a:t>
            </a:r>
            <a:r>
              <a:rPr lang="en-GB" sz="2000" dirty="0"/>
              <a:t> can place limits on our pursuit of our prudential interests “</a:t>
            </a:r>
          </a:p>
          <a:p>
            <a:pPr marL="0" lvl="0" indent="0" eaLnBrk="0" fontAlgn="base" hangingPunct="0">
              <a:spcBef>
                <a:spcPct val="0"/>
              </a:spcBef>
              <a:spcAft>
                <a:spcPct val="0"/>
              </a:spcAft>
              <a:buClrTx/>
              <a:buNone/>
            </a:pPr>
            <a:endParaRPr lang="en-GB" sz="2400" dirty="0"/>
          </a:p>
          <a:p>
            <a:pPr marL="0" lvl="0" indent="0" eaLnBrk="0" fontAlgn="base" hangingPunct="0">
              <a:spcBef>
                <a:spcPct val="0"/>
              </a:spcBef>
              <a:spcAft>
                <a:spcPct val="0"/>
              </a:spcAft>
              <a:buClrTx/>
              <a:buNone/>
            </a:pPr>
            <a:r>
              <a:rPr lang="en-GB" sz="2400" dirty="0" smtClean="0"/>
              <a:t>The </a:t>
            </a:r>
            <a:r>
              <a:rPr lang="en-GB" sz="2400" dirty="0"/>
              <a:t>state has a correlative duty to enable citizens to </a:t>
            </a:r>
            <a:r>
              <a:rPr lang="en-GB" sz="2400" dirty="0" err="1"/>
              <a:t>fulfill</a:t>
            </a:r>
            <a:r>
              <a:rPr lang="en-GB" sz="2400" dirty="0"/>
              <a:t> of these obligations</a:t>
            </a:r>
            <a:r>
              <a:rPr lang="en-GB" sz="2400" dirty="0" smtClean="0"/>
              <a:t>.</a:t>
            </a:r>
          </a:p>
          <a:p>
            <a:pPr lvl="1" eaLnBrk="0" fontAlgn="base" hangingPunct="0">
              <a:spcBef>
                <a:spcPct val="0"/>
              </a:spcBef>
              <a:spcAft>
                <a:spcPct val="0"/>
              </a:spcAft>
            </a:pPr>
            <a:r>
              <a:rPr lang="en-GB" altLang="en-SE" sz="2000" dirty="0">
                <a:ea typeface="Calibri" panose="020F0502020204030204" pitchFamily="34" charset="0"/>
                <a:cs typeface="Times New Roman" panose="02020603050405020304" pitchFamily="18" charset="0"/>
              </a:rPr>
              <a:t>“the second obligation follows as a result of States’ duties to cultivate citizens’ dispositions to advance </a:t>
            </a:r>
            <a:r>
              <a:rPr lang="en-GB" altLang="en-SE" sz="2000" b="1" dirty="0">
                <a:ea typeface="Calibri" panose="020F0502020204030204" pitchFamily="34" charset="0"/>
                <a:cs typeface="Times New Roman" panose="02020603050405020304" pitchFamily="18" charset="0"/>
              </a:rPr>
              <a:t>justice</a:t>
            </a:r>
            <a:r>
              <a:rPr lang="en-GB" altLang="en-SE" sz="2000" dirty="0">
                <a:ea typeface="Calibri" panose="020F0502020204030204" pitchFamily="34" charset="0"/>
                <a:cs typeface="Times New Roman" panose="02020603050405020304" pitchFamily="18" charset="0"/>
              </a:rPr>
              <a:t> (</a:t>
            </a:r>
            <a:r>
              <a:rPr lang="en-GB" altLang="en-SE" sz="2000" dirty="0" err="1">
                <a:ea typeface="Calibri" panose="020F0502020204030204" pitchFamily="34" charset="0"/>
                <a:cs typeface="Times New Roman" panose="02020603050405020304" pitchFamily="18" charset="0"/>
              </a:rPr>
              <a:t>Macedo</a:t>
            </a:r>
            <a:r>
              <a:rPr lang="en-GB" altLang="en-SE" sz="2000" dirty="0">
                <a:ea typeface="Calibri" panose="020F0502020204030204" pitchFamily="34" charset="0"/>
                <a:cs typeface="Times New Roman" panose="02020603050405020304" pitchFamily="18" charset="0"/>
              </a:rPr>
              <a:t>, 1992).”</a:t>
            </a:r>
            <a:endParaRPr lang="en-GB" altLang="en-SE" sz="2000" dirty="0"/>
          </a:p>
          <a:p>
            <a:pPr marL="0" lvl="0" indent="0" eaLnBrk="0" fontAlgn="base" hangingPunct="0">
              <a:spcBef>
                <a:spcPct val="0"/>
              </a:spcBef>
              <a:spcAft>
                <a:spcPct val="0"/>
              </a:spcAft>
              <a:buClrTx/>
              <a:buNone/>
            </a:pPr>
            <a:r>
              <a:rPr lang="en-GB" dirty="0"/>
              <a:t/>
            </a:r>
            <a:br>
              <a:rPr lang="en-GB" dirty="0"/>
            </a:br>
            <a:r>
              <a:rPr lang="en-GB" dirty="0"/>
              <a:t/>
            </a:r>
            <a:br>
              <a:rPr lang="en-GB" dirty="0"/>
            </a:br>
            <a:endParaRPr lang="en-GB" dirty="0"/>
          </a:p>
        </p:txBody>
      </p:sp>
      <p:sp>
        <p:nvSpPr>
          <p:cNvPr id="4" name="TextBox 3"/>
          <p:cNvSpPr txBox="1"/>
          <p:nvPr/>
        </p:nvSpPr>
        <p:spPr>
          <a:xfrm>
            <a:off x="179174" y="4856206"/>
            <a:ext cx="11899556" cy="923330"/>
          </a:xfrm>
          <a:prstGeom prst="rect">
            <a:avLst/>
          </a:prstGeom>
          <a:solidFill>
            <a:srgbClr val="FFC000"/>
          </a:solidFill>
        </p:spPr>
        <p:txBody>
          <a:bodyPr wrap="square" rtlCol="0">
            <a:spAutoFit/>
          </a:bodyPr>
          <a:lstStyle/>
          <a:p>
            <a:r>
              <a:rPr lang="en-GB" dirty="0" smtClean="0"/>
              <a:t>This is a relational account more related to ethics of care than say rights and duties. There is a focus on justice, equity and fairness and the commitment to these values necessitates obligations that will restrict some actions that the alternative individualistic/ rights philosophy emphasises </a:t>
            </a:r>
            <a:endParaRPr lang="en-GB" dirty="0"/>
          </a:p>
        </p:txBody>
      </p:sp>
    </p:spTree>
    <p:extLst>
      <p:ext uri="{BB962C8B-B14F-4D97-AF65-F5344CB8AC3E}">
        <p14:creationId xmlns:p14="http://schemas.microsoft.com/office/powerpoint/2010/main" val="341930355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51578-EC58-824D-981B-EE8DA23F989E}"/>
              </a:ext>
            </a:extLst>
          </p:cNvPr>
          <p:cNvSpPr>
            <a:spLocks noGrp="1"/>
          </p:cNvSpPr>
          <p:nvPr>
            <p:ph type="title"/>
          </p:nvPr>
        </p:nvSpPr>
        <p:spPr/>
        <p:txBody>
          <a:bodyPr>
            <a:normAutofit/>
          </a:bodyPr>
          <a:lstStyle/>
          <a:p>
            <a:r>
              <a:rPr lang="en-GB" sz="3600" dirty="0" smtClean="0">
                <a:latin typeface="+mn-lt"/>
              </a:rPr>
              <a:t>Stephen John’s conclusion </a:t>
            </a:r>
            <a:endParaRPr lang="en-GB" sz="3600" dirty="0">
              <a:latin typeface="+mn-lt"/>
            </a:endParaRPr>
          </a:p>
        </p:txBody>
      </p:sp>
      <p:sp>
        <p:nvSpPr>
          <p:cNvPr id="3" name="Content Placeholder 2">
            <a:extLst>
              <a:ext uri="{FF2B5EF4-FFF2-40B4-BE49-F238E27FC236}">
                <a16:creationId xmlns:a16="http://schemas.microsoft.com/office/drawing/2014/main" id="{C66CAD93-D388-CC48-AFC7-1CA61E1A3ABE}"/>
              </a:ext>
            </a:extLst>
          </p:cNvPr>
          <p:cNvSpPr>
            <a:spLocks noGrp="1"/>
          </p:cNvSpPr>
          <p:nvPr>
            <p:ph idx="1"/>
          </p:nvPr>
        </p:nvSpPr>
        <p:spPr>
          <a:xfrm>
            <a:off x="838200" y="1825624"/>
            <a:ext cx="10515600" cy="4680207"/>
          </a:xfrm>
        </p:spPr>
        <p:txBody>
          <a:bodyPr>
            <a:normAutofit/>
          </a:bodyPr>
          <a:lstStyle/>
          <a:p>
            <a:pPr marL="0" indent="0">
              <a:buNone/>
            </a:pPr>
            <a:r>
              <a:rPr lang="en-GB" altLang="en-SE" sz="2000" dirty="0">
                <a:ea typeface="Calibri" panose="020F0502020204030204" pitchFamily="34" charset="0"/>
              </a:rPr>
              <a:t>“[r]</a:t>
            </a:r>
            <a:r>
              <a:rPr lang="en-GB" altLang="en-SE" sz="2000" dirty="0" err="1">
                <a:ea typeface="Calibri" panose="020F0502020204030204" pitchFamily="34" charset="0"/>
              </a:rPr>
              <a:t>ather</a:t>
            </a:r>
            <a:r>
              <a:rPr lang="en-GB" altLang="en-SE" sz="2000" dirty="0">
                <a:ea typeface="Calibri" panose="020F0502020204030204" pitchFamily="34" charset="0"/>
              </a:rPr>
              <a:t> than conceptualise information control policies in terms of a clash between rights and consequences, we can, instead, think about them as embedded in wider patterns of </a:t>
            </a:r>
            <a:r>
              <a:rPr lang="en-GB" altLang="en-SE" sz="2000" dirty="0" err="1">
                <a:ea typeface="Calibri" panose="020F0502020204030204" pitchFamily="34" charset="0"/>
              </a:rPr>
              <a:t>socioepistemic</a:t>
            </a:r>
            <a:r>
              <a:rPr lang="en-GB" altLang="en-SE" sz="2000" dirty="0">
                <a:ea typeface="Calibri" panose="020F0502020204030204" pitchFamily="34" charset="0"/>
              </a:rPr>
              <a:t> obligation. Of course, weighing and assessing different obligations is not an easy task, but it is easier than balancing freedom against the good.”</a:t>
            </a:r>
            <a:endParaRPr lang="en-GB" altLang="en-SE" sz="2000" dirty="0"/>
          </a:p>
          <a:p>
            <a:pPr marL="0" indent="0">
              <a:buNone/>
            </a:pPr>
            <a:r>
              <a:rPr lang="en-SE" dirty="0"/>
              <a:t/>
            </a:r>
            <a:br>
              <a:rPr lang="en-SE" dirty="0"/>
            </a:br>
            <a:r>
              <a:rPr lang="sv-SE" dirty="0" smtClean="0"/>
              <a:t>       								</a:t>
            </a:r>
            <a:endParaRPr lang="en-SE" dirty="0"/>
          </a:p>
          <a:p>
            <a:pPr marL="0" indent="0">
              <a:buNone/>
            </a:pPr>
            <a:endParaRPr lang="en-GB" dirty="0"/>
          </a:p>
        </p:txBody>
      </p:sp>
      <p:sp>
        <p:nvSpPr>
          <p:cNvPr id="5" name="TextBox 4"/>
          <p:cNvSpPr txBox="1"/>
          <p:nvPr/>
        </p:nvSpPr>
        <p:spPr>
          <a:xfrm>
            <a:off x="247132" y="3342504"/>
            <a:ext cx="11813060" cy="461665"/>
          </a:xfrm>
          <a:prstGeom prst="rect">
            <a:avLst/>
          </a:prstGeom>
          <a:solidFill>
            <a:srgbClr val="00B0F0"/>
          </a:solidFill>
        </p:spPr>
        <p:txBody>
          <a:bodyPr wrap="square" rtlCol="0">
            <a:spAutoFit/>
          </a:bodyPr>
          <a:lstStyle/>
          <a:p>
            <a:r>
              <a:rPr lang="en-GB" sz="2400" b="1" dirty="0" smtClean="0"/>
              <a:t>Given this justice orientated framework there should be controls on the flow of information </a:t>
            </a:r>
            <a:endParaRPr lang="en-GB" sz="2400" b="1" dirty="0"/>
          </a:p>
        </p:txBody>
      </p:sp>
      <p:sp>
        <p:nvSpPr>
          <p:cNvPr id="4" name="TextBox 3"/>
          <p:cNvSpPr txBox="1"/>
          <p:nvPr/>
        </p:nvSpPr>
        <p:spPr>
          <a:xfrm>
            <a:off x="838200" y="4287795"/>
            <a:ext cx="10455876" cy="2308324"/>
          </a:xfrm>
          <a:prstGeom prst="rect">
            <a:avLst/>
          </a:prstGeom>
          <a:noFill/>
        </p:spPr>
        <p:txBody>
          <a:bodyPr wrap="square" rtlCol="0">
            <a:spAutoFit/>
          </a:bodyPr>
          <a:lstStyle/>
          <a:p>
            <a:r>
              <a:rPr lang="en-GB" dirty="0" smtClean="0"/>
              <a:t>But, note that while he says that epistemic paternalism is not the most useful tool, rather we should think in terms of “interlocking sets of epistemic obligations” that is not to say that </a:t>
            </a:r>
            <a:r>
              <a:rPr lang="en-GB" u="sng" dirty="0" smtClean="0"/>
              <a:t>all controls </a:t>
            </a:r>
            <a:r>
              <a:rPr lang="en-GB" dirty="0" smtClean="0"/>
              <a:t>on information are just –</a:t>
            </a:r>
          </a:p>
          <a:p>
            <a:endParaRPr lang="en-GB" dirty="0" smtClean="0"/>
          </a:p>
          <a:p>
            <a:r>
              <a:rPr lang="en-GB" dirty="0" smtClean="0"/>
              <a:t>“For </a:t>
            </a:r>
            <a:r>
              <a:rPr lang="en-GB" dirty="0"/>
              <a:t>example, there may be ethical reasons why the State should control the flow of personalised information, maintaining a just healthcare system, but, also, good ethical reasons to worry that these powers might be abused to maintain unjustifiable forms of ignorance. As such, there may well be pressing ethical, political and practical reasons to resist controls on the flow of information</a:t>
            </a:r>
            <a:r>
              <a:rPr lang="en-GB" dirty="0" smtClean="0"/>
              <a:t>.”</a:t>
            </a:r>
            <a:endParaRPr lang="en-GB" dirty="0"/>
          </a:p>
          <a:p>
            <a:endParaRPr lang="en-GB" dirty="0"/>
          </a:p>
        </p:txBody>
      </p:sp>
    </p:spTree>
    <p:extLst>
      <p:ext uri="{BB962C8B-B14F-4D97-AF65-F5344CB8AC3E}">
        <p14:creationId xmlns:p14="http://schemas.microsoft.com/office/powerpoint/2010/main" val="177934207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75096"/>
          </a:xfrm>
          <a:ln w="38100">
            <a:solidFill>
              <a:srgbClr val="00B0F0"/>
            </a:solidFill>
          </a:ln>
        </p:spPr>
        <p:txBody>
          <a:bodyPr/>
          <a:lstStyle/>
          <a:p>
            <a:pPr algn="ctr"/>
            <a:r>
              <a:rPr lang="en-GB" dirty="0" smtClean="0"/>
              <a:t>Discussion 15 min – choose 2 examples</a:t>
            </a:r>
            <a:endParaRPr lang="en-GB" dirty="0"/>
          </a:p>
        </p:txBody>
      </p:sp>
      <p:sp>
        <p:nvSpPr>
          <p:cNvPr id="3" name="Content Placeholder 2"/>
          <p:cNvSpPr>
            <a:spLocks noGrp="1"/>
          </p:cNvSpPr>
          <p:nvPr>
            <p:ph idx="1"/>
          </p:nvPr>
        </p:nvSpPr>
        <p:spPr>
          <a:xfrm>
            <a:off x="838200" y="1429406"/>
            <a:ext cx="10515600" cy="5171090"/>
          </a:xfrm>
        </p:spPr>
        <p:txBody>
          <a:bodyPr>
            <a:normAutofit fontScale="62500" lnSpcReduction="20000"/>
          </a:bodyPr>
          <a:lstStyle/>
          <a:p>
            <a:pPr>
              <a:buFont typeface="Wingdings" panose="05000000000000000000" pitchFamily="2" charset="2"/>
              <a:buChar char="Ø"/>
            </a:pPr>
            <a:r>
              <a:rPr lang="en-GB" dirty="0" smtClean="0"/>
              <a:t>I</a:t>
            </a:r>
            <a:r>
              <a:rPr lang="en-GB" sz="3400" dirty="0" smtClean="0"/>
              <a:t>s it an act if medical paternalism? Does it meet the two criteria? A) designed to limit autonomy and B) </a:t>
            </a:r>
            <a:r>
              <a:rPr lang="en-US" sz="3600" dirty="0" smtClean="0"/>
              <a:t>reliably </a:t>
            </a:r>
            <a:r>
              <a:rPr lang="en-US" sz="3600" dirty="0"/>
              <a:t>beneficence based </a:t>
            </a:r>
            <a:endParaRPr lang="en-US" sz="3600" dirty="0" smtClean="0"/>
          </a:p>
          <a:p>
            <a:pPr>
              <a:buFont typeface="Wingdings" panose="05000000000000000000" pitchFamily="2" charset="2"/>
              <a:buChar char="Ø"/>
            </a:pPr>
            <a:r>
              <a:rPr lang="en-GB" sz="3400" dirty="0" smtClean="0"/>
              <a:t>Is it justifiable? Identify and </a:t>
            </a:r>
            <a:r>
              <a:rPr lang="en-GB" sz="3400" u="sng" dirty="0" smtClean="0"/>
              <a:t>specify</a:t>
            </a:r>
            <a:r>
              <a:rPr lang="en-GB" sz="3400" dirty="0" smtClean="0"/>
              <a:t> the value tension. Give ethical reasons for and against</a:t>
            </a:r>
          </a:p>
          <a:p>
            <a:pPr marL="0" indent="0">
              <a:buNone/>
            </a:pPr>
            <a:endParaRPr lang="en-GB" sz="3400" dirty="0" smtClean="0"/>
          </a:p>
          <a:p>
            <a:r>
              <a:rPr lang="en-GB" dirty="0" smtClean="0"/>
              <a:t>Ex 1 – A blood transfusion to save the life of an adult Jehovah's witness without their informed consent </a:t>
            </a:r>
          </a:p>
          <a:p>
            <a:r>
              <a:rPr lang="en-GB" dirty="0" smtClean="0"/>
              <a:t>Ex 2 – Compulsory bicycle helmets for adults</a:t>
            </a:r>
            <a:endParaRPr lang="en-GB" dirty="0"/>
          </a:p>
          <a:p>
            <a:r>
              <a:rPr lang="en-GB" dirty="0" smtClean="0"/>
              <a:t>Ex 3 – Increase VAT by 300% on un-healthy produce e.g. candy, soda, crisps..</a:t>
            </a:r>
          </a:p>
          <a:p>
            <a:r>
              <a:rPr lang="en-GB" dirty="0" smtClean="0"/>
              <a:t>Ex 4 – The doctor deems the patient too frail to handle the cancer diagnosis and decides not to tell the patient. The patient is in her 90s and expected to die within 6 months due to an unrelated disease. The patient is cognitively clear and has full decision making capacity.</a:t>
            </a:r>
          </a:p>
          <a:p>
            <a:r>
              <a:rPr lang="en-GB" dirty="0" smtClean="0"/>
              <a:t>Ex 5 – The doctor is convinced that the new surgical technique she has developed is superior to the available alternative techniques and methods. It has been tested rigorously and there is evidence to support it’s reliability. It’s a good technique but not as outstanding as the doctor believes. She tells the patient about all the alternatives but emphasises the benefits of her own. She is not neutral and it is possible that she manipulates the patient a little bit but she is convinced that her technique would be the best choice for this patient. The patient goes with the doctors recommendation and has the surgery. The patient recovers quickly and is very happy.</a:t>
            </a:r>
            <a:endParaRPr lang="en-GB" dirty="0"/>
          </a:p>
        </p:txBody>
      </p:sp>
    </p:spTree>
    <p:extLst>
      <p:ext uri="{BB962C8B-B14F-4D97-AF65-F5344CB8AC3E}">
        <p14:creationId xmlns:p14="http://schemas.microsoft.com/office/powerpoint/2010/main" val="199553625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67CA8-A4C9-3945-95BD-5A28F4E31645}"/>
              </a:ext>
            </a:extLst>
          </p:cNvPr>
          <p:cNvSpPr>
            <a:spLocks noGrp="1"/>
          </p:cNvSpPr>
          <p:nvPr>
            <p:ph type="title"/>
          </p:nvPr>
        </p:nvSpPr>
        <p:spPr/>
        <p:txBody>
          <a:bodyPr>
            <a:normAutofit/>
          </a:bodyPr>
          <a:lstStyle/>
          <a:p>
            <a:r>
              <a:rPr lang="en-GB" sz="3600" dirty="0" smtClean="0"/>
              <a:t>Summary</a:t>
            </a:r>
            <a:endParaRPr lang="en-GB" sz="3600" dirty="0"/>
          </a:p>
        </p:txBody>
      </p:sp>
      <p:sp>
        <p:nvSpPr>
          <p:cNvPr id="3" name="TextBox 2">
            <a:extLst>
              <a:ext uri="{FF2B5EF4-FFF2-40B4-BE49-F238E27FC236}">
                <a16:creationId xmlns:a16="http://schemas.microsoft.com/office/drawing/2014/main" id="{E82819AA-AB87-324E-B27A-876855D53E5B}"/>
              </a:ext>
            </a:extLst>
          </p:cNvPr>
          <p:cNvSpPr txBox="1"/>
          <p:nvPr/>
        </p:nvSpPr>
        <p:spPr>
          <a:xfrm>
            <a:off x="838200" y="1690688"/>
            <a:ext cx="10781270" cy="4524315"/>
          </a:xfrm>
          <a:prstGeom prst="rect">
            <a:avLst/>
          </a:prstGeom>
          <a:noFill/>
        </p:spPr>
        <p:txBody>
          <a:bodyPr wrap="square" rtlCol="0">
            <a:spAutoFit/>
          </a:bodyPr>
          <a:lstStyle/>
          <a:p>
            <a:pPr marL="342900" indent="-342900">
              <a:buFont typeface="Arial" panose="020B0604020202020204" pitchFamily="34" charset="0"/>
              <a:buChar char="•"/>
            </a:pPr>
            <a:r>
              <a:rPr lang="en-GB" sz="2400" dirty="0"/>
              <a:t>We have been looking at paternalism, i.e. when is it justified for a state to interfere with individual’s life (freedom/autonomy, and wellbeing</a:t>
            </a:r>
            <a:r>
              <a:rPr lang="en-GB" sz="2400" dirty="0" smtClean="0"/>
              <a:t>)</a:t>
            </a:r>
          </a:p>
          <a:p>
            <a:pPr marL="342900" indent="-342900">
              <a:buFont typeface="Arial" panose="020B0604020202020204" pitchFamily="34" charset="0"/>
              <a:buChar char="•"/>
            </a:pPr>
            <a:endParaRPr lang="en-GB" sz="2400" dirty="0"/>
          </a:p>
          <a:p>
            <a:pPr marL="342900" indent="-342900">
              <a:buFont typeface="Arial" panose="020B0604020202020204" pitchFamily="34" charset="0"/>
              <a:buChar char="•"/>
            </a:pPr>
            <a:r>
              <a:rPr lang="en-GB" sz="2400" dirty="0"/>
              <a:t>We studied paternalism in placing controls on the flow of information regarding personalised risk </a:t>
            </a:r>
            <a:r>
              <a:rPr lang="en-GB" sz="2400" dirty="0" smtClean="0"/>
              <a:t>scores</a:t>
            </a:r>
          </a:p>
          <a:p>
            <a:endParaRPr lang="en-GB" sz="2400" dirty="0"/>
          </a:p>
          <a:p>
            <a:pPr marL="342900" indent="-342900">
              <a:buFont typeface="Arial" panose="020B0604020202020204" pitchFamily="34" charset="0"/>
              <a:buChar char="•"/>
            </a:pPr>
            <a:r>
              <a:rPr lang="en-GB" sz="2400" dirty="0"/>
              <a:t>And we looked at an </a:t>
            </a:r>
            <a:r>
              <a:rPr lang="en-GB" sz="2400" dirty="0" smtClean="0"/>
              <a:t>obligations–orientated </a:t>
            </a:r>
            <a:r>
              <a:rPr lang="en-GB" sz="2400" dirty="0"/>
              <a:t>framework (which places more importance on justice over </a:t>
            </a:r>
            <a:r>
              <a:rPr lang="en-GB" sz="2400" dirty="0" smtClean="0"/>
              <a:t>autonomy/freedom)</a:t>
            </a:r>
          </a:p>
          <a:p>
            <a:pPr marL="342900" indent="-342900">
              <a:buFont typeface="Arial" panose="020B0604020202020204" pitchFamily="34" charset="0"/>
              <a:buChar char="•"/>
            </a:pPr>
            <a:endParaRPr lang="en-GB" sz="2400" dirty="0"/>
          </a:p>
          <a:p>
            <a:pPr marL="342900" indent="-342900">
              <a:buFont typeface="Arial" panose="020B0604020202020204" pitchFamily="34" charset="0"/>
              <a:buChar char="•"/>
            </a:pPr>
            <a:endParaRPr lang="en-GB" sz="2400" dirty="0" smtClean="0"/>
          </a:p>
          <a:p>
            <a:pPr marL="342900" indent="-342900">
              <a:buFont typeface="Arial" panose="020B0604020202020204" pitchFamily="34" charset="0"/>
              <a:buChar char="•"/>
            </a:pPr>
            <a:r>
              <a:rPr lang="en-GB" sz="2400" dirty="0" smtClean="0"/>
              <a:t>The questions at the essay writing session will</a:t>
            </a:r>
            <a:r>
              <a:rPr lang="en-GB" sz="2400" b="1" dirty="0" smtClean="0"/>
              <a:t> not </a:t>
            </a:r>
            <a:r>
              <a:rPr lang="en-GB" sz="2400" dirty="0" smtClean="0"/>
              <a:t>involve any detailed questions on Stephen John’s arguments.</a:t>
            </a:r>
          </a:p>
        </p:txBody>
      </p:sp>
      <p:pic>
        <p:nvPicPr>
          <p:cNvPr id="4" name="Picture 3"/>
          <p:cNvPicPr>
            <a:picLocks noChangeAspect="1"/>
          </p:cNvPicPr>
          <p:nvPr/>
        </p:nvPicPr>
        <p:blipFill>
          <a:blip r:embed="rId3"/>
          <a:stretch>
            <a:fillRect/>
          </a:stretch>
        </p:blipFill>
        <p:spPr>
          <a:xfrm>
            <a:off x="555945" y="5316537"/>
            <a:ext cx="664522" cy="725487"/>
          </a:xfrm>
          <a:prstGeom prst="rect">
            <a:avLst/>
          </a:prstGeom>
        </p:spPr>
      </p:pic>
    </p:spTree>
    <p:extLst>
      <p:ext uri="{BB962C8B-B14F-4D97-AF65-F5344CB8AC3E}">
        <p14:creationId xmlns:p14="http://schemas.microsoft.com/office/powerpoint/2010/main" val="262098253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27EE2-20D9-C249-9857-581A803C55BC}"/>
              </a:ext>
            </a:extLst>
          </p:cNvPr>
          <p:cNvSpPr>
            <a:spLocks noGrp="1"/>
          </p:cNvSpPr>
          <p:nvPr>
            <p:ph type="title"/>
          </p:nvPr>
        </p:nvSpPr>
        <p:spPr/>
        <p:txBody>
          <a:bodyPr>
            <a:normAutofit/>
          </a:bodyPr>
          <a:lstStyle/>
          <a:p>
            <a:r>
              <a:rPr lang="en-GB" sz="3600" dirty="0" smtClean="0">
                <a:latin typeface="+mn-lt"/>
              </a:rPr>
              <a:t>Further readings and references from the lecture</a:t>
            </a:r>
            <a:endParaRPr lang="en-GB" sz="3600" dirty="0">
              <a:latin typeface="+mn-lt"/>
            </a:endParaRPr>
          </a:p>
        </p:txBody>
      </p:sp>
      <p:sp>
        <p:nvSpPr>
          <p:cNvPr id="3" name="TextBox 2">
            <a:extLst>
              <a:ext uri="{FF2B5EF4-FFF2-40B4-BE49-F238E27FC236}">
                <a16:creationId xmlns:a16="http://schemas.microsoft.com/office/drawing/2014/main" id="{46638A7A-8220-BF4E-8A61-9D86FA43E21D}"/>
              </a:ext>
            </a:extLst>
          </p:cNvPr>
          <p:cNvSpPr txBox="1"/>
          <p:nvPr/>
        </p:nvSpPr>
        <p:spPr>
          <a:xfrm>
            <a:off x="838200" y="1861469"/>
            <a:ext cx="10515600" cy="3477875"/>
          </a:xfrm>
          <a:prstGeom prst="rect">
            <a:avLst/>
          </a:prstGeom>
          <a:noFill/>
        </p:spPr>
        <p:txBody>
          <a:bodyPr wrap="square" rtlCol="0">
            <a:spAutoFit/>
          </a:bodyPr>
          <a:lstStyle/>
          <a:p>
            <a:endParaRPr lang="en-GB" sz="1000" dirty="0"/>
          </a:p>
          <a:p>
            <a:r>
              <a:rPr lang="en-GB" sz="1000" dirty="0" err="1"/>
              <a:t>Begon</a:t>
            </a:r>
            <a:r>
              <a:rPr lang="en-GB" sz="1000" dirty="0"/>
              <a:t>, Jessica. "Paternalism." Analysis 76, no. 3 (2016): 355-373.</a:t>
            </a:r>
          </a:p>
          <a:p>
            <a:endParaRPr lang="en-GB" sz="1000" dirty="0"/>
          </a:p>
          <a:p>
            <a:r>
              <a:rPr lang="en-GB" sz="1000" dirty="0"/>
              <a:t>Dworkin, Gerald, "Paternalism", </a:t>
            </a:r>
            <a:r>
              <a:rPr lang="en-GB" sz="1000" i="1" dirty="0"/>
              <a:t>The Stanford </a:t>
            </a:r>
            <a:r>
              <a:rPr lang="en-GB" sz="1000" i="1" dirty="0" err="1"/>
              <a:t>Encyclopedia</a:t>
            </a:r>
            <a:r>
              <a:rPr lang="en-GB" sz="1000" i="1" dirty="0"/>
              <a:t> of Philosophy </a:t>
            </a:r>
            <a:r>
              <a:rPr lang="en-GB" sz="1000" dirty="0"/>
              <a:t>(Fall 2020 Edition), Edward N. </a:t>
            </a:r>
            <a:r>
              <a:rPr lang="en-GB" sz="1000" dirty="0" err="1"/>
              <a:t>Zalta</a:t>
            </a:r>
            <a:r>
              <a:rPr lang="en-GB" sz="1000" dirty="0"/>
              <a:t> (ed.), URL = &lt;https://</a:t>
            </a:r>
            <a:r>
              <a:rPr lang="en-GB" sz="1000" dirty="0" err="1"/>
              <a:t>plato.stanford.edu</a:t>
            </a:r>
            <a:r>
              <a:rPr lang="en-GB" sz="1000" dirty="0"/>
              <a:t>/archives/fall2020/entries/paternalism/&gt;.</a:t>
            </a:r>
          </a:p>
          <a:p>
            <a:endParaRPr lang="en-GB" sz="1000" dirty="0"/>
          </a:p>
          <a:p>
            <a:r>
              <a:rPr lang="en-GB" sz="1000" dirty="0"/>
              <a:t>Fröhlich, Holger, Rudi Balling, Niko </a:t>
            </a:r>
            <a:r>
              <a:rPr lang="en-GB" sz="1000" dirty="0" err="1"/>
              <a:t>Beerenwinkel</a:t>
            </a:r>
            <a:r>
              <a:rPr lang="en-GB" sz="1000" dirty="0"/>
              <a:t>, Oliver </a:t>
            </a:r>
            <a:r>
              <a:rPr lang="en-GB" sz="1000" dirty="0" err="1"/>
              <a:t>Kohlbacher</a:t>
            </a:r>
            <a:r>
              <a:rPr lang="en-GB" sz="1000" dirty="0"/>
              <a:t>, Santosh Kumar, Thomas </a:t>
            </a:r>
            <a:r>
              <a:rPr lang="en-GB" sz="1000" dirty="0" err="1"/>
              <a:t>Lengauer</a:t>
            </a:r>
            <a:r>
              <a:rPr lang="en-GB" sz="1000" dirty="0"/>
              <a:t>, </a:t>
            </a:r>
            <a:r>
              <a:rPr lang="en-GB" sz="1000" dirty="0" err="1"/>
              <a:t>Marloes</a:t>
            </a:r>
            <a:r>
              <a:rPr lang="en-GB" sz="1000" dirty="0"/>
              <a:t> H. </a:t>
            </a:r>
            <a:r>
              <a:rPr lang="en-GB" sz="1000" dirty="0" err="1"/>
              <a:t>Maathuis</a:t>
            </a:r>
            <a:r>
              <a:rPr lang="en-GB" sz="1000" dirty="0"/>
              <a:t> et al. "From hype to reality: data science enabling personalized medicine." BMC medicine 16, no. 1 (2018): 150.</a:t>
            </a:r>
          </a:p>
          <a:p>
            <a:r>
              <a:rPr lang="en-GB" sz="1000" dirty="0"/>
              <a:t/>
            </a:r>
            <a:br>
              <a:rPr lang="en-GB" sz="1000" dirty="0"/>
            </a:br>
            <a:endParaRPr lang="en-GB" sz="1000" dirty="0"/>
          </a:p>
          <a:p>
            <a:r>
              <a:rPr lang="en-GB" sz="1000" dirty="0"/>
              <a:t>Haybron, D.M. and A. </a:t>
            </a:r>
            <a:r>
              <a:rPr lang="en-GB" sz="1000" dirty="0" err="1"/>
              <a:t>Alexandrova</a:t>
            </a:r>
            <a:r>
              <a:rPr lang="en-GB" sz="1000" dirty="0"/>
              <a:t>. 2013. Paternalism in economics. In Paternalism:</a:t>
            </a:r>
          </a:p>
          <a:p>
            <a:r>
              <a:rPr lang="en-GB" sz="1000" dirty="0"/>
              <a:t>Theory and Practice, ed. C. Coons and M. Weber, 157–77 Cambridge: Cambridge</a:t>
            </a:r>
          </a:p>
          <a:p>
            <a:r>
              <a:rPr lang="en-GB" sz="1000" dirty="0"/>
              <a:t>University Press.</a:t>
            </a:r>
          </a:p>
          <a:p>
            <a:endParaRPr lang="en-GB" sz="1000" dirty="0"/>
          </a:p>
          <a:p>
            <a:r>
              <a:rPr lang="en-GB" sz="1000" dirty="0"/>
              <a:t>Mesko, </a:t>
            </a:r>
            <a:r>
              <a:rPr lang="en-GB" sz="1000" dirty="0" err="1"/>
              <a:t>Bertalan</a:t>
            </a:r>
            <a:r>
              <a:rPr lang="en-GB" sz="1000" dirty="0"/>
              <a:t>. The role of artificial intelligence in precision medicine. Expert Review of</a:t>
            </a:r>
          </a:p>
          <a:p>
            <a:r>
              <a:rPr lang="en-GB" sz="1000" dirty="0"/>
              <a:t>Precision Medicine and Drug Development 5(2) (2017), 239-241</a:t>
            </a:r>
          </a:p>
          <a:p>
            <a:endParaRPr lang="en-GB" sz="1000" dirty="0"/>
          </a:p>
          <a:p>
            <a:endParaRPr lang="en-GB" sz="1000" dirty="0"/>
          </a:p>
          <a:p>
            <a:r>
              <a:rPr lang="en-GB" sz="1000" dirty="0" err="1"/>
              <a:t>Pirmohamed</a:t>
            </a:r>
            <a:r>
              <a:rPr lang="en-GB" sz="1000" dirty="0"/>
              <a:t>, M. (2001). Pharmacogenetics and pharmacogenomics. </a:t>
            </a:r>
            <a:r>
              <a:rPr lang="en-GB" sz="1000" i="1" dirty="0"/>
              <a:t>British Journal of Clinical Pharmacology</a:t>
            </a:r>
            <a:r>
              <a:rPr lang="en-GB" sz="1000" dirty="0"/>
              <a:t>, </a:t>
            </a:r>
            <a:r>
              <a:rPr lang="en-GB" sz="1000" i="1" dirty="0"/>
              <a:t>52</a:t>
            </a:r>
            <a:r>
              <a:rPr lang="en-GB" sz="1000" dirty="0"/>
              <a:t>(4), 345–347. </a:t>
            </a:r>
            <a:r>
              <a:rPr lang="en-GB" sz="1000" dirty="0">
                <a:hlinkClick r:id="rId3"/>
              </a:rPr>
              <a:t>https://doi.org/10.1046/j.0306-5251.2001.01498.x</a:t>
            </a:r>
            <a:r>
              <a:rPr lang="en-GB" sz="1000" dirty="0"/>
              <a:t/>
            </a:r>
            <a:br>
              <a:rPr lang="en-GB" sz="1000" dirty="0"/>
            </a:br>
            <a:endParaRPr lang="en-SE" sz="1000" dirty="0"/>
          </a:p>
          <a:p>
            <a:r>
              <a:rPr lang="en-GB" sz="1000" dirty="0" err="1"/>
              <a:t>Salari</a:t>
            </a:r>
            <a:r>
              <a:rPr lang="en-GB" sz="1000" dirty="0"/>
              <a:t>, K. (2009). The Dawning Era of Personalized Medicine Exposes a Gap in Medical Education. </a:t>
            </a:r>
            <a:r>
              <a:rPr lang="en-GB" sz="1000" i="1" dirty="0"/>
              <a:t>PLOS Medicine</a:t>
            </a:r>
            <a:r>
              <a:rPr lang="en-GB" sz="1000" dirty="0"/>
              <a:t>, </a:t>
            </a:r>
            <a:r>
              <a:rPr lang="en-GB" sz="1000" i="1" dirty="0"/>
              <a:t>6</a:t>
            </a:r>
            <a:r>
              <a:rPr lang="en-GB" sz="1000" dirty="0"/>
              <a:t>(8), e1000138. Retrieved from https://</a:t>
            </a:r>
            <a:r>
              <a:rPr lang="en-GB" sz="1000" dirty="0" err="1"/>
              <a:t>doi.org</a:t>
            </a:r>
            <a:r>
              <a:rPr lang="en-GB" sz="1000" dirty="0"/>
              <a:t>/10.1371/journal.pmed.1000138</a:t>
            </a:r>
            <a:endParaRPr lang="en-SE" sz="1000" dirty="0"/>
          </a:p>
          <a:p>
            <a:endParaRPr lang="en-GB" sz="1000" dirty="0"/>
          </a:p>
          <a:p>
            <a:endParaRPr lang="en-GB" sz="1000" dirty="0"/>
          </a:p>
        </p:txBody>
      </p:sp>
    </p:spTree>
    <p:extLst>
      <p:ext uri="{BB962C8B-B14F-4D97-AF65-F5344CB8AC3E}">
        <p14:creationId xmlns:p14="http://schemas.microsoft.com/office/powerpoint/2010/main" val="427762297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2222</TotalTime>
  <Words>3802</Words>
  <Application>Microsoft Office PowerPoint</Application>
  <PresentationFormat>Bredbild</PresentationFormat>
  <Paragraphs>273</Paragraphs>
  <Slides>36</Slides>
  <Notes>35</Notes>
  <HiddenSlides>0</HiddenSlides>
  <MMClips>0</MMClips>
  <ScaleCrop>false</ScaleCrop>
  <HeadingPairs>
    <vt:vector size="6" baseType="variant">
      <vt:variant>
        <vt:lpstr>Använt teckensnitt</vt:lpstr>
      </vt:variant>
      <vt:variant>
        <vt:i4>5</vt:i4>
      </vt:variant>
      <vt:variant>
        <vt:lpstr>Tema</vt:lpstr>
      </vt:variant>
      <vt:variant>
        <vt:i4>1</vt:i4>
      </vt:variant>
      <vt:variant>
        <vt:lpstr>Bildrubriker</vt:lpstr>
      </vt:variant>
      <vt:variant>
        <vt:i4>36</vt:i4>
      </vt:variant>
    </vt:vector>
  </HeadingPairs>
  <TitlesOfParts>
    <vt:vector size="42" baseType="lpstr">
      <vt:lpstr>Arial</vt:lpstr>
      <vt:lpstr>Calibri</vt:lpstr>
      <vt:lpstr>Calibri Light</vt:lpstr>
      <vt:lpstr>Times New Roman</vt:lpstr>
      <vt:lpstr>Wingdings</vt:lpstr>
      <vt:lpstr>Office Theme</vt:lpstr>
      <vt:lpstr>Lecture 2: Paternalism and medical technologies</vt:lpstr>
      <vt:lpstr>Key points from previous lecture</vt:lpstr>
      <vt:lpstr>PowerPoint-presentation</vt:lpstr>
      <vt:lpstr>What is paternalism? Here is one definition:</vt:lpstr>
      <vt:lpstr>Paternalistic interventions</vt:lpstr>
      <vt:lpstr>PowerPoint-presentation</vt:lpstr>
      <vt:lpstr>PowerPoint-presentation</vt:lpstr>
      <vt:lpstr>PowerPoint-presentation</vt:lpstr>
      <vt:lpstr>PowerPoint-presentation</vt:lpstr>
      <vt:lpstr> Today, we will zoom in and look at debates concerning paternalism and personalised medicine (especially personalised risk scores). </vt:lpstr>
      <vt:lpstr>PowerPoint-presentation</vt:lpstr>
      <vt:lpstr>What is the purpose of personalised medicine? </vt:lpstr>
      <vt:lpstr>PowerPoint-presentation</vt:lpstr>
      <vt:lpstr>PowerPoint-presentation</vt:lpstr>
      <vt:lpstr>PowerPoint-presentation</vt:lpstr>
      <vt:lpstr>Sceptical approach </vt:lpstr>
      <vt:lpstr>PowerPoint-presentation</vt:lpstr>
      <vt:lpstr>PowerPoint-presentation</vt:lpstr>
      <vt:lpstr>PowerPoint-presentation</vt:lpstr>
      <vt:lpstr>PowerPoint-presentation</vt:lpstr>
      <vt:lpstr>PowerPoint-presentation</vt:lpstr>
      <vt:lpstr>Response 1. </vt:lpstr>
      <vt:lpstr>Response 1: not permissible to control flows of information</vt:lpstr>
      <vt:lpstr>Response 2. </vt:lpstr>
      <vt:lpstr>Discussion from John (forthcoming) spelled out</vt:lpstr>
      <vt:lpstr>PowerPoint-presentation</vt:lpstr>
      <vt:lpstr>A counter argument against response 2</vt:lpstr>
      <vt:lpstr>PowerPoint-presentation</vt:lpstr>
      <vt:lpstr>Obligations</vt:lpstr>
      <vt:lpstr>Obligations towards ourselves</vt:lpstr>
      <vt:lpstr>Obligations towards others</vt:lpstr>
      <vt:lpstr>Obligations</vt:lpstr>
      <vt:lpstr>Stephen John’s conclusion </vt:lpstr>
      <vt:lpstr>Discussion 15 min – choose 2 examples</vt:lpstr>
      <vt:lpstr>Summary</vt:lpstr>
      <vt:lpstr>Further readings and references from the lecture</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2: Paternalism and medical technologies</dc:title>
  <dc:creator>Barbro Fröding</dc:creator>
  <cp:lastModifiedBy>Barbro Fröding</cp:lastModifiedBy>
  <cp:revision>74</cp:revision>
  <cp:lastPrinted>2022-12-09T08:36:35Z</cp:lastPrinted>
  <dcterms:created xsi:type="dcterms:W3CDTF">2022-10-04T08:37:08Z</dcterms:created>
  <dcterms:modified xsi:type="dcterms:W3CDTF">2024-12-02T08:26:48Z</dcterms:modified>
</cp:coreProperties>
</file>