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6" r:id="rId3"/>
    <p:sldId id="257" r:id="rId4"/>
    <p:sldId id="262" r:id="rId5"/>
    <p:sldId id="263" r:id="rId6"/>
    <p:sldId id="265" r:id="rId7"/>
    <p:sldId id="264" r:id="rId8"/>
    <p:sldId id="268" r:id="rId9"/>
    <p:sldId id="266" r:id="rId10"/>
    <p:sldId id="261"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6163B9-1A7F-4E10-8D01-18B7E1943577}" v="2" dt="2026-01-20T07:57:22.699"/>
  </p1510:revLst>
</p1510:revInfo>
</file>

<file path=ppt/tableStyles.xml><?xml version="1.0" encoding="utf-8"?>
<a:tblStyleLst xmlns:a="http://schemas.openxmlformats.org/drawingml/2006/main" def="{5C22544A-7EE6-4342-B048-85BDC9FD1C3A}">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18" autoAdjust="0"/>
  </p:normalViewPr>
  <p:slideViewPr>
    <p:cSldViewPr snapToGrid="0">
      <p:cViewPr varScale="1">
        <p:scale>
          <a:sx n="81" d="100"/>
          <a:sy n="81" d="100"/>
        </p:scale>
        <p:origin x="80" y="16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1524000" y="1122363"/>
            <a:ext cx="9144000" cy="2387600"/>
          </a:xfrm>
        </p:spPr>
        <p:txBody>
          <a:bodyPr anchor="b"/>
          <a:lstStyle>
            <a:lvl1pPr algn="ctr">
              <a:defRPr sz="6000"/>
            </a:lvl1pPr>
          </a:lstStyle>
          <a:p>
            <a:r>
              <a:rPr lang="sv-SE"/>
              <a:t>Klicka här för att ändra format</a:t>
            </a:r>
            <a:endParaRPr lang="en-GB"/>
          </a:p>
        </p:txBody>
      </p:sp>
      <p:sp>
        <p:nvSpPr>
          <p:cNvPr id="3" name="Underrubri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om du vill redigera mall för underrubrikformat</a:t>
            </a:r>
            <a:endParaRPr lang="en-GB"/>
          </a:p>
        </p:txBody>
      </p:sp>
      <p:sp>
        <p:nvSpPr>
          <p:cNvPr id="4" name="Platshållare för datum 3"/>
          <p:cNvSpPr>
            <a:spLocks noGrp="1"/>
          </p:cNvSpPr>
          <p:nvPr>
            <p:ph type="dt" sz="half" idx="10"/>
          </p:nvPr>
        </p:nvSpPr>
        <p:spPr/>
        <p:txBody>
          <a:bodyPr/>
          <a:lstStyle/>
          <a:p>
            <a:fld id="{893FF893-566F-4309-9BA4-97EF6E9F3388}" type="datetimeFigureOut">
              <a:rPr lang="en-GB" smtClean="0"/>
              <a:t>19/01/2026</a:t>
            </a:fld>
            <a:endParaRPr lang="en-GB"/>
          </a:p>
        </p:txBody>
      </p:sp>
      <p:sp>
        <p:nvSpPr>
          <p:cNvPr id="5" name="Platshållare för sidfot 4"/>
          <p:cNvSpPr>
            <a:spLocks noGrp="1"/>
          </p:cNvSpPr>
          <p:nvPr>
            <p:ph type="ftr" sz="quarter" idx="11"/>
          </p:nvPr>
        </p:nvSpPr>
        <p:spPr/>
        <p:txBody>
          <a:bodyPr/>
          <a:lstStyle/>
          <a:p>
            <a:endParaRPr lang="en-GB"/>
          </a:p>
        </p:txBody>
      </p:sp>
      <p:sp>
        <p:nvSpPr>
          <p:cNvPr id="6" name="Platshållare för bildnummer 5"/>
          <p:cNvSpPr>
            <a:spLocks noGrp="1"/>
          </p:cNvSpPr>
          <p:nvPr>
            <p:ph type="sldNum" sz="quarter" idx="12"/>
          </p:nvPr>
        </p:nvSpPr>
        <p:spPr/>
        <p:txBody>
          <a:bodyPr/>
          <a:lstStyle/>
          <a:p>
            <a:fld id="{2333C795-71E1-4E2B-8AE3-9AEA85F7CCB9}" type="slidenum">
              <a:rPr lang="en-GB" smtClean="0"/>
              <a:t>‹#›</a:t>
            </a:fld>
            <a:endParaRPr lang="en-GB"/>
          </a:p>
        </p:txBody>
      </p:sp>
    </p:spTree>
    <p:extLst>
      <p:ext uri="{BB962C8B-B14F-4D97-AF65-F5344CB8AC3E}">
        <p14:creationId xmlns:p14="http://schemas.microsoft.com/office/powerpoint/2010/main" val="2552387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endParaRPr lang="en-GB"/>
          </a:p>
        </p:txBody>
      </p:sp>
      <p:sp>
        <p:nvSpPr>
          <p:cNvPr id="3" name="Platshållare för innehåll 2"/>
          <p:cNvSpPr>
            <a:spLocks noGrp="1"/>
          </p:cNvSpPr>
          <p:nvPr>
            <p:ph idx="1"/>
          </p:nvPr>
        </p:nvSpPr>
        <p:spPr/>
        <p:txBody>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endParaRPr lang="en-GB"/>
          </a:p>
        </p:txBody>
      </p:sp>
      <p:sp>
        <p:nvSpPr>
          <p:cNvPr id="4" name="Platshållare för datum 3"/>
          <p:cNvSpPr>
            <a:spLocks noGrp="1"/>
          </p:cNvSpPr>
          <p:nvPr>
            <p:ph type="dt" sz="half" idx="10"/>
          </p:nvPr>
        </p:nvSpPr>
        <p:spPr/>
        <p:txBody>
          <a:bodyPr/>
          <a:lstStyle/>
          <a:p>
            <a:fld id="{893FF893-566F-4309-9BA4-97EF6E9F3388}" type="datetimeFigureOut">
              <a:rPr lang="en-GB" smtClean="0"/>
              <a:t>19/01/2026</a:t>
            </a:fld>
            <a:endParaRPr lang="en-GB"/>
          </a:p>
        </p:txBody>
      </p:sp>
      <p:sp>
        <p:nvSpPr>
          <p:cNvPr id="5" name="Platshållare för sidfot 4"/>
          <p:cNvSpPr>
            <a:spLocks noGrp="1"/>
          </p:cNvSpPr>
          <p:nvPr>
            <p:ph type="ftr" sz="quarter" idx="11"/>
          </p:nvPr>
        </p:nvSpPr>
        <p:spPr/>
        <p:txBody>
          <a:bodyPr/>
          <a:lstStyle/>
          <a:p>
            <a:endParaRPr lang="en-GB"/>
          </a:p>
        </p:txBody>
      </p:sp>
      <p:sp>
        <p:nvSpPr>
          <p:cNvPr id="6" name="Platshållare för bildnummer 5"/>
          <p:cNvSpPr>
            <a:spLocks noGrp="1"/>
          </p:cNvSpPr>
          <p:nvPr>
            <p:ph type="sldNum" sz="quarter" idx="12"/>
          </p:nvPr>
        </p:nvSpPr>
        <p:spPr/>
        <p:txBody>
          <a:bodyPr/>
          <a:lstStyle/>
          <a:p>
            <a:fld id="{2333C795-71E1-4E2B-8AE3-9AEA85F7CCB9}" type="slidenum">
              <a:rPr lang="en-GB" smtClean="0"/>
              <a:t>‹#›</a:t>
            </a:fld>
            <a:endParaRPr lang="en-GB"/>
          </a:p>
        </p:txBody>
      </p:sp>
    </p:spTree>
    <p:extLst>
      <p:ext uri="{BB962C8B-B14F-4D97-AF65-F5344CB8AC3E}">
        <p14:creationId xmlns:p14="http://schemas.microsoft.com/office/powerpoint/2010/main" val="1175869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831850" y="1709738"/>
            <a:ext cx="10515600" cy="2852737"/>
          </a:xfrm>
        </p:spPr>
        <p:txBody>
          <a:bodyPr anchor="b"/>
          <a:lstStyle>
            <a:lvl1pPr>
              <a:defRPr sz="6000"/>
            </a:lvl1pPr>
          </a:lstStyle>
          <a:p>
            <a:r>
              <a:rPr lang="sv-SE"/>
              <a:t>Klicka här för att ändra format</a:t>
            </a:r>
            <a:endParaRPr lang="en-GB"/>
          </a:p>
        </p:txBody>
      </p:sp>
      <p:sp>
        <p:nvSpPr>
          <p:cNvPr id="3" name="Platshållare för tex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Redigera format för bakgrundstext</a:t>
            </a:r>
          </a:p>
        </p:txBody>
      </p:sp>
      <p:sp>
        <p:nvSpPr>
          <p:cNvPr id="4" name="Platshållare för datum 3"/>
          <p:cNvSpPr>
            <a:spLocks noGrp="1"/>
          </p:cNvSpPr>
          <p:nvPr>
            <p:ph type="dt" sz="half" idx="10"/>
          </p:nvPr>
        </p:nvSpPr>
        <p:spPr/>
        <p:txBody>
          <a:bodyPr/>
          <a:lstStyle/>
          <a:p>
            <a:fld id="{893FF893-566F-4309-9BA4-97EF6E9F3388}" type="datetimeFigureOut">
              <a:rPr lang="en-GB" smtClean="0"/>
              <a:t>19/01/2026</a:t>
            </a:fld>
            <a:endParaRPr lang="en-GB"/>
          </a:p>
        </p:txBody>
      </p:sp>
      <p:sp>
        <p:nvSpPr>
          <p:cNvPr id="5" name="Platshållare för sidfot 4"/>
          <p:cNvSpPr>
            <a:spLocks noGrp="1"/>
          </p:cNvSpPr>
          <p:nvPr>
            <p:ph type="ftr" sz="quarter" idx="11"/>
          </p:nvPr>
        </p:nvSpPr>
        <p:spPr/>
        <p:txBody>
          <a:bodyPr/>
          <a:lstStyle/>
          <a:p>
            <a:endParaRPr lang="en-GB"/>
          </a:p>
        </p:txBody>
      </p:sp>
      <p:sp>
        <p:nvSpPr>
          <p:cNvPr id="6" name="Platshållare för bildnummer 5"/>
          <p:cNvSpPr>
            <a:spLocks noGrp="1"/>
          </p:cNvSpPr>
          <p:nvPr>
            <p:ph type="sldNum" sz="quarter" idx="12"/>
          </p:nvPr>
        </p:nvSpPr>
        <p:spPr/>
        <p:txBody>
          <a:bodyPr/>
          <a:lstStyle/>
          <a:p>
            <a:fld id="{2333C795-71E1-4E2B-8AE3-9AEA85F7CCB9}" type="slidenum">
              <a:rPr lang="en-GB" smtClean="0"/>
              <a:t>‹#›</a:t>
            </a:fld>
            <a:endParaRPr lang="en-GB"/>
          </a:p>
        </p:txBody>
      </p:sp>
    </p:spTree>
    <p:extLst>
      <p:ext uri="{BB962C8B-B14F-4D97-AF65-F5344CB8AC3E}">
        <p14:creationId xmlns:p14="http://schemas.microsoft.com/office/powerpoint/2010/main" val="3481849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endParaRPr lang="en-GB"/>
          </a:p>
        </p:txBody>
      </p:sp>
      <p:sp>
        <p:nvSpPr>
          <p:cNvPr id="3" name="Platshållare för innehåll 2"/>
          <p:cNvSpPr>
            <a:spLocks noGrp="1"/>
          </p:cNvSpPr>
          <p:nvPr>
            <p:ph sz="half" idx="1"/>
          </p:nvPr>
        </p:nvSpPr>
        <p:spPr>
          <a:xfrm>
            <a:off x="838200" y="1825625"/>
            <a:ext cx="5181600" cy="4351338"/>
          </a:xfrm>
        </p:spPr>
        <p:txBody>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endParaRPr lang="en-GB"/>
          </a:p>
        </p:txBody>
      </p:sp>
      <p:sp>
        <p:nvSpPr>
          <p:cNvPr id="4" name="Platshållare för innehåll 3"/>
          <p:cNvSpPr>
            <a:spLocks noGrp="1"/>
          </p:cNvSpPr>
          <p:nvPr>
            <p:ph sz="half" idx="2"/>
          </p:nvPr>
        </p:nvSpPr>
        <p:spPr>
          <a:xfrm>
            <a:off x="6172200" y="1825625"/>
            <a:ext cx="5181600" cy="4351338"/>
          </a:xfrm>
        </p:spPr>
        <p:txBody>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endParaRPr lang="en-GB"/>
          </a:p>
        </p:txBody>
      </p:sp>
      <p:sp>
        <p:nvSpPr>
          <p:cNvPr id="5" name="Platshållare för datum 4"/>
          <p:cNvSpPr>
            <a:spLocks noGrp="1"/>
          </p:cNvSpPr>
          <p:nvPr>
            <p:ph type="dt" sz="half" idx="10"/>
          </p:nvPr>
        </p:nvSpPr>
        <p:spPr/>
        <p:txBody>
          <a:bodyPr/>
          <a:lstStyle/>
          <a:p>
            <a:fld id="{893FF893-566F-4309-9BA4-97EF6E9F3388}" type="datetimeFigureOut">
              <a:rPr lang="en-GB" smtClean="0"/>
              <a:t>19/01/2026</a:t>
            </a:fld>
            <a:endParaRPr lang="en-GB"/>
          </a:p>
        </p:txBody>
      </p:sp>
      <p:sp>
        <p:nvSpPr>
          <p:cNvPr id="6" name="Platshållare för sidfot 5"/>
          <p:cNvSpPr>
            <a:spLocks noGrp="1"/>
          </p:cNvSpPr>
          <p:nvPr>
            <p:ph type="ftr" sz="quarter" idx="11"/>
          </p:nvPr>
        </p:nvSpPr>
        <p:spPr/>
        <p:txBody>
          <a:bodyPr/>
          <a:lstStyle/>
          <a:p>
            <a:endParaRPr lang="en-GB"/>
          </a:p>
        </p:txBody>
      </p:sp>
      <p:sp>
        <p:nvSpPr>
          <p:cNvPr id="7" name="Platshållare för bildnummer 6"/>
          <p:cNvSpPr>
            <a:spLocks noGrp="1"/>
          </p:cNvSpPr>
          <p:nvPr>
            <p:ph type="sldNum" sz="quarter" idx="12"/>
          </p:nvPr>
        </p:nvSpPr>
        <p:spPr/>
        <p:txBody>
          <a:bodyPr/>
          <a:lstStyle/>
          <a:p>
            <a:fld id="{2333C795-71E1-4E2B-8AE3-9AEA85F7CCB9}" type="slidenum">
              <a:rPr lang="en-GB" smtClean="0"/>
              <a:t>‹#›</a:t>
            </a:fld>
            <a:endParaRPr lang="en-GB"/>
          </a:p>
        </p:txBody>
      </p:sp>
    </p:spTree>
    <p:extLst>
      <p:ext uri="{BB962C8B-B14F-4D97-AF65-F5344CB8AC3E}">
        <p14:creationId xmlns:p14="http://schemas.microsoft.com/office/powerpoint/2010/main" val="1898148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839788" y="365125"/>
            <a:ext cx="10515600" cy="1325563"/>
          </a:xfrm>
        </p:spPr>
        <p:txBody>
          <a:bodyPr/>
          <a:lstStyle/>
          <a:p>
            <a:r>
              <a:rPr lang="sv-SE"/>
              <a:t>Klicka här för att ändra format</a:t>
            </a:r>
            <a:endParaRPr lang="en-GB"/>
          </a:p>
        </p:txBody>
      </p:sp>
      <p:sp>
        <p:nvSpPr>
          <p:cNvPr id="3" name="Platshållare för tex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Redigera format för bakgrundstext</a:t>
            </a:r>
          </a:p>
        </p:txBody>
      </p:sp>
      <p:sp>
        <p:nvSpPr>
          <p:cNvPr id="4" name="Platshållare för innehåll 3"/>
          <p:cNvSpPr>
            <a:spLocks noGrp="1"/>
          </p:cNvSpPr>
          <p:nvPr>
            <p:ph sz="half" idx="2"/>
          </p:nvPr>
        </p:nvSpPr>
        <p:spPr>
          <a:xfrm>
            <a:off x="839788" y="2505075"/>
            <a:ext cx="5157787" cy="3684588"/>
          </a:xfrm>
        </p:spPr>
        <p:txBody>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endParaRPr lang="en-GB"/>
          </a:p>
        </p:txBody>
      </p:sp>
      <p:sp>
        <p:nvSpPr>
          <p:cNvPr id="5" name="Platshållare för tex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Redigera format för bakgrundstext</a:t>
            </a:r>
          </a:p>
        </p:txBody>
      </p:sp>
      <p:sp>
        <p:nvSpPr>
          <p:cNvPr id="6" name="Platshållare för innehåll 5"/>
          <p:cNvSpPr>
            <a:spLocks noGrp="1"/>
          </p:cNvSpPr>
          <p:nvPr>
            <p:ph sz="quarter" idx="4"/>
          </p:nvPr>
        </p:nvSpPr>
        <p:spPr>
          <a:xfrm>
            <a:off x="6172200" y="2505075"/>
            <a:ext cx="5183188" cy="3684588"/>
          </a:xfrm>
        </p:spPr>
        <p:txBody>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endParaRPr lang="en-GB"/>
          </a:p>
        </p:txBody>
      </p:sp>
      <p:sp>
        <p:nvSpPr>
          <p:cNvPr id="7" name="Platshållare för datum 6"/>
          <p:cNvSpPr>
            <a:spLocks noGrp="1"/>
          </p:cNvSpPr>
          <p:nvPr>
            <p:ph type="dt" sz="half" idx="10"/>
          </p:nvPr>
        </p:nvSpPr>
        <p:spPr/>
        <p:txBody>
          <a:bodyPr/>
          <a:lstStyle/>
          <a:p>
            <a:fld id="{893FF893-566F-4309-9BA4-97EF6E9F3388}" type="datetimeFigureOut">
              <a:rPr lang="en-GB" smtClean="0"/>
              <a:t>19/01/2026</a:t>
            </a:fld>
            <a:endParaRPr lang="en-GB"/>
          </a:p>
        </p:txBody>
      </p:sp>
      <p:sp>
        <p:nvSpPr>
          <p:cNvPr id="8" name="Platshållare för sidfot 7"/>
          <p:cNvSpPr>
            <a:spLocks noGrp="1"/>
          </p:cNvSpPr>
          <p:nvPr>
            <p:ph type="ftr" sz="quarter" idx="11"/>
          </p:nvPr>
        </p:nvSpPr>
        <p:spPr/>
        <p:txBody>
          <a:bodyPr/>
          <a:lstStyle/>
          <a:p>
            <a:endParaRPr lang="en-GB"/>
          </a:p>
        </p:txBody>
      </p:sp>
      <p:sp>
        <p:nvSpPr>
          <p:cNvPr id="9" name="Platshållare för bildnummer 8"/>
          <p:cNvSpPr>
            <a:spLocks noGrp="1"/>
          </p:cNvSpPr>
          <p:nvPr>
            <p:ph type="sldNum" sz="quarter" idx="12"/>
          </p:nvPr>
        </p:nvSpPr>
        <p:spPr/>
        <p:txBody>
          <a:bodyPr/>
          <a:lstStyle/>
          <a:p>
            <a:fld id="{2333C795-71E1-4E2B-8AE3-9AEA85F7CCB9}" type="slidenum">
              <a:rPr lang="en-GB" smtClean="0"/>
              <a:t>‹#›</a:t>
            </a:fld>
            <a:endParaRPr lang="en-GB"/>
          </a:p>
        </p:txBody>
      </p:sp>
    </p:spTree>
    <p:extLst>
      <p:ext uri="{BB962C8B-B14F-4D97-AF65-F5344CB8AC3E}">
        <p14:creationId xmlns:p14="http://schemas.microsoft.com/office/powerpoint/2010/main" val="1972874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endParaRPr lang="en-GB"/>
          </a:p>
        </p:txBody>
      </p:sp>
      <p:sp>
        <p:nvSpPr>
          <p:cNvPr id="3" name="Platshållare för datum 2"/>
          <p:cNvSpPr>
            <a:spLocks noGrp="1"/>
          </p:cNvSpPr>
          <p:nvPr>
            <p:ph type="dt" sz="half" idx="10"/>
          </p:nvPr>
        </p:nvSpPr>
        <p:spPr/>
        <p:txBody>
          <a:bodyPr/>
          <a:lstStyle/>
          <a:p>
            <a:fld id="{893FF893-566F-4309-9BA4-97EF6E9F3388}" type="datetimeFigureOut">
              <a:rPr lang="en-GB" smtClean="0"/>
              <a:t>19/01/2026</a:t>
            </a:fld>
            <a:endParaRPr lang="en-GB"/>
          </a:p>
        </p:txBody>
      </p:sp>
      <p:sp>
        <p:nvSpPr>
          <p:cNvPr id="4" name="Platshållare för sidfot 3"/>
          <p:cNvSpPr>
            <a:spLocks noGrp="1"/>
          </p:cNvSpPr>
          <p:nvPr>
            <p:ph type="ftr" sz="quarter" idx="11"/>
          </p:nvPr>
        </p:nvSpPr>
        <p:spPr/>
        <p:txBody>
          <a:bodyPr/>
          <a:lstStyle/>
          <a:p>
            <a:endParaRPr lang="en-GB"/>
          </a:p>
        </p:txBody>
      </p:sp>
      <p:sp>
        <p:nvSpPr>
          <p:cNvPr id="5" name="Platshållare för bildnummer 4"/>
          <p:cNvSpPr>
            <a:spLocks noGrp="1"/>
          </p:cNvSpPr>
          <p:nvPr>
            <p:ph type="sldNum" sz="quarter" idx="12"/>
          </p:nvPr>
        </p:nvSpPr>
        <p:spPr/>
        <p:txBody>
          <a:bodyPr/>
          <a:lstStyle/>
          <a:p>
            <a:fld id="{2333C795-71E1-4E2B-8AE3-9AEA85F7CCB9}" type="slidenum">
              <a:rPr lang="en-GB" smtClean="0"/>
              <a:t>‹#›</a:t>
            </a:fld>
            <a:endParaRPr lang="en-GB"/>
          </a:p>
        </p:txBody>
      </p:sp>
    </p:spTree>
    <p:extLst>
      <p:ext uri="{BB962C8B-B14F-4D97-AF65-F5344CB8AC3E}">
        <p14:creationId xmlns:p14="http://schemas.microsoft.com/office/powerpoint/2010/main" val="1209333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893FF893-566F-4309-9BA4-97EF6E9F3388}" type="datetimeFigureOut">
              <a:rPr lang="en-GB" smtClean="0"/>
              <a:t>19/01/2026</a:t>
            </a:fld>
            <a:endParaRPr lang="en-GB"/>
          </a:p>
        </p:txBody>
      </p:sp>
      <p:sp>
        <p:nvSpPr>
          <p:cNvPr id="3" name="Platshållare för sidfot 2"/>
          <p:cNvSpPr>
            <a:spLocks noGrp="1"/>
          </p:cNvSpPr>
          <p:nvPr>
            <p:ph type="ftr" sz="quarter" idx="11"/>
          </p:nvPr>
        </p:nvSpPr>
        <p:spPr/>
        <p:txBody>
          <a:bodyPr/>
          <a:lstStyle/>
          <a:p>
            <a:endParaRPr lang="en-GB"/>
          </a:p>
        </p:txBody>
      </p:sp>
      <p:sp>
        <p:nvSpPr>
          <p:cNvPr id="4" name="Platshållare för bildnummer 3"/>
          <p:cNvSpPr>
            <a:spLocks noGrp="1"/>
          </p:cNvSpPr>
          <p:nvPr>
            <p:ph type="sldNum" sz="quarter" idx="12"/>
          </p:nvPr>
        </p:nvSpPr>
        <p:spPr/>
        <p:txBody>
          <a:bodyPr/>
          <a:lstStyle/>
          <a:p>
            <a:fld id="{2333C795-71E1-4E2B-8AE3-9AEA85F7CCB9}" type="slidenum">
              <a:rPr lang="en-GB" smtClean="0"/>
              <a:t>‹#›</a:t>
            </a:fld>
            <a:endParaRPr lang="en-GB"/>
          </a:p>
        </p:txBody>
      </p:sp>
    </p:spTree>
    <p:extLst>
      <p:ext uri="{BB962C8B-B14F-4D97-AF65-F5344CB8AC3E}">
        <p14:creationId xmlns:p14="http://schemas.microsoft.com/office/powerpoint/2010/main" val="3103289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839788" y="457200"/>
            <a:ext cx="3932237" cy="1600200"/>
          </a:xfrm>
        </p:spPr>
        <p:txBody>
          <a:bodyPr anchor="b"/>
          <a:lstStyle>
            <a:lvl1pPr>
              <a:defRPr sz="3200"/>
            </a:lvl1pPr>
          </a:lstStyle>
          <a:p>
            <a:r>
              <a:rPr lang="sv-SE"/>
              <a:t>Klicka här för att ändra format</a:t>
            </a:r>
            <a:endParaRPr lang="en-GB"/>
          </a:p>
        </p:txBody>
      </p:sp>
      <p:sp>
        <p:nvSpPr>
          <p:cNvPr id="3" name="Platshållare för innehåll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endParaRPr lang="en-GB"/>
          </a:p>
        </p:txBody>
      </p:sp>
      <p:sp>
        <p:nvSpPr>
          <p:cNvPr id="4" name="Platshållare för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Redigera format för bakgrundstext</a:t>
            </a:r>
          </a:p>
        </p:txBody>
      </p:sp>
      <p:sp>
        <p:nvSpPr>
          <p:cNvPr id="5" name="Platshållare för datum 4"/>
          <p:cNvSpPr>
            <a:spLocks noGrp="1"/>
          </p:cNvSpPr>
          <p:nvPr>
            <p:ph type="dt" sz="half" idx="10"/>
          </p:nvPr>
        </p:nvSpPr>
        <p:spPr/>
        <p:txBody>
          <a:bodyPr/>
          <a:lstStyle/>
          <a:p>
            <a:fld id="{893FF893-566F-4309-9BA4-97EF6E9F3388}" type="datetimeFigureOut">
              <a:rPr lang="en-GB" smtClean="0"/>
              <a:t>19/01/2026</a:t>
            </a:fld>
            <a:endParaRPr lang="en-GB"/>
          </a:p>
        </p:txBody>
      </p:sp>
      <p:sp>
        <p:nvSpPr>
          <p:cNvPr id="6" name="Platshållare för sidfot 5"/>
          <p:cNvSpPr>
            <a:spLocks noGrp="1"/>
          </p:cNvSpPr>
          <p:nvPr>
            <p:ph type="ftr" sz="quarter" idx="11"/>
          </p:nvPr>
        </p:nvSpPr>
        <p:spPr/>
        <p:txBody>
          <a:bodyPr/>
          <a:lstStyle/>
          <a:p>
            <a:endParaRPr lang="en-GB"/>
          </a:p>
        </p:txBody>
      </p:sp>
      <p:sp>
        <p:nvSpPr>
          <p:cNvPr id="7" name="Platshållare för bildnummer 6"/>
          <p:cNvSpPr>
            <a:spLocks noGrp="1"/>
          </p:cNvSpPr>
          <p:nvPr>
            <p:ph type="sldNum" sz="quarter" idx="12"/>
          </p:nvPr>
        </p:nvSpPr>
        <p:spPr/>
        <p:txBody>
          <a:bodyPr/>
          <a:lstStyle/>
          <a:p>
            <a:fld id="{2333C795-71E1-4E2B-8AE3-9AEA85F7CCB9}" type="slidenum">
              <a:rPr lang="en-GB" smtClean="0"/>
              <a:t>‹#›</a:t>
            </a:fld>
            <a:endParaRPr lang="en-GB"/>
          </a:p>
        </p:txBody>
      </p:sp>
    </p:spTree>
    <p:extLst>
      <p:ext uri="{BB962C8B-B14F-4D97-AF65-F5344CB8AC3E}">
        <p14:creationId xmlns:p14="http://schemas.microsoft.com/office/powerpoint/2010/main" val="2037806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839788" y="457200"/>
            <a:ext cx="3932237" cy="1600200"/>
          </a:xfrm>
        </p:spPr>
        <p:txBody>
          <a:bodyPr anchor="b"/>
          <a:lstStyle>
            <a:lvl1pPr>
              <a:defRPr sz="3200"/>
            </a:lvl1pPr>
          </a:lstStyle>
          <a:p>
            <a:r>
              <a:rPr lang="sv-SE"/>
              <a:t>Klicka här för att ändra format</a:t>
            </a:r>
            <a:endParaRPr lang="en-GB"/>
          </a:p>
        </p:txBody>
      </p:sp>
      <p:sp>
        <p:nvSpPr>
          <p:cNvPr id="3" name="Platshållare för bild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Platshållare för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Redigera format för bakgrundstext</a:t>
            </a:r>
          </a:p>
        </p:txBody>
      </p:sp>
      <p:sp>
        <p:nvSpPr>
          <p:cNvPr id="5" name="Platshållare för datum 4"/>
          <p:cNvSpPr>
            <a:spLocks noGrp="1"/>
          </p:cNvSpPr>
          <p:nvPr>
            <p:ph type="dt" sz="half" idx="10"/>
          </p:nvPr>
        </p:nvSpPr>
        <p:spPr/>
        <p:txBody>
          <a:bodyPr/>
          <a:lstStyle/>
          <a:p>
            <a:fld id="{893FF893-566F-4309-9BA4-97EF6E9F3388}" type="datetimeFigureOut">
              <a:rPr lang="en-GB" smtClean="0"/>
              <a:t>19/01/2026</a:t>
            </a:fld>
            <a:endParaRPr lang="en-GB"/>
          </a:p>
        </p:txBody>
      </p:sp>
      <p:sp>
        <p:nvSpPr>
          <p:cNvPr id="6" name="Platshållare för sidfot 5"/>
          <p:cNvSpPr>
            <a:spLocks noGrp="1"/>
          </p:cNvSpPr>
          <p:nvPr>
            <p:ph type="ftr" sz="quarter" idx="11"/>
          </p:nvPr>
        </p:nvSpPr>
        <p:spPr/>
        <p:txBody>
          <a:bodyPr/>
          <a:lstStyle/>
          <a:p>
            <a:endParaRPr lang="en-GB"/>
          </a:p>
        </p:txBody>
      </p:sp>
      <p:sp>
        <p:nvSpPr>
          <p:cNvPr id="7" name="Platshållare för bildnummer 6"/>
          <p:cNvSpPr>
            <a:spLocks noGrp="1"/>
          </p:cNvSpPr>
          <p:nvPr>
            <p:ph type="sldNum" sz="quarter" idx="12"/>
          </p:nvPr>
        </p:nvSpPr>
        <p:spPr/>
        <p:txBody>
          <a:bodyPr/>
          <a:lstStyle/>
          <a:p>
            <a:fld id="{2333C795-71E1-4E2B-8AE3-9AEA85F7CCB9}" type="slidenum">
              <a:rPr lang="en-GB" smtClean="0"/>
              <a:t>‹#›</a:t>
            </a:fld>
            <a:endParaRPr lang="en-GB"/>
          </a:p>
        </p:txBody>
      </p:sp>
    </p:spTree>
    <p:extLst>
      <p:ext uri="{BB962C8B-B14F-4D97-AF65-F5344CB8AC3E}">
        <p14:creationId xmlns:p14="http://schemas.microsoft.com/office/powerpoint/2010/main" val="424075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endParaRPr lang="en-GB"/>
          </a:p>
        </p:txBody>
      </p:sp>
      <p:sp>
        <p:nvSpPr>
          <p:cNvPr id="3" name="Platshållare för lodrät text 2"/>
          <p:cNvSpPr>
            <a:spLocks noGrp="1"/>
          </p:cNvSpPr>
          <p:nvPr>
            <p:ph type="body" orient="vert" idx="1"/>
          </p:nvPr>
        </p:nvSpPr>
        <p:spPr/>
        <p:txBody>
          <a:bodyPr vert="eaVert"/>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endParaRPr lang="en-GB"/>
          </a:p>
        </p:txBody>
      </p:sp>
      <p:sp>
        <p:nvSpPr>
          <p:cNvPr id="4" name="Platshållare för datum 3"/>
          <p:cNvSpPr>
            <a:spLocks noGrp="1"/>
          </p:cNvSpPr>
          <p:nvPr>
            <p:ph type="dt" sz="half" idx="10"/>
          </p:nvPr>
        </p:nvSpPr>
        <p:spPr/>
        <p:txBody>
          <a:bodyPr/>
          <a:lstStyle/>
          <a:p>
            <a:fld id="{893FF893-566F-4309-9BA4-97EF6E9F3388}" type="datetimeFigureOut">
              <a:rPr lang="en-GB" smtClean="0"/>
              <a:t>19/01/2026</a:t>
            </a:fld>
            <a:endParaRPr lang="en-GB"/>
          </a:p>
        </p:txBody>
      </p:sp>
      <p:sp>
        <p:nvSpPr>
          <p:cNvPr id="5" name="Platshållare för sidfot 4"/>
          <p:cNvSpPr>
            <a:spLocks noGrp="1"/>
          </p:cNvSpPr>
          <p:nvPr>
            <p:ph type="ftr" sz="quarter" idx="11"/>
          </p:nvPr>
        </p:nvSpPr>
        <p:spPr/>
        <p:txBody>
          <a:bodyPr/>
          <a:lstStyle/>
          <a:p>
            <a:endParaRPr lang="en-GB"/>
          </a:p>
        </p:txBody>
      </p:sp>
      <p:sp>
        <p:nvSpPr>
          <p:cNvPr id="6" name="Platshållare för bildnummer 5"/>
          <p:cNvSpPr>
            <a:spLocks noGrp="1"/>
          </p:cNvSpPr>
          <p:nvPr>
            <p:ph type="sldNum" sz="quarter" idx="12"/>
          </p:nvPr>
        </p:nvSpPr>
        <p:spPr/>
        <p:txBody>
          <a:bodyPr/>
          <a:lstStyle/>
          <a:p>
            <a:fld id="{2333C795-71E1-4E2B-8AE3-9AEA85F7CCB9}" type="slidenum">
              <a:rPr lang="en-GB" smtClean="0"/>
              <a:t>‹#›</a:t>
            </a:fld>
            <a:endParaRPr lang="en-GB"/>
          </a:p>
        </p:txBody>
      </p:sp>
    </p:spTree>
    <p:extLst>
      <p:ext uri="{BB962C8B-B14F-4D97-AF65-F5344CB8AC3E}">
        <p14:creationId xmlns:p14="http://schemas.microsoft.com/office/powerpoint/2010/main" val="1086043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8724900" y="365125"/>
            <a:ext cx="2628900" cy="5811838"/>
          </a:xfrm>
        </p:spPr>
        <p:txBody>
          <a:bodyPr vert="eaVert"/>
          <a:lstStyle/>
          <a:p>
            <a:r>
              <a:rPr lang="sv-SE"/>
              <a:t>Klicka här för att ändra format</a:t>
            </a:r>
            <a:endParaRPr lang="en-GB"/>
          </a:p>
        </p:txBody>
      </p:sp>
      <p:sp>
        <p:nvSpPr>
          <p:cNvPr id="3" name="Platshållare för lodrät text 2"/>
          <p:cNvSpPr>
            <a:spLocks noGrp="1"/>
          </p:cNvSpPr>
          <p:nvPr>
            <p:ph type="body" orient="vert" idx="1"/>
          </p:nvPr>
        </p:nvSpPr>
        <p:spPr>
          <a:xfrm>
            <a:off x="838200" y="365125"/>
            <a:ext cx="7734300" cy="5811838"/>
          </a:xfrm>
        </p:spPr>
        <p:txBody>
          <a:bodyPr vert="eaVert"/>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endParaRPr lang="en-GB"/>
          </a:p>
        </p:txBody>
      </p:sp>
      <p:sp>
        <p:nvSpPr>
          <p:cNvPr id="4" name="Platshållare för datum 3"/>
          <p:cNvSpPr>
            <a:spLocks noGrp="1"/>
          </p:cNvSpPr>
          <p:nvPr>
            <p:ph type="dt" sz="half" idx="10"/>
          </p:nvPr>
        </p:nvSpPr>
        <p:spPr/>
        <p:txBody>
          <a:bodyPr/>
          <a:lstStyle/>
          <a:p>
            <a:fld id="{893FF893-566F-4309-9BA4-97EF6E9F3388}" type="datetimeFigureOut">
              <a:rPr lang="en-GB" smtClean="0"/>
              <a:t>19/01/2026</a:t>
            </a:fld>
            <a:endParaRPr lang="en-GB"/>
          </a:p>
        </p:txBody>
      </p:sp>
      <p:sp>
        <p:nvSpPr>
          <p:cNvPr id="5" name="Platshållare för sidfot 4"/>
          <p:cNvSpPr>
            <a:spLocks noGrp="1"/>
          </p:cNvSpPr>
          <p:nvPr>
            <p:ph type="ftr" sz="quarter" idx="11"/>
          </p:nvPr>
        </p:nvSpPr>
        <p:spPr/>
        <p:txBody>
          <a:bodyPr/>
          <a:lstStyle/>
          <a:p>
            <a:endParaRPr lang="en-GB"/>
          </a:p>
        </p:txBody>
      </p:sp>
      <p:sp>
        <p:nvSpPr>
          <p:cNvPr id="6" name="Platshållare för bildnummer 5"/>
          <p:cNvSpPr>
            <a:spLocks noGrp="1"/>
          </p:cNvSpPr>
          <p:nvPr>
            <p:ph type="sldNum" sz="quarter" idx="12"/>
          </p:nvPr>
        </p:nvSpPr>
        <p:spPr/>
        <p:txBody>
          <a:bodyPr/>
          <a:lstStyle/>
          <a:p>
            <a:fld id="{2333C795-71E1-4E2B-8AE3-9AEA85F7CCB9}" type="slidenum">
              <a:rPr lang="en-GB" smtClean="0"/>
              <a:t>‹#›</a:t>
            </a:fld>
            <a:endParaRPr lang="en-GB"/>
          </a:p>
        </p:txBody>
      </p:sp>
    </p:spTree>
    <p:extLst>
      <p:ext uri="{BB962C8B-B14F-4D97-AF65-F5344CB8AC3E}">
        <p14:creationId xmlns:p14="http://schemas.microsoft.com/office/powerpoint/2010/main" val="2709162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format</a:t>
            </a:r>
            <a:endParaRPr lang="en-GB"/>
          </a:p>
        </p:txBody>
      </p:sp>
      <p:sp>
        <p:nvSpPr>
          <p:cNvPr id="3" name="Platshållare för tex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endParaRPr lang="en-GB"/>
          </a:p>
        </p:txBody>
      </p:sp>
      <p:sp>
        <p:nvSpPr>
          <p:cNvPr id="4" name="Platshållare för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3FF893-566F-4309-9BA4-97EF6E9F3388}" type="datetimeFigureOut">
              <a:rPr lang="en-GB" smtClean="0"/>
              <a:t>19/01/2026</a:t>
            </a:fld>
            <a:endParaRPr lang="en-GB"/>
          </a:p>
        </p:txBody>
      </p:sp>
      <p:sp>
        <p:nvSpPr>
          <p:cNvPr id="5" name="Platshållare för sidfo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Platshållare för bild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33C795-71E1-4E2B-8AE3-9AEA85F7CCB9}" type="slidenum">
              <a:rPr lang="en-GB" smtClean="0"/>
              <a:t>‹#›</a:t>
            </a:fld>
            <a:endParaRPr lang="en-GB"/>
          </a:p>
        </p:txBody>
      </p:sp>
    </p:spTree>
    <p:extLst>
      <p:ext uri="{BB962C8B-B14F-4D97-AF65-F5344CB8AC3E}">
        <p14:creationId xmlns:p14="http://schemas.microsoft.com/office/powerpoint/2010/main" val="3987773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koeck@kth.se"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filmplatform.net/login/" TargetMode="External"/><Relationship Id="rId2" Type="http://schemas.openxmlformats.org/officeDocument/2006/relationships/hyperlink" Target="https://medtech4health.se/wp-content/uploads/2022/04/Gender-Equality-Handbook_REV1_K1.pdf" TargetMode="External"/><Relationship Id="rId1" Type="http://schemas.openxmlformats.org/officeDocument/2006/relationships/slideLayout" Target="../slideLayouts/slideLayout2.xml"/><Relationship Id="rId4" Type="http://schemas.openxmlformats.org/officeDocument/2006/relationships/hyperlink" Target="http://www.filmplatform.net/product/picture-a-scientis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err="1"/>
              <a:t>Welcome</a:t>
            </a:r>
            <a:r>
              <a:rPr lang="sv-SE" dirty="0"/>
              <a:t> to the spring term </a:t>
            </a:r>
            <a:r>
              <a:rPr lang="sv-SE" dirty="0" err="1"/>
              <a:t>of</a:t>
            </a:r>
            <a:br>
              <a:rPr lang="sv-SE" dirty="0"/>
            </a:br>
            <a:r>
              <a:rPr lang="sv-SE" dirty="0"/>
              <a:t>the </a:t>
            </a:r>
            <a:r>
              <a:rPr lang="sv-SE" dirty="0" err="1"/>
              <a:t>project</a:t>
            </a:r>
            <a:r>
              <a:rPr lang="sv-SE" dirty="0"/>
              <a:t> </a:t>
            </a:r>
            <a:r>
              <a:rPr lang="sv-SE" dirty="0" err="1"/>
              <a:t>carrier</a:t>
            </a:r>
            <a:r>
              <a:rPr lang="sv-SE" dirty="0"/>
              <a:t> </a:t>
            </a:r>
            <a:r>
              <a:rPr lang="sv-SE" dirty="0" err="1"/>
              <a:t>course</a:t>
            </a:r>
            <a:r>
              <a:rPr lang="sv-SE" dirty="0"/>
              <a:t>!</a:t>
            </a:r>
            <a:endParaRPr lang="en-GB" dirty="0"/>
          </a:p>
        </p:txBody>
      </p:sp>
      <p:sp>
        <p:nvSpPr>
          <p:cNvPr id="3" name="Platshållare för innehåll 2"/>
          <p:cNvSpPr>
            <a:spLocks noGrp="1"/>
          </p:cNvSpPr>
          <p:nvPr>
            <p:ph idx="1"/>
          </p:nvPr>
        </p:nvSpPr>
        <p:spPr>
          <a:xfrm>
            <a:off x="838200" y="2130641"/>
            <a:ext cx="10515600" cy="4046322"/>
          </a:xfrm>
        </p:spPr>
        <p:txBody>
          <a:bodyPr/>
          <a:lstStyle/>
          <a:p>
            <a:r>
              <a:rPr lang="sv-SE" dirty="0"/>
              <a:t>Philip Koeck, </a:t>
            </a:r>
            <a:r>
              <a:rPr lang="sv-SE" dirty="0">
                <a:hlinkClick r:id="rId2"/>
              </a:rPr>
              <a:t>koeck@kth.se</a:t>
            </a:r>
            <a:endParaRPr lang="sv-SE" dirty="0"/>
          </a:p>
        </p:txBody>
      </p:sp>
    </p:spTree>
    <p:extLst>
      <p:ext uri="{BB962C8B-B14F-4D97-AF65-F5344CB8AC3E}">
        <p14:creationId xmlns:p14="http://schemas.microsoft.com/office/powerpoint/2010/main" val="575779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derrubrik 2"/>
          <p:cNvSpPr>
            <a:spLocks noGrp="1"/>
          </p:cNvSpPr>
          <p:nvPr>
            <p:ph type="subTitle" idx="1"/>
          </p:nvPr>
        </p:nvSpPr>
        <p:spPr>
          <a:xfrm>
            <a:off x="62145" y="122464"/>
            <a:ext cx="12055874" cy="6735536"/>
          </a:xfrm>
        </p:spPr>
        <p:txBody>
          <a:bodyPr>
            <a:normAutofit fontScale="62500" lnSpcReduction="20000"/>
          </a:bodyPr>
          <a:lstStyle/>
          <a:p>
            <a:pPr algn="l"/>
            <a:r>
              <a:rPr lang="en-GB" sz="3800" b="1" dirty="0"/>
              <a:t>Student activities in CM2016 and CM2017</a:t>
            </a:r>
            <a:endParaRPr lang="en-GB" sz="3800" dirty="0"/>
          </a:p>
          <a:p>
            <a:pPr algn="l"/>
            <a:r>
              <a:rPr lang="en-GB" sz="2900" dirty="0"/>
              <a:t> </a:t>
            </a:r>
          </a:p>
          <a:p>
            <a:pPr algn="l"/>
            <a:r>
              <a:rPr lang="en-GB" sz="2900" b="1" dirty="0"/>
              <a:t>Period 3 to 4 (CM2016, 9 credits):</a:t>
            </a:r>
            <a:endParaRPr lang="en-GB" sz="2900" dirty="0"/>
          </a:p>
          <a:p>
            <a:pPr algn="l"/>
            <a:r>
              <a:rPr lang="en-GB" sz="2900" dirty="0"/>
              <a:t>Week 3-4: </a:t>
            </a:r>
            <a:r>
              <a:rPr lang="en-GB" sz="2900" b="1" dirty="0" err="1"/>
              <a:t>Startup</a:t>
            </a:r>
            <a:r>
              <a:rPr lang="en-GB" sz="2900" dirty="0"/>
              <a:t> meeting and contact the project supervisors with CC to me. JML part 1: 20 hours, upload individual reflections and “rules of engagement” as group, deadline Sunday week 4, at midnight.</a:t>
            </a:r>
          </a:p>
          <a:p>
            <a:pPr algn="l"/>
            <a:r>
              <a:rPr lang="en-GB" sz="2900" dirty="0"/>
              <a:t>Week 8: </a:t>
            </a:r>
            <a:r>
              <a:rPr lang="en-GB" sz="2900" b="1" dirty="0"/>
              <a:t>Check Point</a:t>
            </a:r>
            <a:r>
              <a:rPr lang="en-GB" sz="2900" dirty="0"/>
              <a:t>: Written reports with theoretical background, overview of field and some results due (deadline Sunday at midnight). Oral presentations (see schedule). Peer group may ask questions!</a:t>
            </a:r>
          </a:p>
          <a:p>
            <a:pPr algn="l"/>
            <a:r>
              <a:rPr lang="sv-SE" sz="2900" dirty="0" err="1"/>
              <a:t>Week</a:t>
            </a:r>
            <a:r>
              <a:rPr lang="sv-SE" sz="2900" dirty="0"/>
              <a:t> 9: Peer </a:t>
            </a:r>
            <a:r>
              <a:rPr lang="sv-SE" sz="2900" dirty="0" err="1"/>
              <a:t>review</a:t>
            </a:r>
            <a:r>
              <a:rPr lang="sv-SE" sz="2900" dirty="0"/>
              <a:t> </a:t>
            </a:r>
            <a:r>
              <a:rPr lang="sv-SE" sz="2900" dirty="0" err="1"/>
              <a:t>reports</a:t>
            </a:r>
            <a:r>
              <a:rPr lang="sv-SE" sz="2900" dirty="0"/>
              <a:t> </a:t>
            </a:r>
            <a:r>
              <a:rPr lang="sv-SE" sz="2900" dirty="0" err="1"/>
              <a:t>due</a:t>
            </a:r>
            <a:r>
              <a:rPr lang="sv-SE" sz="2900" dirty="0"/>
              <a:t> (deadline </a:t>
            </a:r>
            <a:r>
              <a:rPr lang="sv-SE" sz="2900" dirty="0" err="1"/>
              <a:t>Sunday</a:t>
            </a:r>
            <a:r>
              <a:rPr lang="sv-SE" sz="2900" dirty="0"/>
              <a:t> at </a:t>
            </a:r>
            <a:r>
              <a:rPr lang="sv-SE" sz="2900" dirty="0" err="1"/>
              <a:t>midnight</a:t>
            </a:r>
            <a:r>
              <a:rPr lang="sv-SE" sz="2900" dirty="0"/>
              <a:t>). </a:t>
            </a:r>
            <a:r>
              <a:rPr lang="sv-SE" sz="2900" dirty="0" err="1"/>
              <a:t>Each</a:t>
            </a:r>
            <a:r>
              <a:rPr lang="sv-SE" sz="2900" dirty="0"/>
              <a:t> </a:t>
            </a:r>
            <a:r>
              <a:rPr lang="sv-SE" sz="2900" dirty="0" err="1"/>
              <a:t>group</a:t>
            </a:r>
            <a:r>
              <a:rPr lang="sv-SE" sz="2900" dirty="0"/>
              <a:t> </a:t>
            </a:r>
            <a:r>
              <a:rPr lang="sv-SE" sz="2900" dirty="0" err="1"/>
              <a:t>reviews</a:t>
            </a:r>
            <a:r>
              <a:rPr lang="sv-SE" sz="2900" dirty="0"/>
              <a:t> </a:t>
            </a:r>
            <a:r>
              <a:rPr lang="sv-SE" sz="2900" dirty="0" err="1"/>
              <a:t>one</a:t>
            </a:r>
            <a:r>
              <a:rPr lang="sv-SE" sz="2900" dirty="0"/>
              <a:t> </a:t>
            </a:r>
            <a:r>
              <a:rPr lang="sv-SE" sz="2900" dirty="0" err="1"/>
              <a:t>other</a:t>
            </a:r>
            <a:r>
              <a:rPr lang="sv-SE" sz="2900" dirty="0"/>
              <a:t> </a:t>
            </a:r>
            <a:r>
              <a:rPr lang="sv-SE" sz="2900" dirty="0" err="1"/>
              <a:t>group</a:t>
            </a:r>
            <a:r>
              <a:rPr lang="sv-SE" sz="2900" dirty="0"/>
              <a:t> </a:t>
            </a:r>
            <a:r>
              <a:rPr lang="sv-SE" sz="2900" dirty="0" err="1"/>
              <a:t>during</a:t>
            </a:r>
            <a:r>
              <a:rPr lang="sv-SE" sz="2900" dirty="0"/>
              <a:t> the </a:t>
            </a:r>
            <a:r>
              <a:rPr lang="sv-SE" sz="2900" dirty="0" err="1"/>
              <a:t>whole</a:t>
            </a:r>
            <a:r>
              <a:rPr lang="sv-SE" sz="2900" dirty="0"/>
              <a:t> term.</a:t>
            </a:r>
            <a:endParaRPr lang="en-GB" sz="2900" dirty="0"/>
          </a:p>
          <a:p>
            <a:pPr algn="l"/>
            <a:r>
              <a:rPr lang="en-GB" sz="2900" dirty="0"/>
              <a:t>Week 11: </a:t>
            </a:r>
            <a:r>
              <a:rPr lang="en-GB" sz="2900" b="1" dirty="0"/>
              <a:t>Exam</a:t>
            </a:r>
            <a:r>
              <a:rPr lang="en-GB" sz="2900" dirty="0"/>
              <a:t>, which consists of: Handing in final reports (deadline Sunday at midnight) and oral presentations.</a:t>
            </a:r>
            <a:br>
              <a:rPr lang="en-GB" sz="2900" dirty="0"/>
            </a:br>
            <a:r>
              <a:rPr lang="en-GB" sz="2900" dirty="0"/>
              <a:t>Peer group asks questions (at least one question per student)!</a:t>
            </a:r>
            <a:endParaRPr lang="sv-SE" sz="2900" dirty="0"/>
          </a:p>
          <a:p>
            <a:pPr algn="l"/>
            <a:r>
              <a:rPr lang="sv-SE" sz="2900" dirty="0" err="1"/>
              <a:t>Possible</a:t>
            </a:r>
            <a:r>
              <a:rPr lang="sv-SE" sz="2900" dirty="0"/>
              <a:t> </a:t>
            </a:r>
            <a:r>
              <a:rPr lang="sv-SE" sz="2900" dirty="0" err="1"/>
              <a:t>change</a:t>
            </a:r>
            <a:r>
              <a:rPr lang="sv-SE" sz="2900" dirty="0"/>
              <a:t> </a:t>
            </a:r>
            <a:r>
              <a:rPr lang="sv-SE" sz="2900" dirty="0" err="1"/>
              <a:t>of</a:t>
            </a:r>
            <a:r>
              <a:rPr lang="sv-SE" sz="2900" dirty="0"/>
              <a:t> supervisor (make </a:t>
            </a:r>
            <a:r>
              <a:rPr lang="sv-SE" sz="2900" dirty="0" err="1"/>
              <a:t>contact</a:t>
            </a:r>
            <a:r>
              <a:rPr lang="sv-SE" sz="2900" dirty="0"/>
              <a:t> in </a:t>
            </a:r>
            <a:r>
              <a:rPr lang="sv-SE" sz="2900" dirty="0" err="1"/>
              <a:t>that</a:t>
            </a:r>
            <a:r>
              <a:rPr lang="sv-SE" sz="2900" dirty="0"/>
              <a:t> </a:t>
            </a:r>
            <a:r>
              <a:rPr lang="sv-SE" sz="2900" dirty="0" err="1"/>
              <a:t>case</a:t>
            </a:r>
            <a:r>
              <a:rPr lang="sv-SE" sz="2900" dirty="0"/>
              <a:t>)!</a:t>
            </a:r>
            <a:endParaRPr lang="en-GB" sz="2900" dirty="0"/>
          </a:p>
          <a:p>
            <a:pPr algn="l"/>
            <a:r>
              <a:rPr lang="en-GB" sz="2900" dirty="0"/>
              <a:t>Week 12 and 13: Plan projects for period 4 and write project plans. No oral presentation of project plans.</a:t>
            </a:r>
          </a:p>
          <a:p>
            <a:pPr algn="l"/>
            <a:r>
              <a:rPr lang="en-GB" sz="2900" dirty="0"/>
              <a:t>Week 13: </a:t>
            </a:r>
            <a:r>
              <a:rPr lang="en-GB" sz="2900" b="1" dirty="0"/>
              <a:t>Exam</a:t>
            </a:r>
            <a:r>
              <a:rPr lang="en-GB" sz="2900" dirty="0"/>
              <a:t>, which consists of handing in project plans (deadline Sunday at midnight).</a:t>
            </a:r>
          </a:p>
          <a:p>
            <a:pPr algn="l"/>
            <a:endParaRPr lang="en-GB" sz="2900" dirty="0"/>
          </a:p>
          <a:p>
            <a:pPr algn="l"/>
            <a:r>
              <a:rPr lang="en-GB" sz="2900" b="1" dirty="0"/>
              <a:t>Period 4 (CM2017, 6 credits):</a:t>
            </a:r>
            <a:endParaRPr lang="en-GB" sz="2900" dirty="0"/>
          </a:p>
          <a:p>
            <a:pPr algn="l"/>
            <a:r>
              <a:rPr lang="en-GB" sz="2900" dirty="0"/>
              <a:t>Week 14: Contact the supervisors and start projects.</a:t>
            </a:r>
          </a:p>
          <a:p>
            <a:pPr algn="l"/>
            <a:r>
              <a:rPr lang="en-GB" sz="2900" dirty="0"/>
              <a:t>Week 17: JML 2: 20 hours of work, deadline Sunday at midnight.</a:t>
            </a:r>
          </a:p>
          <a:p>
            <a:pPr algn="l"/>
            <a:r>
              <a:rPr lang="en-GB" sz="2900" dirty="0"/>
              <a:t>Week 18: </a:t>
            </a:r>
            <a:r>
              <a:rPr lang="en-GB" sz="2900" b="1" dirty="0"/>
              <a:t>Check Point</a:t>
            </a:r>
            <a:r>
              <a:rPr lang="en-GB" sz="2900" dirty="0"/>
              <a:t>: Hand in early versions of final reports (deadline Sunday at midnight) and oral presentations.</a:t>
            </a:r>
            <a:br>
              <a:rPr lang="en-GB" sz="2900" dirty="0"/>
            </a:br>
            <a:r>
              <a:rPr lang="en-GB" sz="2900" dirty="0"/>
              <a:t>Peer group may ask questions!</a:t>
            </a:r>
          </a:p>
          <a:p>
            <a:pPr algn="l"/>
            <a:r>
              <a:rPr lang="sv-SE" sz="2900" dirty="0" err="1"/>
              <a:t>Week</a:t>
            </a:r>
            <a:r>
              <a:rPr lang="sv-SE" sz="2900" dirty="0"/>
              <a:t> 19: Peer </a:t>
            </a:r>
            <a:r>
              <a:rPr lang="sv-SE" sz="2900" dirty="0" err="1"/>
              <a:t>review</a:t>
            </a:r>
            <a:r>
              <a:rPr lang="sv-SE" sz="2900" dirty="0"/>
              <a:t> </a:t>
            </a:r>
            <a:r>
              <a:rPr lang="sv-SE" sz="2900" dirty="0" err="1"/>
              <a:t>reports</a:t>
            </a:r>
            <a:r>
              <a:rPr lang="sv-SE" sz="2900" dirty="0"/>
              <a:t> </a:t>
            </a:r>
            <a:r>
              <a:rPr lang="sv-SE" sz="2900" dirty="0" err="1"/>
              <a:t>due</a:t>
            </a:r>
            <a:r>
              <a:rPr lang="sv-SE" sz="2900" dirty="0"/>
              <a:t> </a:t>
            </a:r>
            <a:r>
              <a:rPr lang="en-GB" sz="2900" dirty="0"/>
              <a:t>(deadline Sunday at midnight). </a:t>
            </a:r>
          </a:p>
          <a:p>
            <a:pPr algn="l"/>
            <a:r>
              <a:rPr lang="en-GB" sz="2900" dirty="0"/>
              <a:t>Week 21: Final discussions with supervisors and hand in written reports (deadline Sunday at midnight).</a:t>
            </a:r>
          </a:p>
          <a:p>
            <a:pPr algn="l"/>
            <a:r>
              <a:rPr lang="en-GB" sz="2900" dirty="0"/>
              <a:t>Week 22: </a:t>
            </a:r>
            <a:r>
              <a:rPr lang="en-GB" sz="2900" b="1" dirty="0"/>
              <a:t>Exam:</a:t>
            </a:r>
            <a:r>
              <a:rPr lang="en-GB" sz="2900" dirty="0"/>
              <a:t> Oral presentations. Peer group asks questions (at least one question per student)!</a:t>
            </a:r>
          </a:p>
        </p:txBody>
      </p:sp>
    </p:spTree>
    <p:extLst>
      <p:ext uri="{BB962C8B-B14F-4D97-AF65-F5344CB8AC3E}">
        <p14:creationId xmlns:p14="http://schemas.microsoft.com/office/powerpoint/2010/main" val="1226084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p:cNvSpPr/>
          <p:nvPr/>
        </p:nvSpPr>
        <p:spPr>
          <a:xfrm>
            <a:off x="79899" y="88776"/>
            <a:ext cx="12029243" cy="7940635"/>
          </a:xfrm>
          <a:prstGeom prst="rect">
            <a:avLst/>
          </a:prstGeom>
        </p:spPr>
        <p:txBody>
          <a:bodyPr wrap="square">
            <a:spAutoFit/>
          </a:bodyPr>
          <a:lstStyle/>
          <a:p>
            <a:r>
              <a:rPr lang="en-GB" sz="2400" b="1" dirty="0"/>
              <a:t>Supervisors’ responsibilities and voluntary work in CM2016 and CM2017</a:t>
            </a:r>
            <a:endParaRPr lang="en-GB" sz="2400" dirty="0"/>
          </a:p>
          <a:p>
            <a:r>
              <a:rPr lang="en-GB" dirty="0"/>
              <a:t> </a:t>
            </a:r>
          </a:p>
          <a:p>
            <a:r>
              <a:rPr lang="en-GB" b="1" dirty="0"/>
              <a:t>Period 3 to 4 (CM2016, 9 credits):</a:t>
            </a:r>
          </a:p>
          <a:p>
            <a:endParaRPr lang="en-GB" dirty="0"/>
          </a:p>
          <a:p>
            <a:r>
              <a:rPr lang="en-GB" dirty="0"/>
              <a:t>Week 3 to 11: 10 hours of supervision time, which can take many forms from informal lectures to question sessions.</a:t>
            </a:r>
          </a:p>
          <a:p>
            <a:r>
              <a:rPr lang="sv-SE" dirty="0"/>
              <a:t>Do </a:t>
            </a:r>
            <a:r>
              <a:rPr lang="sv-SE" dirty="0" err="1"/>
              <a:t>your</a:t>
            </a:r>
            <a:r>
              <a:rPr lang="sv-SE" dirty="0"/>
              <a:t> </a:t>
            </a:r>
            <a:r>
              <a:rPr lang="sv-SE" dirty="0" err="1"/>
              <a:t>own</a:t>
            </a:r>
            <a:r>
              <a:rPr lang="sv-SE" dirty="0"/>
              <a:t> </a:t>
            </a:r>
            <a:r>
              <a:rPr lang="sv-SE" dirty="0" err="1"/>
              <a:t>book</a:t>
            </a:r>
            <a:r>
              <a:rPr lang="sv-SE" dirty="0"/>
              <a:t> </a:t>
            </a:r>
            <a:r>
              <a:rPr lang="sv-SE" dirty="0" err="1"/>
              <a:t>keeping</a:t>
            </a:r>
            <a:r>
              <a:rPr lang="sv-SE" dirty="0"/>
              <a:t> </a:t>
            </a:r>
            <a:r>
              <a:rPr lang="sv-SE" dirty="0" err="1"/>
              <a:t>of</a:t>
            </a:r>
            <a:r>
              <a:rPr lang="sv-SE" dirty="0"/>
              <a:t> the </a:t>
            </a:r>
            <a:r>
              <a:rPr lang="sv-SE" dirty="0" err="1"/>
              <a:t>hours</a:t>
            </a:r>
            <a:r>
              <a:rPr lang="sv-SE" dirty="0"/>
              <a:t> </a:t>
            </a:r>
            <a:r>
              <a:rPr lang="sv-SE" dirty="0" err="1"/>
              <a:t>of</a:t>
            </a:r>
            <a:r>
              <a:rPr lang="sv-SE" dirty="0"/>
              <a:t> supervision </a:t>
            </a:r>
            <a:r>
              <a:rPr lang="sv-SE" dirty="0" err="1"/>
              <a:t>you</a:t>
            </a:r>
            <a:r>
              <a:rPr lang="sv-SE" dirty="0"/>
              <a:t> </a:t>
            </a:r>
            <a:r>
              <a:rPr lang="sv-SE" dirty="0" err="1"/>
              <a:t>have</a:t>
            </a:r>
            <a:r>
              <a:rPr lang="sv-SE" dirty="0"/>
              <a:t> </a:t>
            </a:r>
            <a:r>
              <a:rPr lang="sv-SE" dirty="0" err="1"/>
              <a:t>received</a:t>
            </a:r>
            <a:r>
              <a:rPr lang="sv-SE" dirty="0"/>
              <a:t>!</a:t>
            </a:r>
          </a:p>
          <a:p>
            <a:r>
              <a:rPr lang="sv-SE" dirty="0"/>
              <a:t>All extra </a:t>
            </a:r>
            <a:r>
              <a:rPr lang="sv-SE" dirty="0" err="1"/>
              <a:t>hours</a:t>
            </a:r>
            <a:r>
              <a:rPr lang="sv-SE" dirty="0"/>
              <a:t> </a:t>
            </a:r>
            <a:r>
              <a:rPr lang="sv-SE" dirty="0" err="1"/>
              <a:t>are</a:t>
            </a:r>
            <a:r>
              <a:rPr lang="sv-SE" dirty="0"/>
              <a:t> a bonus, </a:t>
            </a:r>
            <a:r>
              <a:rPr lang="sv-SE" dirty="0" err="1"/>
              <a:t>but</a:t>
            </a:r>
            <a:r>
              <a:rPr lang="sv-SE" dirty="0"/>
              <a:t> </a:t>
            </a:r>
            <a:r>
              <a:rPr lang="sv-SE" dirty="0" err="1"/>
              <a:t>you</a:t>
            </a:r>
            <a:r>
              <a:rPr lang="sv-SE" dirty="0"/>
              <a:t> </a:t>
            </a:r>
            <a:r>
              <a:rPr lang="sv-SE" dirty="0" err="1"/>
              <a:t>can’t</a:t>
            </a:r>
            <a:r>
              <a:rPr lang="sv-SE" dirty="0"/>
              <a:t> </a:t>
            </a:r>
            <a:r>
              <a:rPr lang="sv-SE" dirty="0" err="1"/>
              <a:t>expect</a:t>
            </a:r>
            <a:r>
              <a:rPr lang="sv-SE" dirty="0"/>
              <a:t> the supervisors to </a:t>
            </a:r>
            <a:r>
              <a:rPr lang="sv-SE" dirty="0" err="1"/>
              <a:t>work</a:t>
            </a:r>
            <a:r>
              <a:rPr lang="sv-SE" dirty="0"/>
              <a:t> extra.</a:t>
            </a:r>
            <a:endParaRPr lang="en-GB" dirty="0"/>
          </a:p>
          <a:p>
            <a:endParaRPr lang="en-GB" dirty="0"/>
          </a:p>
          <a:p>
            <a:r>
              <a:rPr lang="en-GB" dirty="0"/>
              <a:t>Week 8: </a:t>
            </a:r>
            <a:r>
              <a:rPr lang="en-GB" b="1" dirty="0"/>
              <a:t>voluntary!</a:t>
            </a:r>
            <a:r>
              <a:rPr lang="en-GB" dirty="0"/>
              <a:t> Read preliminary report and listen to presentation. Give comments in writing and/or orally.</a:t>
            </a:r>
          </a:p>
          <a:p>
            <a:endParaRPr lang="en-GB" dirty="0"/>
          </a:p>
          <a:p>
            <a:r>
              <a:rPr lang="en-GB" dirty="0"/>
              <a:t>Week 11: </a:t>
            </a:r>
            <a:r>
              <a:rPr lang="en-GB" b="1" dirty="0"/>
              <a:t>voluntary!</a:t>
            </a:r>
            <a:r>
              <a:rPr lang="en-GB" dirty="0"/>
              <a:t> Exam. Read report and listen to presentation. Give comments in writing and/or orally.</a:t>
            </a:r>
          </a:p>
          <a:p>
            <a:endParaRPr lang="en-GB" dirty="0"/>
          </a:p>
          <a:p>
            <a:r>
              <a:rPr lang="sv-SE" dirty="0" err="1"/>
              <a:t>Possibly</a:t>
            </a:r>
            <a:r>
              <a:rPr lang="sv-SE" dirty="0"/>
              <a:t> </a:t>
            </a:r>
            <a:r>
              <a:rPr lang="sv-SE" dirty="0" err="1"/>
              <a:t>change</a:t>
            </a:r>
            <a:r>
              <a:rPr lang="sv-SE" dirty="0"/>
              <a:t> </a:t>
            </a:r>
            <a:r>
              <a:rPr lang="sv-SE" dirty="0" err="1"/>
              <a:t>of</a:t>
            </a:r>
            <a:r>
              <a:rPr lang="sv-SE" dirty="0"/>
              <a:t> supervisor </a:t>
            </a:r>
            <a:r>
              <a:rPr lang="sv-SE" dirty="0" err="1"/>
              <a:t>here</a:t>
            </a:r>
            <a:r>
              <a:rPr lang="sv-SE" dirty="0"/>
              <a:t>!</a:t>
            </a:r>
            <a:endParaRPr lang="en-GB" dirty="0"/>
          </a:p>
          <a:p>
            <a:r>
              <a:rPr lang="en-GB" dirty="0"/>
              <a:t>Week 13: </a:t>
            </a:r>
            <a:r>
              <a:rPr lang="en-GB" b="1" dirty="0"/>
              <a:t>voluntary!</a:t>
            </a:r>
            <a:r>
              <a:rPr lang="en-GB" dirty="0"/>
              <a:t> Read project plan and listen to presentation. Give comments in writing and/or orally.</a:t>
            </a:r>
          </a:p>
          <a:p>
            <a:endParaRPr lang="en-GB" dirty="0"/>
          </a:p>
          <a:p>
            <a:endParaRPr lang="en-GB" dirty="0"/>
          </a:p>
          <a:p>
            <a:r>
              <a:rPr lang="en-GB" b="1" dirty="0"/>
              <a:t>Period 4 (CM2017, 6 credits):</a:t>
            </a:r>
          </a:p>
          <a:p>
            <a:endParaRPr lang="en-GB" dirty="0"/>
          </a:p>
          <a:p>
            <a:r>
              <a:rPr lang="en-GB" dirty="0"/>
              <a:t>Week 14 to 21: 10 hours of supervision time.</a:t>
            </a:r>
          </a:p>
          <a:p>
            <a:endParaRPr lang="sv-SE" dirty="0"/>
          </a:p>
          <a:p>
            <a:r>
              <a:rPr lang="en-GB" dirty="0"/>
              <a:t>Week 19: </a:t>
            </a:r>
            <a:r>
              <a:rPr lang="en-GB" b="1" dirty="0"/>
              <a:t>voluntary! </a:t>
            </a:r>
            <a:r>
              <a:rPr lang="en-GB" dirty="0"/>
              <a:t>Read preliminary report and listen to presentation. Give comments in writing and/or orally.</a:t>
            </a:r>
          </a:p>
          <a:p>
            <a:endParaRPr lang="en-GB" dirty="0"/>
          </a:p>
          <a:p>
            <a:r>
              <a:rPr lang="en-GB" dirty="0"/>
              <a:t>Week 22: </a:t>
            </a:r>
            <a:r>
              <a:rPr lang="en-GB" b="1" dirty="0"/>
              <a:t>voluntary! </a:t>
            </a:r>
            <a:r>
              <a:rPr lang="en-GB" dirty="0"/>
              <a:t>Exam. Read report and listen to presentation. Give comments in writing and/or orally.</a:t>
            </a:r>
          </a:p>
          <a:p>
            <a:endParaRPr lang="en-GB" dirty="0"/>
          </a:p>
          <a:p>
            <a:endParaRPr lang="sv-SE" dirty="0"/>
          </a:p>
          <a:p>
            <a:endParaRPr lang="sv-SE" dirty="0"/>
          </a:p>
          <a:p>
            <a:endParaRPr lang="en-GB" dirty="0"/>
          </a:p>
        </p:txBody>
      </p:sp>
    </p:spTree>
    <p:extLst>
      <p:ext uri="{BB962C8B-B14F-4D97-AF65-F5344CB8AC3E}">
        <p14:creationId xmlns:p14="http://schemas.microsoft.com/office/powerpoint/2010/main" val="1011192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1105E-9669-A19A-D68C-C54CBBE3E5EF}"/>
              </a:ext>
            </a:extLst>
          </p:cNvPr>
          <p:cNvSpPr>
            <a:spLocks noGrp="1"/>
          </p:cNvSpPr>
          <p:nvPr>
            <p:ph type="title"/>
          </p:nvPr>
        </p:nvSpPr>
        <p:spPr/>
        <p:txBody>
          <a:bodyPr>
            <a:normAutofit/>
          </a:bodyPr>
          <a:lstStyle/>
          <a:p>
            <a:r>
              <a:rPr lang="sv-SE" sz="2400" b="1" dirty="0" err="1">
                <a:latin typeface="+mn-lt"/>
                <a:cs typeface="Gill Sans Light" panose="020B0302020104020203" pitchFamily="34" charset="-79"/>
              </a:rPr>
              <a:t>Why</a:t>
            </a:r>
            <a:r>
              <a:rPr lang="sv-SE" sz="2400" b="1" dirty="0">
                <a:latin typeface="+mn-lt"/>
                <a:cs typeface="Gill Sans Light" panose="020B0302020104020203" pitchFamily="34" charset="-79"/>
              </a:rPr>
              <a:t> JML</a:t>
            </a:r>
            <a:r>
              <a:rPr lang="en-SE" sz="2400" b="1" dirty="0">
                <a:latin typeface="+mn-lt"/>
                <a:cs typeface="Gill Sans Light" panose="020B0302020104020203" pitchFamily="34" charset="-79"/>
              </a:rPr>
              <a:t>:</a:t>
            </a:r>
          </a:p>
        </p:txBody>
      </p:sp>
      <p:sp>
        <p:nvSpPr>
          <p:cNvPr id="3" name="Content Placeholder 2">
            <a:extLst>
              <a:ext uri="{FF2B5EF4-FFF2-40B4-BE49-F238E27FC236}">
                <a16:creationId xmlns:a16="http://schemas.microsoft.com/office/drawing/2014/main" id="{6B3FA6F6-2C14-F9D9-4813-F45F7032E61E}"/>
              </a:ext>
            </a:extLst>
          </p:cNvPr>
          <p:cNvSpPr>
            <a:spLocks noGrp="1"/>
          </p:cNvSpPr>
          <p:nvPr>
            <p:ph idx="1"/>
          </p:nvPr>
        </p:nvSpPr>
        <p:spPr/>
        <p:txBody>
          <a:bodyPr>
            <a:normAutofit lnSpcReduction="10000"/>
          </a:bodyPr>
          <a:lstStyle/>
          <a:p>
            <a:pPr marL="0" indent="0" algn="l">
              <a:buNone/>
            </a:pPr>
            <a:r>
              <a:rPr lang="en-GB" sz="2000" u="none" strike="noStrike" dirty="0">
                <a:solidFill>
                  <a:srgbClr val="000000"/>
                </a:solidFill>
                <a:effectLst/>
                <a:latin typeface="Calibri" panose="020F0502020204030204" pitchFamily="34" charset="0"/>
                <a:cs typeface="Calibri" panose="020F0502020204030204" pitchFamily="34" charset="0"/>
              </a:rPr>
              <a:t>(</a:t>
            </a:r>
            <a:r>
              <a:rPr lang="en-GB" sz="2000" dirty="0" err="1">
                <a:solidFill>
                  <a:srgbClr val="000000"/>
                </a:solidFill>
                <a:latin typeface="Calibri" panose="020F0502020204030204" pitchFamily="34" charset="0"/>
                <a:cs typeface="Calibri" panose="020F0502020204030204" pitchFamily="34" charset="0"/>
              </a:rPr>
              <a:t>j</a:t>
            </a:r>
            <a:r>
              <a:rPr lang="en-GB" sz="2000" u="none" strike="noStrike" dirty="0" err="1">
                <a:solidFill>
                  <a:srgbClr val="000000"/>
                </a:solidFill>
                <a:effectLst/>
                <a:latin typeface="Calibri" panose="020F0502020204030204" pitchFamily="34" charset="0"/>
                <a:cs typeface="Calibri" panose="020F0502020204030204" pitchFamily="34" charset="0"/>
              </a:rPr>
              <a:t>ämlikhet</a:t>
            </a:r>
            <a:r>
              <a:rPr lang="en-GB" sz="2000" u="none" strike="noStrike" dirty="0">
                <a:solidFill>
                  <a:srgbClr val="000000"/>
                </a:solidFill>
                <a:effectLst/>
                <a:latin typeface="Calibri" panose="020F0502020204030204" pitchFamily="34" charset="0"/>
                <a:cs typeface="Calibri" panose="020F0502020204030204" pitchFamily="34" charset="0"/>
              </a:rPr>
              <a:t>, </a:t>
            </a:r>
            <a:r>
              <a:rPr lang="en-GB" sz="2000" u="none" strike="noStrike" dirty="0" err="1">
                <a:solidFill>
                  <a:srgbClr val="000000"/>
                </a:solidFill>
                <a:effectLst/>
                <a:latin typeface="Calibri" panose="020F0502020204030204" pitchFamily="34" charset="0"/>
                <a:cs typeface="Calibri" panose="020F0502020204030204" pitchFamily="34" charset="0"/>
              </a:rPr>
              <a:t>mångfald</a:t>
            </a:r>
            <a:r>
              <a:rPr lang="en-GB" sz="2000" u="none" strike="noStrike" dirty="0">
                <a:solidFill>
                  <a:srgbClr val="000000"/>
                </a:solidFill>
                <a:effectLst/>
                <a:latin typeface="Calibri" panose="020F0502020204030204" pitchFamily="34" charset="0"/>
                <a:cs typeface="Calibri" panose="020F0502020204030204" pitchFamily="34" charset="0"/>
              </a:rPr>
              <a:t>, </a:t>
            </a:r>
            <a:r>
              <a:rPr lang="en-GB" sz="2000" u="none" strike="noStrike" dirty="0" err="1">
                <a:solidFill>
                  <a:srgbClr val="000000"/>
                </a:solidFill>
                <a:effectLst/>
                <a:latin typeface="Calibri" panose="020F0502020204030204" pitchFamily="34" charset="0"/>
                <a:cs typeface="Calibri" panose="020F0502020204030204" pitchFamily="34" charset="0"/>
              </a:rPr>
              <a:t>lika</a:t>
            </a:r>
            <a:r>
              <a:rPr lang="en-GB" sz="2000" u="none" strike="noStrike" dirty="0">
                <a:solidFill>
                  <a:srgbClr val="000000"/>
                </a:solidFill>
                <a:effectLst/>
                <a:latin typeface="Calibri" panose="020F0502020204030204" pitchFamily="34" charset="0"/>
                <a:cs typeface="Calibri" panose="020F0502020204030204" pitchFamily="34" charset="0"/>
              </a:rPr>
              <a:t> </a:t>
            </a:r>
            <a:r>
              <a:rPr lang="en-GB" sz="2000" u="none" strike="noStrike" dirty="0" err="1">
                <a:solidFill>
                  <a:srgbClr val="000000"/>
                </a:solidFill>
                <a:effectLst/>
                <a:latin typeface="Calibri" panose="020F0502020204030204" pitchFamily="34" charset="0"/>
                <a:cs typeface="Calibri" panose="020F0502020204030204" pitchFamily="34" charset="0"/>
              </a:rPr>
              <a:t>villkor</a:t>
            </a:r>
            <a:r>
              <a:rPr lang="en-GB" sz="2000" u="none" strike="noStrike" dirty="0">
                <a:solidFill>
                  <a:srgbClr val="000000"/>
                </a:solidFill>
                <a:effectLst/>
                <a:latin typeface="Calibri" panose="020F0502020204030204" pitchFamily="34" charset="0"/>
                <a:cs typeface="Calibri" panose="020F0502020204030204" pitchFamily="34" charset="0"/>
              </a:rPr>
              <a:t>; equality, diversity, equal conditions)</a:t>
            </a:r>
            <a:br>
              <a:rPr lang="en-GB" sz="2000" u="none" strike="noStrike" dirty="0">
                <a:solidFill>
                  <a:srgbClr val="000000"/>
                </a:solidFill>
                <a:effectLst/>
                <a:latin typeface="Calibri" panose="020F0502020204030204" pitchFamily="34" charset="0"/>
                <a:cs typeface="Calibri" panose="020F0502020204030204" pitchFamily="34" charset="0"/>
              </a:rPr>
            </a:br>
            <a:br>
              <a:rPr lang="en-GB" sz="2000" u="none" strike="noStrike" dirty="0">
                <a:solidFill>
                  <a:srgbClr val="000000"/>
                </a:solidFill>
                <a:effectLst/>
                <a:latin typeface="Calibri" panose="020F0502020204030204" pitchFamily="34" charset="0"/>
                <a:cs typeface="Calibri" panose="020F0502020204030204" pitchFamily="34" charset="0"/>
              </a:rPr>
            </a:br>
            <a:r>
              <a:rPr lang="en-GB" sz="2000" u="none" strike="noStrike" dirty="0">
                <a:solidFill>
                  <a:srgbClr val="000000"/>
                </a:solidFill>
                <a:effectLst/>
                <a:latin typeface="Calibri" panose="020F0502020204030204" pitchFamily="34" charset="0"/>
                <a:cs typeface="Calibri" panose="020F0502020204030204" pitchFamily="34" charset="0"/>
              </a:rPr>
              <a:t>The mandatory minimum level for all KTH's programs is that knowledge about gender equality, diversity and equal conditions must be conveyed and examined in the education, so that students upon graduation:</a:t>
            </a:r>
          </a:p>
          <a:p>
            <a:pPr algn="l">
              <a:buFont typeface="Arial" panose="020B0604020202020204" pitchFamily="34" charset="0"/>
              <a:buChar char="•"/>
            </a:pPr>
            <a:r>
              <a:rPr lang="en-GB" sz="2000" u="none" strike="noStrike" dirty="0">
                <a:solidFill>
                  <a:srgbClr val="000000"/>
                </a:solidFill>
                <a:effectLst/>
                <a:latin typeface="Calibri" panose="020F0502020204030204" pitchFamily="34" charset="0"/>
                <a:cs typeface="Calibri" panose="020F0502020204030204" pitchFamily="34" charset="0"/>
              </a:rPr>
              <a:t>can explain basic concepts and definitions relating to gender equality, diversity and equal conditions</a:t>
            </a:r>
          </a:p>
          <a:p>
            <a:pPr algn="l">
              <a:buFont typeface="Arial" panose="020B0604020202020204" pitchFamily="34" charset="0"/>
              <a:buChar char="•"/>
            </a:pPr>
            <a:r>
              <a:rPr lang="en-GB" sz="2000" u="none" strike="noStrike" dirty="0">
                <a:solidFill>
                  <a:srgbClr val="000000"/>
                </a:solidFill>
                <a:effectLst/>
                <a:latin typeface="Calibri" panose="020F0502020204030204" pitchFamily="34" charset="0"/>
                <a:cs typeface="Calibri" panose="020F0502020204030204" pitchFamily="34" charset="0"/>
              </a:rPr>
              <a:t>can interpret expressions of (gender) inequality and power imbalance in society and working life.</a:t>
            </a:r>
          </a:p>
          <a:p>
            <a:pPr algn="l">
              <a:buFont typeface="Arial" panose="020B0604020202020204" pitchFamily="34" charset="0"/>
              <a:buChar char="•"/>
            </a:pPr>
            <a:r>
              <a:rPr lang="en-GB" sz="2000" u="none" strike="noStrike" dirty="0">
                <a:solidFill>
                  <a:srgbClr val="000000"/>
                </a:solidFill>
                <a:effectLst/>
                <a:latin typeface="Calibri" panose="020F0502020204030204" pitchFamily="34" charset="0"/>
                <a:cs typeface="Calibri" panose="020F0502020204030204" pitchFamily="34" charset="0"/>
              </a:rPr>
              <a:t>are aware of the consequences of (gender) inequality for technology and social development</a:t>
            </a:r>
          </a:p>
          <a:p>
            <a:pPr algn="l">
              <a:buFont typeface="Arial" panose="020B0604020202020204" pitchFamily="34" charset="0"/>
              <a:buChar char="•"/>
            </a:pPr>
            <a:r>
              <a:rPr lang="en-GB" sz="2000" u="none" strike="noStrike" dirty="0">
                <a:solidFill>
                  <a:srgbClr val="000000"/>
                </a:solidFill>
                <a:effectLst/>
                <a:latin typeface="Calibri" panose="020F0502020204030204" pitchFamily="34" charset="0"/>
                <a:cs typeface="Calibri" panose="020F0502020204030204" pitchFamily="34" charset="0"/>
              </a:rPr>
              <a:t>know that discrimination legislation,</a:t>
            </a:r>
            <a:r>
              <a:rPr lang="en-GB" sz="2000" dirty="0">
                <a:solidFill>
                  <a:srgbClr val="000000"/>
                </a:solidFill>
                <a:latin typeface="Calibri" panose="020F0502020204030204" pitchFamily="34" charset="0"/>
                <a:cs typeface="Calibri" panose="020F0502020204030204" pitchFamily="34" charset="0"/>
              </a:rPr>
              <a:t> </a:t>
            </a:r>
            <a:r>
              <a:rPr lang="en-GB" sz="2000" u="none" strike="noStrike" dirty="0">
                <a:solidFill>
                  <a:srgbClr val="000000"/>
                </a:solidFill>
                <a:effectLst/>
                <a:latin typeface="Calibri" panose="020F0502020204030204" pitchFamily="34" charset="0"/>
                <a:cs typeface="Calibri" panose="020F0502020204030204" pitchFamily="34" charset="0"/>
              </a:rPr>
              <a:t>legal requirements for proactive measures and equality policy goals exist and know that equality and reduced inequality are goals for sustainable development</a:t>
            </a:r>
          </a:p>
          <a:p>
            <a:pPr algn="l">
              <a:buFont typeface="Arial" panose="020B0604020202020204" pitchFamily="34" charset="0"/>
              <a:buChar char="•"/>
            </a:pPr>
            <a:r>
              <a:rPr lang="en-GB" sz="2000" dirty="0">
                <a:solidFill>
                  <a:srgbClr val="000000"/>
                </a:solidFill>
                <a:latin typeface="Calibri" panose="020F0502020204030204" pitchFamily="34" charset="0"/>
                <a:cs typeface="Calibri" panose="020F0502020204030204" pitchFamily="34" charset="0"/>
              </a:rPr>
              <a:t>k</a:t>
            </a:r>
            <a:r>
              <a:rPr lang="en-GB" sz="2000" u="none" strike="noStrike" dirty="0">
                <a:solidFill>
                  <a:srgbClr val="000000"/>
                </a:solidFill>
                <a:effectLst/>
                <a:latin typeface="Calibri" panose="020F0502020204030204" pitchFamily="34" charset="0"/>
                <a:cs typeface="Calibri" panose="020F0502020204030204" pitchFamily="34" charset="0"/>
              </a:rPr>
              <a:t>now strategies for making changes in organizations that aim at increasing equality, diversity and equal conditions in society and working life.</a:t>
            </a:r>
          </a:p>
          <a:p>
            <a:endParaRPr lang="en-SE" sz="2000" dirty="0">
              <a:latin typeface="Gill Sans Light" panose="020B0302020104020203" pitchFamily="34" charset="-79"/>
              <a:cs typeface="Gill Sans Light" panose="020B0302020104020203" pitchFamily="34" charset="-79"/>
            </a:endParaRPr>
          </a:p>
        </p:txBody>
      </p:sp>
    </p:spTree>
    <p:extLst>
      <p:ext uri="{BB962C8B-B14F-4D97-AF65-F5344CB8AC3E}">
        <p14:creationId xmlns:p14="http://schemas.microsoft.com/office/powerpoint/2010/main" val="1800383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D5519-CDC0-4CC0-27BA-ACA20BACDC70}"/>
              </a:ext>
            </a:extLst>
          </p:cNvPr>
          <p:cNvSpPr>
            <a:spLocks noGrp="1"/>
          </p:cNvSpPr>
          <p:nvPr>
            <p:ph type="title"/>
          </p:nvPr>
        </p:nvSpPr>
        <p:spPr>
          <a:xfrm>
            <a:off x="838200" y="1"/>
            <a:ext cx="10515600" cy="681036"/>
          </a:xfrm>
        </p:spPr>
        <p:txBody>
          <a:bodyPr>
            <a:normAutofit/>
          </a:bodyPr>
          <a:lstStyle/>
          <a:p>
            <a:r>
              <a:rPr lang="en-SE" sz="2400" b="1" dirty="0">
                <a:latin typeface="+mn-lt"/>
              </a:rPr>
              <a:t>Assignment (1,5 credits)</a:t>
            </a:r>
          </a:p>
        </p:txBody>
      </p:sp>
      <p:sp>
        <p:nvSpPr>
          <p:cNvPr id="3" name="Content Placeholder 2">
            <a:extLst>
              <a:ext uri="{FF2B5EF4-FFF2-40B4-BE49-F238E27FC236}">
                <a16:creationId xmlns:a16="http://schemas.microsoft.com/office/drawing/2014/main" id="{6F40E1DA-41A4-B5B0-F0C3-0831A66F71B3}"/>
              </a:ext>
            </a:extLst>
          </p:cNvPr>
          <p:cNvSpPr>
            <a:spLocks noGrp="1"/>
          </p:cNvSpPr>
          <p:nvPr>
            <p:ph idx="1"/>
          </p:nvPr>
        </p:nvSpPr>
        <p:spPr>
          <a:xfrm>
            <a:off x="838200" y="558801"/>
            <a:ext cx="10515600" cy="6299198"/>
          </a:xfrm>
        </p:spPr>
        <p:txBody>
          <a:bodyPr>
            <a:normAutofit fontScale="55000" lnSpcReduction="20000"/>
          </a:bodyPr>
          <a:lstStyle/>
          <a:p>
            <a:pPr marL="0" indent="0" algn="l">
              <a:buSzPct val="100000"/>
              <a:buNone/>
              <a:defRPr b="0">
                <a:latin typeface="Gill Sans Light"/>
                <a:ea typeface="Gill Sans Light"/>
                <a:cs typeface="Gill Sans Light"/>
                <a:sym typeface="Gill Sans Light"/>
              </a:defRPr>
            </a:pPr>
            <a:r>
              <a:rPr lang="en-GB" dirty="0"/>
              <a:t>Before starting your group work:</a:t>
            </a:r>
          </a:p>
          <a:p>
            <a:pPr marL="555625" indent="-555625" algn="l">
              <a:lnSpc>
                <a:spcPct val="170000"/>
              </a:lnSpc>
              <a:buSzPct val="100000"/>
              <a:buAutoNum type="arabicPeriod"/>
              <a:defRPr b="0">
                <a:latin typeface="Gill Sans Light"/>
                <a:ea typeface="Gill Sans Light"/>
                <a:cs typeface="Gill Sans Light"/>
                <a:sym typeface="Gill Sans Light"/>
              </a:defRPr>
            </a:pPr>
            <a:r>
              <a:rPr lang="en-GB" dirty="0"/>
              <a:t>Read: </a:t>
            </a:r>
            <a:r>
              <a:rPr lang="en-GB" u="sng" dirty="0">
                <a:hlinkClick r:id="rId2"/>
              </a:rPr>
              <a:t>https://medtech4health.se/wp-content/uploads/2022/04/Gender-Equality-Handbook_REV1_K1.pdf</a:t>
            </a:r>
          </a:p>
          <a:p>
            <a:pPr marL="555625" indent="-555625">
              <a:lnSpc>
                <a:spcPct val="170000"/>
              </a:lnSpc>
              <a:buSzPct val="100000"/>
              <a:buAutoNum type="arabicPeriod"/>
              <a:defRPr b="0">
                <a:latin typeface="Gill Sans Light"/>
                <a:ea typeface="Gill Sans Light"/>
                <a:cs typeface="Gill Sans Light"/>
                <a:sym typeface="Gill Sans Light"/>
              </a:defRPr>
            </a:pPr>
            <a:r>
              <a:rPr lang="en-GB" dirty="0"/>
              <a:t>Watch the film: “Picture a scientist”, </a:t>
            </a:r>
            <a:r>
              <a:rPr lang="en-US" dirty="0"/>
              <a:t>(choose KTH from dropdown menu, maybe KTH VPN has to run)</a:t>
            </a:r>
            <a:br>
              <a:rPr lang="en-GB" dirty="0"/>
            </a:br>
            <a:r>
              <a:rPr lang="en-US" dirty="0">
                <a:hlinkClick r:id="rId3"/>
              </a:rPr>
              <a:t>www.filmplatform.net/login/</a:t>
            </a:r>
            <a:r>
              <a:rPr lang="en-US" dirty="0"/>
              <a:t>, </a:t>
            </a:r>
            <a:r>
              <a:rPr lang="en-US" dirty="0">
                <a:hlinkClick r:id="rId4"/>
              </a:rPr>
              <a:t>www.filmplatform.net/product/picture-a-scientist/</a:t>
            </a:r>
            <a:r>
              <a:rPr lang="en-US" dirty="0"/>
              <a:t> </a:t>
            </a:r>
            <a:endParaRPr lang="en-GB" dirty="0"/>
          </a:p>
          <a:p>
            <a:pPr marL="555625" indent="-555625" algn="l">
              <a:lnSpc>
                <a:spcPct val="170000"/>
              </a:lnSpc>
              <a:buSzPct val="100000"/>
              <a:buAutoNum type="arabicPeriod"/>
              <a:defRPr b="0">
                <a:latin typeface="Gill Sans Light"/>
                <a:ea typeface="Gill Sans Light"/>
                <a:cs typeface="Gill Sans Light"/>
                <a:sym typeface="Gill Sans Light"/>
              </a:defRPr>
            </a:pPr>
            <a:r>
              <a:rPr lang="en-GB" b="1" dirty="0"/>
              <a:t>Individually</a:t>
            </a:r>
            <a:r>
              <a:rPr lang="en-GB" dirty="0"/>
              <a:t> write 1-2 pages of reflections on the Handbook and the documentary. In your text, show that you have understood key terms such as equality, gender equality, norms, gender and discrimination.</a:t>
            </a:r>
          </a:p>
          <a:p>
            <a:pPr marL="555625" indent="-555625" algn="l">
              <a:lnSpc>
                <a:spcPct val="170000"/>
              </a:lnSpc>
              <a:buSzPct val="100000"/>
              <a:buAutoNum type="arabicPeriod"/>
              <a:defRPr b="0">
                <a:latin typeface="Gill Sans Light"/>
                <a:ea typeface="Gill Sans Light"/>
                <a:cs typeface="Gill Sans Light"/>
                <a:sym typeface="Gill Sans Light"/>
              </a:defRPr>
            </a:pPr>
            <a:r>
              <a:rPr lang="en-GB" dirty="0"/>
              <a:t>In your group, write a set of “rules of engagement” for your teamwork during the PCC. Please, make sure that the rules will favour a norm-critical approach to your work. </a:t>
            </a:r>
          </a:p>
          <a:p>
            <a:pPr marL="555625" indent="-555625" algn="l">
              <a:lnSpc>
                <a:spcPct val="170000"/>
              </a:lnSpc>
              <a:buSzPct val="100000"/>
              <a:buAutoNum type="arabicPeriod"/>
              <a:defRPr b="0">
                <a:latin typeface="Gill Sans Light"/>
                <a:ea typeface="Gill Sans Light"/>
                <a:cs typeface="Gill Sans Light"/>
                <a:sym typeface="Gill Sans Light"/>
              </a:defRPr>
            </a:pPr>
            <a:endParaRPr lang="en-GB" dirty="0"/>
          </a:p>
          <a:p>
            <a:pPr marL="0" indent="0" algn="l">
              <a:lnSpc>
                <a:spcPct val="170000"/>
              </a:lnSpc>
              <a:buSzPct val="100000"/>
              <a:buNone/>
              <a:defRPr b="0">
                <a:latin typeface="Gill Sans Light"/>
                <a:ea typeface="Gill Sans Light"/>
                <a:cs typeface="Gill Sans Light"/>
                <a:sym typeface="Gill Sans Light"/>
              </a:defRPr>
            </a:pPr>
            <a:r>
              <a:rPr lang="en-GB" dirty="0"/>
              <a:t>At the end of your group work (that is towards the end of course CM2017)</a:t>
            </a:r>
          </a:p>
          <a:p>
            <a:pPr marL="555625" indent="-555625">
              <a:lnSpc>
                <a:spcPct val="170000"/>
              </a:lnSpc>
              <a:buSzPct val="100000"/>
              <a:buAutoNum type="arabicPeriod"/>
              <a:defRPr b="0">
                <a:latin typeface="Gill Sans Light"/>
                <a:ea typeface="Gill Sans Light"/>
                <a:cs typeface="Gill Sans Light"/>
                <a:sym typeface="Gill Sans Light"/>
              </a:defRPr>
            </a:pPr>
            <a:r>
              <a:rPr lang="en-GB" b="1" dirty="0"/>
              <a:t>Individually </a:t>
            </a:r>
            <a:r>
              <a:rPr lang="en-GB" dirty="0"/>
              <a:t>write a short memoir of 1-2 pages reflecting over the way the rules have influenced your work and the results obtained under PCC. </a:t>
            </a:r>
          </a:p>
          <a:p>
            <a:pPr marL="555625" indent="-555625" algn="l">
              <a:lnSpc>
                <a:spcPct val="170000"/>
              </a:lnSpc>
              <a:buSzPct val="100000"/>
              <a:buAutoNum type="arabicPeriod"/>
              <a:defRPr b="0">
                <a:latin typeface="Gill Sans Light"/>
                <a:ea typeface="Gill Sans Light"/>
                <a:cs typeface="Gill Sans Light"/>
                <a:sym typeface="Gill Sans Light"/>
              </a:defRPr>
            </a:pPr>
            <a:r>
              <a:rPr lang="en-GB" dirty="0"/>
              <a:t>Also, think about </a:t>
            </a:r>
            <a:r>
              <a:rPr lang="en-GB" dirty="0" err="1"/>
              <a:t>Dr.</a:t>
            </a:r>
            <a:r>
              <a:rPr lang="en-GB" dirty="0"/>
              <a:t> </a:t>
            </a:r>
            <a:r>
              <a:rPr lang="en-GB" dirty="0" err="1"/>
              <a:t>Willenbring’s</a:t>
            </a:r>
            <a:r>
              <a:rPr lang="en-GB" dirty="0"/>
              <a:t> peer PhD-student’s (non) actions during the field expeditions. Could you end up being in his situation 15 years from now? What can you do to prevent that?</a:t>
            </a:r>
          </a:p>
        </p:txBody>
      </p:sp>
    </p:spTree>
    <p:extLst>
      <p:ext uri="{BB962C8B-B14F-4D97-AF65-F5344CB8AC3E}">
        <p14:creationId xmlns:p14="http://schemas.microsoft.com/office/powerpoint/2010/main" val="2890673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806498" y="476637"/>
            <a:ext cx="10515600" cy="1325563"/>
          </a:xfrm>
        </p:spPr>
        <p:txBody>
          <a:bodyPr>
            <a:normAutofit/>
          </a:bodyPr>
          <a:lstStyle/>
          <a:p>
            <a:r>
              <a:rPr lang="sv-SE" sz="3600" b="1" dirty="0"/>
              <a:t>Information on Canvas!</a:t>
            </a:r>
            <a:endParaRPr lang="en-GB" sz="3600" b="1" dirty="0"/>
          </a:p>
        </p:txBody>
      </p:sp>
      <p:sp>
        <p:nvSpPr>
          <p:cNvPr id="3" name="textruta 2"/>
          <p:cNvSpPr txBox="1"/>
          <p:nvPr/>
        </p:nvSpPr>
        <p:spPr>
          <a:xfrm>
            <a:off x="1806498" y="2107580"/>
            <a:ext cx="7613751" cy="3539430"/>
          </a:xfrm>
          <a:prstGeom prst="rect">
            <a:avLst/>
          </a:prstGeom>
          <a:noFill/>
        </p:spPr>
        <p:txBody>
          <a:bodyPr wrap="none" rtlCol="0">
            <a:spAutoFit/>
          </a:bodyPr>
          <a:lstStyle/>
          <a:p>
            <a:r>
              <a:rPr lang="sv-SE" sz="2800" dirty="0" err="1"/>
              <a:t>Home</a:t>
            </a:r>
            <a:endParaRPr lang="sv-SE" sz="2800" dirty="0"/>
          </a:p>
          <a:p>
            <a:endParaRPr lang="sv-SE" sz="2800" dirty="0"/>
          </a:p>
          <a:p>
            <a:r>
              <a:rPr lang="sv-SE" sz="2800" dirty="0" err="1"/>
              <a:t>Files</a:t>
            </a:r>
            <a:r>
              <a:rPr lang="sv-SE" sz="2800" dirty="0"/>
              <a:t>:</a:t>
            </a:r>
            <a:br>
              <a:rPr lang="sv-SE" sz="2800" dirty="0"/>
            </a:br>
            <a:r>
              <a:rPr lang="sv-SE" sz="2800" dirty="0" err="1"/>
              <a:t>This</a:t>
            </a:r>
            <a:r>
              <a:rPr lang="sv-SE" sz="2800" dirty="0"/>
              <a:t> presentation</a:t>
            </a:r>
            <a:br>
              <a:rPr lang="sv-SE" sz="2800" dirty="0"/>
            </a:br>
            <a:r>
              <a:rPr lang="sv-SE" sz="2800" dirty="0" err="1"/>
              <a:t>How</a:t>
            </a:r>
            <a:r>
              <a:rPr lang="sv-SE" sz="2800" dirty="0"/>
              <a:t> to </a:t>
            </a:r>
            <a:r>
              <a:rPr lang="sv-SE" sz="2800" dirty="0" err="1"/>
              <a:t>write</a:t>
            </a:r>
            <a:r>
              <a:rPr lang="sv-SE" sz="2800" dirty="0"/>
              <a:t> a </a:t>
            </a:r>
            <a:r>
              <a:rPr lang="sv-SE" sz="2800" dirty="0" err="1"/>
              <a:t>project</a:t>
            </a:r>
            <a:r>
              <a:rPr lang="sv-SE" sz="2800" dirty="0"/>
              <a:t> </a:t>
            </a:r>
            <a:r>
              <a:rPr lang="sv-SE" sz="2800" dirty="0" err="1"/>
              <a:t>report</a:t>
            </a:r>
            <a:endParaRPr lang="sv-SE" sz="2800" dirty="0"/>
          </a:p>
          <a:p>
            <a:r>
              <a:rPr lang="sv-SE" sz="2800" dirty="0"/>
              <a:t>Project </a:t>
            </a:r>
            <a:r>
              <a:rPr lang="sv-SE" sz="2800" dirty="0" err="1"/>
              <a:t>groups</a:t>
            </a:r>
            <a:br>
              <a:rPr lang="sv-SE" sz="2800" dirty="0"/>
            </a:br>
            <a:br>
              <a:rPr lang="sv-SE" sz="2800" dirty="0"/>
            </a:br>
            <a:r>
              <a:rPr lang="sv-SE" sz="2800" dirty="0"/>
              <a:t>Peer </a:t>
            </a:r>
            <a:r>
              <a:rPr lang="sv-SE" sz="2800" dirty="0" err="1"/>
              <a:t>review</a:t>
            </a:r>
            <a:r>
              <a:rPr lang="sv-SE" sz="2800" dirty="0"/>
              <a:t> </a:t>
            </a:r>
            <a:r>
              <a:rPr lang="sv-SE" sz="2800" dirty="0" err="1"/>
              <a:t>scheme</a:t>
            </a:r>
            <a:r>
              <a:rPr lang="sv-SE" sz="2800" dirty="0"/>
              <a:t> </a:t>
            </a:r>
            <a:r>
              <a:rPr lang="sv-SE" sz="2800" dirty="0" err="1"/>
              <a:t>will</a:t>
            </a:r>
            <a:r>
              <a:rPr lang="sv-SE" sz="2800" dirty="0"/>
              <a:t> come as an </a:t>
            </a:r>
            <a:r>
              <a:rPr lang="sv-SE" sz="2800" dirty="0" err="1"/>
              <a:t>anouncement</a:t>
            </a:r>
            <a:r>
              <a:rPr lang="sv-SE" sz="2800" dirty="0"/>
              <a:t>.</a:t>
            </a:r>
          </a:p>
        </p:txBody>
      </p:sp>
    </p:spTree>
    <p:extLst>
      <p:ext uri="{BB962C8B-B14F-4D97-AF65-F5344CB8AC3E}">
        <p14:creationId xmlns:p14="http://schemas.microsoft.com/office/powerpoint/2010/main" val="96071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223024" y="0"/>
            <a:ext cx="10515600" cy="861509"/>
          </a:xfrm>
        </p:spPr>
        <p:txBody>
          <a:bodyPr>
            <a:normAutofit/>
          </a:bodyPr>
          <a:lstStyle/>
          <a:p>
            <a:r>
              <a:rPr lang="sv-SE" sz="2400" b="1" dirty="0" err="1">
                <a:latin typeface="+mn-lt"/>
              </a:rPr>
              <a:t>Grade</a:t>
            </a:r>
            <a:r>
              <a:rPr lang="sv-SE" sz="2400" b="1" dirty="0">
                <a:latin typeface="+mn-lt"/>
              </a:rPr>
              <a:t> </a:t>
            </a:r>
            <a:r>
              <a:rPr lang="sv-SE" sz="2400" b="1" dirty="0" err="1">
                <a:latin typeface="+mn-lt"/>
              </a:rPr>
              <a:t>criteria</a:t>
            </a:r>
            <a:r>
              <a:rPr lang="sv-SE" sz="2400" b="1" dirty="0">
                <a:latin typeface="+mn-lt"/>
              </a:rPr>
              <a:t>:</a:t>
            </a:r>
            <a:endParaRPr lang="en-GB" sz="2400" b="1" dirty="0">
              <a:latin typeface="+mn-lt"/>
            </a:endParaRPr>
          </a:p>
        </p:txBody>
      </p:sp>
      <p:sp>
        <p:nvSpPr>
          <p:cNvPr id="3" name="Rektangel 2"/>
          <p:cNvSpPr/>
          <p:nvPr/>
        </p:nvSpPr>
        <p:spPr>
          <a:xfrm>
            <a:off x="223023" y="758283"/>
            <a:ext cx="11508059" cy="5940088"/>
          </a:xfrm>
          <a:prstGeom prst="rect">
            <a:avLst/>
          </a:prstGeom>
        </p:spPr>
        <p:txBody>
          <a:bodyPr wrap="square">
            <a:spAutoFit/>
          </a:bodyPr>
          <a:lstStyle/>
          <a:p>
            <a:r>
              <a:rPr lang="en-US" sz="2000" dirty="0"/>
              <a:t>To obtain grade E on PRO1, the student must have completed all required parts of the course to satisfaction, which includes meeting all the deadlines.</a:t>
            </a:r>
          </a:p>
          <a:p>
            <a:r>
              <a:rPr lang="en-US" sz="2000" dirty="0"/>
              <a:t>The project will be graded (A-F), given that all required parts of the course have been completed to satisfaction.</a:t>
            </a:r>
          </a:p>
          <a:p>
            <a:endParaRPr lang="en-US" sz="2000" dirty="0"/>
          </a:p>
          <a:p>
            <a:r>
              <a:rPr lang="en-US" sz="2000" dirty="0"/>
              <a:t>To obtain grade C on a project, the student must also be able to:</a:t>
            </a:r>
          </a:p>
          <a:p>
            <a:pPr>
              <a:buFont typeface="Arial" panose="020B0604020202020204" pitchFamily="34" charset="0"/>
              <a:buChar char="•"/>
            </a:pPr>
            <a:r>
              <a:rPr lang="en-US" sz="2000" dirty="0"/>
              <a:t>show skills in project planning.</a:t>
            </a:r>
          </a:p>
          <a:p>
            <a:pPr>
              <a:buFont typeface="Arial" panose="020B0604020202020204" pitchFamily="34" charset="0"/>
              <a:buChar char="•"/>
            </a:pPr>
            <a:r>
              <a:rPr lang="en-US" sz="2000" dirty="0"/>
              <a:t>create, </a:t>
            </a:r>
            <a:r>
              <a:rPr lang="en-US" sz="2000" dirty="0" err="1"/>
              <a:t>analyse</a:t>
            </a:r>
            <a:r>
              <a:rPr lang="en-US" sz="2000" dirty="0"/>
              <a:t> and critically evaluate </a:t>
            </a:r>
            <a:r>
              <a:rPr lang="en-US" sz="2000" b="1" dirty="0"/>
              <a:t>one</a:t>
            </a:r>
            <a:r>
              <a:rPr lang="en-US" sz="2000" dirty="0"/>
              <a:t> technical solutions to a given problem</a:t>
            </a:r>
          </a:p>
          <a:p>
            <a:pPr>
              <a:buFont typeface="Arial" panose="020B0604020202020204" pitchFamily="34" charset="0"/>
              <a:buChar char="•"/>
            </a:pPr>
            <a:r>
              <a:rPr lang="en-US" sz="2000" dirty="0"/>
              <a:t>Explain the underlying theory</a:t>
            </a:r>
          </a:p>
          <a:p>
            <a:pPr>
              <a:buFont typeface="Arial" panose="020B0604020202020204" pitchFamily="34" charset="0"/>
              <a:buChar char="•"/>
            </a:pPr>
            <a:endParaRPr lang="en-US" sz="2000" dirty="0"/>
          </a:p>
          <a:p>
            <a:r>
              <a:rPr lang="en-US" sz="2000" dirty="0"/>
              <a:t>To obtain grade A on a project, the student must also be able to:</a:t>
            </a:r>
          </a:p>
          <a:p>
            <a:pPr>
              <a:buFont typeface="Arial" panose="020B0604020202020204" pitchFamily="34" charset="0"/>
              <a:buChar char="•"/>
            </a:pPr>
            <a:r>
              <a:rPr lang="en-US" sz="2000" dirty="0"/>
              <a:t>create, </a:t>
            </a:r>
            <a:r>
              <a:rPr lang="en-US" sz="2000" dirty="0" err="1"/>
              <a:t>analyse</a:t>
            </a:r>
            <a:r>
              <a:rPr lang="en-US" sz="2000" dirty="0"/>
              <a:t> and critically evaluate </a:t>
            </a:r>
            <a:r>
              <a:rPr lang="en-US" sz="2000" b="1" dirty="0"/>
              <a:t>several </a:t>
            </a:r>
            <a:r>
              <a:rPr lang="en-US" sz="2000" dirty="0"/>
              <a:t>technical solutions to a given problem (if possible)</a:t>
            </a:r>
          </a:p>
          <a:p>
            <a:pPr>
              <a:buFont typeface="Arial" panose="020B0604020202020204" pitchFamily="34" charset="0"/>
              <a:buChar char="•"/>
            </a:pPr>
            <a:r>
              <a:rPr lang="en-US" sz="2000" dirty="0"/>
              <a:t>produce a report that </a:t>
            </a:r>
            <a:r>
              <a:rPr lang="en-US" sz="2000" b="1" dirty="0"/>
              <a:t>very clearly </a:t>
            </a:r>
            <a:r>
              <a:rPr lang="en-US" sz="2000" dirty="0"/>
              <a:t>communicates the main results and the underlying theory.</a:t>
            </a:r>
          </a:p>
          <a:p>
            <a:pPr>
              <a:buFont typeface="Arial" panose="020B0604020202020204" pitchFamily="34" charset="0"/>
              <a:buChar char="•"/>
            </a:pPr>
            <a:r>
              <a:rPr lang="en-US" sz="2000" dirty="0"/>
              <a:t>within the frame of the specific project, identify relevant aspects of sustainable development</a:t>
            </a:r>
          </a:p>
          <a:p>
            <a:pPr>
              <a:buFont typeface="Arial" panose="020B0604020202020204" pitchFamily="34" charset="0"/>
              <a:buChar char="•"/>
            </a:pPr>
            <a:r>
              <a:rPr lang="en-US" sz="2000" dirty="0"/>
              <a:t>within the frame of the assigned project, assess and show awareness of ethical aspects on research and development work with respect to methods and results of the project.</a:t>
            </a:r>
            <a:br>
              <a:rPr lang="en-US" sz="2000" dirty="0"/>
            </a:br>
            <a:endParaRPr lang="en-US" sz="2000" dirty="0"/>
          </a:p>
          <a:p>
            <a:r>
              <a:rPr lang="en-US" sz="2000" dirty="0"/>
              <a:t>Students that fulfill the criteria for grade E and nearly fulfill the criteria for grade C, may be awarded grade D. Students that fulfill the criteria for grade C and nearly fulfill the criteria for grade A, may be awarded grade B.</a:t>
            </a:r>
          </a:p>
        </p:txBody>
      </p:sp>
    </p:spTree>
    <p:extLst>
      <p:ext uri="{BB962C8B-B14F-4D97-AF65-F5344CB8AC3E}">
        <p14:creationId xmlns:p14="http://schemas.microsoft.com/office/powerpoint/2010/main" val="3560147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A0363-4A50-4535-63C9-763E1BB79354}"/>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354B097F-4A0A-AC00-F645-7ECF2A7045E8}"/>
              </a:ext>
            </a:extLst>
          </p:cNvPr>
          <p:cNvSpPr>
            <a:spLocks noGrp="1"/>
          </p:cNvSpPr>
          <p:nvPr>
            <p:ph type="title"/>
          </p:nvPr>
        </p:nvSpPr>
        <p:spPr>
          <a:xfrm>
            <a:off x="3068031" y="279400"/>
            <a:ext cx="4865235" cy="821268"/>
          </a:xfrm>
        </p:spPr>
        <p:txBody>
          <a:bodyPr>
            <a:normAutofit/>
          </a:bodyPr>
          <a:lstStyle/>
          <a:p>
            <a:r>
              <a:rPr lang="sv-SE" sz="3600" b="1" dirty="0" err="1"/>
              <a:t>Calculation</a:t>
            </a:r>
            <a:r>
              <a:rPr lang="sv-SE" sz="3600" b="1" dirty="0"/>
              <a:t> </a:t>
            </a:r>
            <a:r>
              <a:rPr lang="sv-SE" sz="3600" b="1" dirty="0" err="1"/>
              <a:t>of</a:t>
            </a:r>
            <a:r>
              <a:rPr lang="sv-SE" sz="3600" b="1" dirty="0"/>
              <a:t> final </a:t>
            </a:r>
            <a:r>
              <a:rPr lang="sv-SE" sz="3600" b="1" dirty="0" err="1"/>
              <a:t>grade</a:t>
            </a:r>
            <a:endParaRPr lang="en-GB" sz="3600" b="1" dirty="0"/>
          </a:p>
        </p:txBody>
      </p:sp>
      <p:graphicFrame>
        <p:nvGraphicFramePr>
          <p:cNvPr id="5" name="Table 4">
            <a:extLst>
              <a:ext uri="{FF2B5EF4-FFF2-40B4-BE49-F238E27FC236}">
                <a16:creationId xmlns:a16="http://schemas.microsoft.com/office/drawing/2014/main" id="{94059EBC-E0B6-3738-C386-D4B331E25B59}"/>
              </a:ext>
            </a:extLst>
          </p:cNvPr>
          <p:cNvGraphicFramePr>
            <a:graphicFrameLocks noGrp="1"/>
          </p:cNvGraphicFramePr>
          <p:nvPr>
            <p:extLst>
              <p:ext uri="{D42A27DB-BD31-4B8C-83A1-F6EECF244321}">
                <p14:modId xmlns:p14="http://schemas.microsoft.com/office/powerpoint/2010/main" val="723119825"/>
              </p:ext>
            </p:extLst>
          </p:nvPr>
        </p:nvGraphicFramePr>
        <p:xfrm>
          <a:off x="1631381" y="1100668"/>
          <a:ext cx="7907867" cy="2194560"/>
        </p:xfrm>
        <a:graphic>
          <a:graphicData uri="http://schemas.openxmlformats.org/drawingml/2006/table">
            <a:tbl>
              <a:tblPr firstRow="1" bandRow="1">
                <a:tableStyleId>{5C22544A-7EE6-4342-B048-85BDC9FD1C3A}</a:tableStyleId>
              </a:tblPr>
              <a:tblGrid>
                <a:gridCol w="3843867">
                  <a:extLst>
                    <a:ext uri="{9D8B030D-6E8A-4147-A177-3AD203B41FA5}">
                      <a16:colId xmlns:a16="http://schemas.microsoft.com/office/drawing/2014/main" val="3632375084"/>
                    </a:ext>
                  </a:extLst>
                </a:gridCol>
                <a:gridCol w="4064000">
                  <a:extLst>
                    <a:ext uri="{9D8B030D-6E8A-4147-A177-3AD203B41FA5}">
                      <a16:colId xmlns:a16="http://schemas.microsoft.com/office/drawing/2014/main" val="3958271744"/>
                    </a:ext>
                  </a:extLst>
                </a:gridCol>
              </a:tblGrid>
              <a:tr h="328789">
                <a:tc>
                  <a:txBody>
                    <a:bodyPr/>
                    <a:lstStyle/>
                    <a:p>
                      <a:r>
                        <a:rPr lang="en-US" dirty="0"/>
                        <a:t>Graded part of CM2016</a:t>
                      </a:r>
                      <a:endParaRPr lang="en-SE" dirty="0"/>
                    </a:p>
                  </a:txBody>
                  <a:tcPr/>
                </a:tc>
                <a:tc>
                  <a:txBody>
                    <a:bodyPr/>
                    <a:lstStyle/>
                    <a:p>
                      <a:r>
                        <a:rPr lang="en-US" dirty="0"/>
                        <a:t>weight</a:t>
                      </a:r>
                      <a:endParaRPr lang="en-SE" dirty="0"/>
                    </a:p>
                  </a:txBody>
                  <a:tcPr/>
                </a:tc>
                <a:extLst>
                  <a:ext uri="{0D108BD9-81ED-4DB2-BD59-A6C34878D82A}">
                    <a16:rowId xmlns:a16="http://schemas.microsoft.com/office/drawing/2014/main" val="2649592213"/>
                  </a:ext>
                </a:extLst>
              </a:tr>
              <a:tr h="328789">
                <a:tc>
                  <a:txBody>
                    <a:bodyPr/>
                    <a:lstStyle/>
                    <a:p>
                      <a:r>
                        <a:rPr lang="en-US" dirty="0"/>
                        <a:t>final report</a:t>
                      </a:r>
                      <a:endParaRPr lang="en-SE" dirty="0"/>
                    </a:p>
                  </a:txBody>
                  <a:tcPr/>
                </a:tc>
                <a:tc>
                  <a:txBody>
                    <a:bodyPr/>
                    <a:lstStyle/>
                    <a:p>
                      <a:r>
                        <a:rPr lang="en-US" dirty="0"/>
                        <a:t>3</a:t>
                      </a:r>
                      <a:endParaRPr lang="en-SE" dirty="0"/>
                    </a:p>
                  </a:txBody>
                  <a:tcPr/>
                </a:tc>
                <a:extLst>
                  <a:ext uri="{0D108BD9-81ED-4DB2-BD59-A6C34878D82A}">
                    <a16:rowId xmlns:a16="http://schemas.microsoft.com/office/drawing/2014/main" val="3236989179"/>
                  </a:ext>
                </a:extLst>
              </a:tr>
              <a:tr h="328789">
                <a:tc>
                  <a:txBody>
                    <a:bodyPr/>
                    <a:lstStyle/>
                    <a:p>
                      <a:r>
                        <a:rPr lang="en-US" dirty="0"/>
                        <a:t>review report</a:t>
                      </a:r>
                      <a:endParaRPr lang="en-SE" dirty="0"/>
                    </a:p>
                  </a:txBody>
                  <a:tcPr/>
                </a:tc>
                <a:tc>
                  <a:txBody>
                    <a:bodyPr/>
                    <a:lstStyle/>
                    <a:p>
                      <a:r>
                        <a:rPr lang="en-US" dirty="0"/>
                        <a:t>1</a:t>
                      </a:r>
                      <a:endParaRPr lang="en-SE" dirty="0"/>
                    </a:p>
                  </a:txBody>
                  <a:tcPr/>
                </a:tc>
                <a:extLst>
                  <a:ext uri="{0D108BD9-81ED-4DB2-BD59-A6C34878D82A}">
                    <a16:rowId xmlns:a16="http://schemas.microsoft.com/office/drawing/2014/main" val="3413313409"/>
                  </a:ext>
                </a:extLst>
              </a:tr>
              <a:tr h="328789">
                <a:tc>
                  <a:txBody>
                    <a:bodyPr/>
                    <a:lstStyle/>
                    <a:p>
                      <a:r>
                        <a:rPr lang="en-US" dirty="0"/>
                        <a:t>final presentation</a:t>
                      </a:r>
                      <a:endParaRPr lang="en-SE" dirty="0"/>
                    </a:p>
                  </a:txBody>
                  <a:tcPr/>
                </a:tc>
                <a:tc>
                  <a:txBody>
                    <a:bodyPr/>
                    <a:lstStyle/>
                    <a:p>
                      <a:r>
                        <a:rPr lang="en-US" dirty="0"/>
                        <a:t>1</a:t>
                      </a:r>
                      <a:endParaRPr lang="en-SE" dirty="0"/>
                    </a:p>
                  </a:txBody>
                  <a:tcPr/>
                </a:tc>
                <a:extLst>
                  <a:ext uri="{0D108BD9-81ED-4DB2-BD59-A6C34878D82A}">
                    <a16:rowId xmlns:a16="http://schemas.microsoft.com/office/drawing/2014/main" val="3684598606"/>
                  </a:ext>
                </a:extLst>
              </a:tr>
              <a:tr h="328789">
                <a:tc>
                  <a:txBody>
                    <a:bodyPr/>
                    <a:lstStyle/>
                    <a:p>
                      <a:r>
                        <a:rPr lang="en-US" dirty="0"/>
                        <a:t>questions at final presentation</a:t>
                      </a:r>
                      <a:endParaRPr lang="en-SE" dirty="0"/>
                    </a:p>
                  </a:txBody>
                  <a:tcPr/>
                </a:tc>
                <a:tc>
                  <a:txBody>
                    <a:bodyPr/>
                    <a:lstStyle/>
                    <a:p>
                      <a:r>
                        <a:rPr lang="en-US" dirty="0"/>
                        <a:t>1</a:t>
                      </a:r>
                      <a:endParaRPr lang="en-SE" dirty="0"/>
                    </a:p>
                  </a:txBody>
                  <a:tcPr/>
                </a:tc>
                <a:extLst>
                  <a:ext uri="{0D108BD9-81ED-4DB2-BD59-A6C34878D82A}">
                    <a16:rowId xmlns:a16="http://schemas.microsoft.com/office/drawing/2014/main" val="1720693957"/>
                  </a:ext>
                </a:extLst>
              </a:tr>
              <a:tr h="328789">
                <a:tc>
                  <a:txBody>
                    <a:bodyPr/>
                    <a:lstStyle/>
                    <a:p>
                      <a:r>
                        <a:rPr lang="en-US" dirty="0"/>
                        <a:t>project plan for CM2017</a:t>
                      </a:r>
                      <a:endParaRPr lang="en-SE" dirty="0"/>
                    </a:p>
                  </a:txBody>
                  <a:tcPr/>
                </a:tc>
                <a:tc>
                  <a:txBody>
                    <a:bodyPr/>
                    <a:lstStyle/>
                    <a:p>
                      <a:r>
                        <a:rPr lang="en-US" dirty="0"/>
                        <a:t>1</a:t>
                      </a:r>
                      <a:endParaRPr lang="en-SE" dirty="0"/>
                    </a:p>
                  </a:txBody>
                  <a:tcPr/>
                </a:tc>
                <a:extLst>
                  <a:ext uri="{0D108BD9-81ED-4DB2-BD59-A6C34878D82A}">
                    <a16:rowId xmlns:a16="http://schemas.microsoft.com/office/drawing/2014/main" val="860786071"/>
                  </a:ext>
                </a:extLst>
              </a:tr>
            </a:tbl>
          </a:graphicData>
        </a:graphic>
      </p:graphicFrame>
      <p:graphicFrame>
        <p:nvGraphicFramePr>
          <p:cNvPr id="6" name="Table 5">
            <a:extLst>
              <a:ext uri="{FF2B5EF4-FFF2-40B4-BE49-F238E27FC236}">
                <a16:creationId xmlns:a16="http://schemas.microsoft.com/office/drawing/2014/main" id="{695ABFB0-42D6-4193-C199-7589E2B95CDD}"/>
              </a:ext>
            </a:extLst>
          </p:cNvPr>
          <p:cNvGraphicFramePr>
            <a:graphicFrameLocks noGrp="1"/>
          </p:cNvGraphicFramePr>
          <p:nvPr>
            <p:extLst>
              <p:ext uri="{D42A27DB-BD31-4B8C-83A1-F6EECF244321}">
                <p14:modId xmlns:p14="http://schemas.microsoft.com/office/powerpoint/2010/main" val="2596363595"/>
              </p:ext>
            </p:extLst>
          </p:nvPr>
        </p:nvGraphicFramePr>
        <p:xfrm>
          <a:off x="1631381" y="3767668"/>
          <a:ext cx="7907867" cy="1828800"/>
        </p:xfrm>
        <a:graphic>
          <a:graphicData uri="http://schemas.openxmlformats.org/drawingml/2006/table">
            <a:tbl>
              <a:tblPr firstRow="1" bandRow="1">
                <a:tableStyleId>{5C22544A-7EE6-4342-B048-85BDC9FD1C3A}</a:tableStyleId>
              </a:tblPr>
              <a:tblGrid>
                <a:gridCol w="3843867">
                  <a:extLst>
                    <a:ext uri="{9D8B030D-6E8A-4147-A177-3AD203B41FA5}">
                      <a16:colId xmlns:a16="http://schemas.microsoft.com/office/drawing/2014/main" val="3632375084"/>
                    </a:ext>
                  </a:extLst>
                </a:gridCol>
                <a:gridCol w="4064000">
                  <a:extLst>
                    <a:ext uri="{9D8B030D-6E8A-4147-A177-3AD203B41FA5}">
                      <a16:colId xmlns:a16="http://schemas.microsoft.com/office/drawing/2014/main" val="3958271744"/>
                    </a:ext>
                  </a:extLst>
                </a:gridCol>
              </a:tblGrid>
              <a:tr h="328789">
                <a:tc>
                  <a:txBody>
                    <a:bodyPr/>
                    <a:lstStyle/>
                    <a:p>
                      <a:r>
                        <a:rPr lang="en-US" dirty="0"/>
                        <a:t>Graded part of CM2017</a:t>
                      </a:r>
                      <a:endParaRPr lang="en-SE" dirty="0"/>
                    </a:p>
                  </a:txBody>
                  <a:tcPr/>
                </a:tc>
                <a:tc>
                  <a:txBody>
                    <a:bodyPr/>
                    <a:lstStyle/>
                    <a:p>
                      <a:r>
                        <a:rPr lang="en-US" dirty="0"/>
                        <a:t>weight</a:t>
                      </a:r>
                      <a:endParaRPr lang="en-SE" dirty="0"/>
                    </a:p>
                  </a:txBody>
                  <a:tcPr/>
                </a:tc>
                <a:extLst>
                  <a:ext uri="{0D108BD9-81ED-4DB2-BD59-A6C34878D82A}">
                    <a16:rowId xmlns:a16="http://schemas.microsoft.com/office/drawing/2014/main" val="2649592213"/>
                  </a:ext>
                </a:extLst>
              </a:tr>
              <a:tr h="328789">
                <a:tc>
                  <a:txBody>
                    <a:bodyPr/>
                    <a:lstStyle/>
                    <a:p>
                      <a:r>
                        <a:rPr lang="en-US" dirty="0"/>
                        <a:t>final report</a:t>
                      </a:r>
                      <a:endParaRPr lang="en-SE" dirty="0"/>
                    </a:p>
                  </a:txBody>
                  <a:tcPr/>
                </a:tc>
                <a:tc>
                  <a:txBody>
                    <a:bodyPr/>
                    <a:lstStyle/>
                    <a:p>
                      <a:r>
                        <a:rPr lang="en-US" dirty="0"/>
                        <a:t>3</a:t>
                      </a:r>
                      <a:endParaRPr lang="en-SE" dirty="0"/>
                    </a:p>
                  </a:txBody>
                  <a:tcPr/>
                </a:tc>
                <a:extLst>
                  <a:ext uri="{0D108BD9-81ED-4DB2-BD59-A6C34878D82A}">
                    <a16:rowId xmlns:a16="http://schemas.microsoft.com/office/drawing/2014/main" val="3236989179"/>
                  </a:ext>
                </a:extLst>
              </a:tr>
              <a:tr h="328789">
                <a:tc>
                  <a:txBody>
                    <a:bodyPr/>
                    <a:lstStyle/>
                    <a:p>
                      <a:r>
                        <a:rPr lang="en-US" dirty="0"/>
                        <a:t>review report</a:t>
                      </a:r>
                      <a:endParaRPr lang="en-SE" dirty="0"/>
                    </a:p>
                  </a:txBody>
                  <a:tcPr/>
                </a:tc>
                <a:tc>
                  <a:txBody>
                    <a:bodyPr/>
                    <a:lstStyle/>
                    <a:p>
                      <a:r>
                        <a:rPr lang="en-US" dirty="0"/>
                        <a:t>1</a:t>
                      </a:r>
                      <a:endParaRPr lang="en-SE" dirty="0"/>
                    </a:p>
                  </a:txBody>
                  <a:tcPr/>
                </a:tc>
                <a:extLst>
                  <a:ext uri="{0D108BD9-81ED-4DB2-BD59-A6C34878D82A}">
                    <a16:rowId xmlns:a16="http://schemas.microsoft.com/office/drawing/2014/main" val="3413313409"/>
                  </a:ext>
                </a:extLst>
              </a:tr>
              <a:tr h="328789">
                <a:tc>
                  <a:txBody>
                    <a:bodyPr/>
                    <a:lstStyle/>
                    <a:p>
                      <a:r>
                        <a:rPr lang="en-US" dirty="0"/>
                        <a:t>final presentation</a:t>
                      </a:r>
                      <a:endParaRPr lang="en-SE" dirty="0"/>
                    </a:p>
                  </a:txBody>
                  <a:tcPr/>
                </a:tc>
                <a:tc>
                  <a:txBody>
                    <a:bodyPr/>
                    <a:lstStyle/>
                    <a:p>
                      <a:r>
                        <a:rPr lang="en-US" dirty="0"/>
                        <a:t>1</a:t>
                      </a:r>
                      <a:endParaRPr lang="en-SE" dirty="0"/>
                    </a:p>
                  </a:txBody>
                  <a:tcPr/>
                </a:tc>
                <a:extLst>
                  <a:ext uri="{0D108BD9-81ED-4DB2-BD59-A6C34878D82A}">
                    <a16:rowId xmlns:a16="http://schemas.microsoft.com/office/drawing/2014/main" val="3684598606"/>
                  </a:ext>
                </a:extLst>
              </a:tr>
              <a:tr h="328789">
                <a:tc>
                  <a:txBody>
                    <a:bodyPr/>
                    <a:lstStyle/>
                    <a:p>
                      <a:r>
                        <a:rPr lang="en-US" dirty="0"/>
                        <a:t>questions at final presentation</a:t>
                      </a:r>
                      <a:endParaRPr lang="en-SE" dirty="0"/>
                    </a:p>
                  </a:txBody>
                  <a:tcPr/>
                </a:tc>
                <a:tc>
                  <a:txBody>
                    <a:bodyPr/>
                    <a:lstStyle/>
                    <a:p>
                      <a:r>
                        <a:rPr lang="en-US" dirty="0"/>
                        <a:t>1</a:t>
                      </a:r>
                      <a:endParaRPr lang="en-SE" dirty="0"/>
                    </a:p>
                  </a:txBody>
                  <a:tcPr/>
                </a:tc>
                <a:extLst>
                  <a:ext uri="{0D108BD9-81ED-4DB2-BD59-A6C34878D82A}">
                    <a16:rowId xmlns:a16="http://schemas.microsoft.com/office/drawing/2014/main" val="1720693957"/>
                  </a:ext>
                </a:extLst>
              </a:tr>
            </a:tbl>
          </a:graphicData>
        </a:graphic>
      </p:graphicFrame>
      <p:sp>
        <p:nvSpPr>
          <p:cNvPr id="8" name="TextBox 7">
            <a:extLst>
              <a:ext uri="{FF2B5EF4-FFF2-40B4-BE49-F238E27FC236}">
                <a16:creationId xmlns:a16="http://schemas.microsoft.com/office/drawing/2014/main" id="{8BCBAA4D-566E-24AD-A8B9-78F90370B5D1}"/>
              </a:ext>
            </a:extLst>
          </p:cNvPr>
          <p:cNvSpPr txBox="1"/>
          <p:nvPr/>
        </p:nvSpPr>
        <p:spPr>
          <a:xfrm>
            <a:off x="1631382" y="5884242"/>
            <a:ext cx="7907866" cy="369332"/>
          </a:xfrm>
          <a:prstGeom prst="rect">
            <a:avLst/>
          </a:prstGeom>
          <a:noFill/>
        </p:spPr>
        <p:txBody>
          <a:bodyPr wrap="square">
            <a:spAutoFit/>
          </a:bodyPr>
          <a:lstStyle/>
          <a:p>
            <a:r>
              <a:rPr lang="en-US" b="0" i="0" dirty="0">
                <a:solidFill>
                  <a:srgbClr val="212121"/>
                </a:solidFill>
                <a:effectLst/>
                <a:latin typeface="LatoWeb"/>
              </a:rPr>
              <a:t>The grades translate to numbers as E = 6, D = 7, C = 8, B = 9, A = 10</a:t>
            </a:r>
            <a:endParaRPr lang="en-SE" dirty="0"/>
          </a:p>
        </p:txBody>
      </p:sp>
    </p:spTree>
    <p:extLst>
      <p:ext uri="{BB962C8B-B14F-4D97-AF65-F5344CB8AC3E}">
        <p14:creationId xmlns:p14="http://schemas.microsoft.com/office/powerpoint/2010/main" val="1047227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p:cNvSpPr/>
          <p:nvPr/>
        </p:nvSpPr>
        <p:spPr>
          <a:xfrm>
            <a:off x="2261507" y="922565"/>
            <a:ext cx="7535636" cy="4524315"/>
          </a:xfrm>
          <a:prstGeom prst="rect">
            <a:avLst/>
          </a:prstGeom>
        </p:spPr>
        <p:txBody>
          <a:bodyPr wrap="square">
            <a:spAutoFit/>
          </a:bodyPr>
          <a:lstStyle/>
          <a:p>
            <a:r>
              <a:rPr lang="en-US" sz="2400" b="1" dirty="0"/>
              <a:t>Further notes</a:t>
            </a:r>
            <a:r>
              <a:rPr lang="en-US" sz="2400" dirty="0"/>
              <a:t> </a:t>
            </a:r>
          </a:p>
          <a:p>
            <a:br>
              <a:rPr lang="en-US" sz="2400" dirty="0"/>
            </a:br>
            <a:r>
              <a:rPr lang="en-US" sz="2000" dirty="0"/>
              <a:t>All hand-ins are scanned for plagiarism.</a:t>
            </a:r>
            <a:br>
              <a:rPr lang="en-US" sz="2000" dirty="0"/>
            </a:br>
            <a:r>
              <a:rPr lang="en-US" sz="2000" dirty="0"/>
              <a:t>All external sources must be referenced and properly indicated as someone else’s work.</a:t>
            </a:r>
            <a:br>
              <a:rPr lang="en-US" sz="2000" dirty="0"/>
            </a:br>
            <a:r>
              <a:rPr lang="en-US" sz="2000" dirty="0"/>
              <a:t>However, we encourage the use of others’ work when possible and applicable.</a:t>
            </a:r>
            <a:br>
              <a:rPr lang="en-US" sz="2000" dirty="0"/>
            </a:br>
            <a:r>
              <a:rPr lang="en-US" sz="2000" dirty="0"/>
              <a:t>You may include figures and graphs from other sources as long as this is clearly indicated in the reports with proper referencing. </a:t>
            </a:r>
            <a:br>
              <a:rPr lang="en-US" sz="2000" dirty="0"/>
            </a:br>
            <a:r>
              <a:rPr lang="en-US" sz="2000" dirty="0"/>
              <a:t> </a:t>
            </a:r>
            <a:br>
              <a:rPr lang="en-US" sz="2000" dirty="0"/>
            </a:br>
            <a:r>
              <a:rPr lang="en-US" sz="2000" dirty="0"/>
              <a:t>In accordance with </a:t>
            </a:r>
            <a:r>
              <a:rPr lang="en-US" sz="2000" dirty="0" err="1"/>
              <a:t>Handbok</a:t>
            </a:r>
            <a:r>
              <a:rPr lang="en-US" sz="2000" dirty="0"/>
              <a:t> 444 </a:t>
            </a:r>
            <a:r>
              <a:rPr lang="en-US" sz="2000" dirty="0" err="1"/>
              <a:t>Elinstallationsreglerna</a:t>
            </a:r>
            <a:r>
              <a:rPr lang="en-US" sz="2000" dirty="0"/>
              <a:t> - SS 436 40 00, it is not allowed to work with voltages above 25 VAC or 60 VDC.</a:t>
            </a:r>
            <a:br>
              <a:rPr lang="en-US" sz="2000" dirty="0"/>
            </a:br>
            <a:r>
              <a:rPr lang="en-US" sz="2000" dirty="0"/>
              <a:t>For instance, you cannot work with 230 V connections, unless properly encapsulated by the manufacturer.</a:t>
            </a:r>
            <a:endParaRPr lang="en-GB" sz="2000" dirty="0"/>
          </a:p>
        </p:txBody>
      </p:sp>
    </p:spTree>
    <p:extLst>
      <p:ext uri="{BB962C8B-B14F-4D97-AF65-F5344CB8AC3E}">
        <p14:creationId xmlns:p14="http://schemas.microsoft.com/office/powerpoint/2010/main" val="504002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13"/>
          <p:cNvSpPr>
            <a:spLocks noChangeArrowheads="1"/>
          </p:cNvSpPr>
          <p:nvPr/>
        </p:nvSpPr>
        <p:spPr bwMode="auto">
          <a:xfrm>
            <a:off x="-3543153" y="1441527"/>
            <a:ext cx="22080908" cy="641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6" name="Rectangle 14"/>
          <p:cNvSpPr>
            <a:spLocks noChangeArrowheads="1"/>
          </p:cNvSpPr>
          <p:nvPr/>
        </p:nvSpPr>
        <p:spPr bwMode="auto">
          <a:xfrm>
            <a:off x="-27302083" y="1633805"/>
            <a:ext cx="52588372" cy="720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3" name="TextBox 2">
            <a:extLst>
              <a:ext uri="{FF2B5EF4-FFF2-40B4-BE49-F238E27FC236}">
                <a16:creationId xmlns:a16="http://schemas.microsoft.com/office/drawing/2014/main" id="{23D2262C-E122-DF0A-2FC9-BBF64A0565CC}"/>
              </a:ext>
            </a:extLst>
          </p:cNvPr>
          <p:cNvSpPr txBox="1"/>
          <p:nvPr/>
        </p:nvSpPr>
        <p:spPr>
          <a:xfrm>
            <a:off x="2007909" y="3101419"/>
            <a:ext cx="4711931" cy="369332"/>
          </a:xfrm>
          <a:prstGeom prst="rect">
            <a:avLst/>
          </a:prstGeom>
          <a:noFill/>
        </p:spPr>
        <p:txBody>
          <a:bodyPr wrap="none" rtlCol="0">
            <a:spAutoFit/>
          </a:bodyPr>
          <a:lstStyle/>
          <a:p>
            <a:r>
              <a:rPr lang="en-US" dirty="0"/>
              <a:t>Project groups in separate file under “Files” now.</a:t>
            </a:r>
            <a:endParaRPr lang="en-SE" dirty="0"/>
          </a:p>
        </p:txBody>
      </p:sp>
    </p:spTree>
    <p:extLst>
      <p:ext uri="{BB962C8B-B14F-4D97-AF65-F5344CB8AC3E}">
        <p14:creationId xmlns:p14="http://schemas.microsoft.com/office/powerpoint/2010/main" val="1125409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ruta 1"/>
          <p:cNvSpPr txBox="1"/>
          <p:nvPr/>
        </p:nvSpPr>
        <p:spPr>
          <a:xfrm>
            <a:off x="2533992" y="778365"/>
            <a:ext cx="7617150" cy="3108543"/>
          </a:xfrm>
          <a:prstGeom prst="rect">
            <a:avLst/>
          </a:prstGeom>
          <a:noFill/>
        </p:spPr>
        <p:txBody>
          <a:bodyPr wrap="none" rtlCol="0">
            <a:spAutoFit/>
          </a:bodyPr>
          <a:lstStyle/>
          <a:p>
            <a:r>
              <a:rPr lang="sv-SE" sz="2800" dirty="0"/>
              <a:t>If </a:t>
            </a:r>
            <a:r>
              <a:rPr lang="sv-SE" sz="2800" dirty="0" err="1"/>
              <a:t>there</a:t>
            </a:r>
            <a:r>
              <a:rPr lang="sv-SE" sz="2800" dirty="0"/>
              <a:t> is </a:t>
            </a:r>
            <a:r>
              <a:rPr lang="sv-SE" sz="2800" dirty="0" err="1"/>
              <a:t>anything</a:t>
            </a:r>
            <a:r>
              <a:rPr lang="sv-SE" sz="2800" dirty="0"/>
              <a:t> </a:t>
            </a:r>
            <a:r>
              <a:rPr lang="sv-SE" sz="2800" dirty="0" err="1"/>
              <a:t>else</a:t>
            </a:r>
            <a:r>
              <a:rPr lang="sv-SE" sz="2800" dirty="0"/>
              <a:t> </a:t>
            </a:r>
            <a:r>
              <a:rPr lang="sv-SE" sz="2800" dirty="0" err="1"/>
              <a:t>you</a:t>
            </a:r>
            <a:r>
              <a:rPr lang="sv-SE" sz="2800" dirty="0"/>
              <a:t> </a:t>
            </a:r>
            <a:r>
              <a:rPr lang="sv-SE" sz="2800" dirty="0" err="1"/>
              <a:t>would</a:t>
            </a:r>
            <a:r>
              <a:rPr lang="sv-SE" sz="2800" dirty="0"/>
              <a:t> like to </a:t>
            </a:r>
            <a:r>
              <a:rPr lang="sv-SE" sz="2800" dirty="0" err="1"/>
              <a:t>see</a:t>
            </a:r>
            <a:endParaRPr lang="sv-SE" sz="2800" dirty="0"/>
          </a:p>
          <a:p>
            <a:r>
              <a:rPr lang="sv-SE" sz="2800" dirty="0"/>
              <a:t>(</a:t>
            </a:r>
            <a:r>
              <a:rPr lang="sv-SE" sz="2800" dirty="0" err="1"/>
              <a:t>excursion</a:t>
            </a:r>
            <a:r>
              <a:rPr lang="sv-SE" sz="2800" dirty="0"/>
              <a:t>, </a:t>
            </a:r>
            <a:r>
              <a:rPr lang="sv-SE" sz="2800" dirty="0" err="1"/>
              <a:t>lecture</a:t>
            </a:r>
            <a:r>
              <a:rPr lang="sv-SE" sz="2800" dirty="0"/>
              <a:t> on presentation </a:t>
            </a:r>
            <a:r>
              <a:rPr lang="sv-SE" sz="2800" dirty="0" err="1"/>
              <a:t>technique</a:t>
            </a:r>
            <a:r>
              <a:rPr lang="sv-SE" sz="2800" dirty="0"/>
              <a:t> etc. )</a:t>
            </a:r>
          </a:p>
          <a:p>
            <a:r>
              <a:rPr lang="sv-SE" sz="2800" dirty="0" err="1"/>
              <a:t>please</a:t>
            </a:r>
            <a:r>
              <a:rPr lang="sv-SE" sz="2800" dirty="0"/>
              <a:t> </a:t>
            </a:r>
            <a:r>
              <a:rPr lang="sv-SE" sz="2800" dirty="0" err="1"/>
              <a:t>speak</a:t>
            </a:r>
            <a:r>
              <a:rPr lang="sv-SE" sz="2800" dirty="0"/>
              <a:t> </a:t>
            </a:r>
            <a:r>
              <a:rPr lang="sv-SE" sz="2800" dirty="0" err="1"/>
              <a:t>up</a:t>
            </a:r>
            <a:r>
              <a:rPr lang="sv-SE" sz="2800" dirty="0"/>
              <a:t> or </a:t>
            </a:r>
            <a:r>
              <a:rPr lang="sv-SE" sz="2800" dirty="0" err="1"/>
              <a:t>send</a:t>
            </a:r>
            <a:r>
              <a:rPr lang="sv-SE" sz="2800" dirty="0"/>
              <a:t> an e-mail.</a:t>
            </a:r>
          </a:p>
          <a:p>
            <a:endParaRPr lang="sv-SE" sz="2800" dirty="0"/>
          </a:p>
          <a:p>
            <a:endParaRPr lang="sv-SE" sz="2800" dirty="0"/>
          </a:p>
          <a:p>
            <a:endParaRPr lang="sv-SE" sz="2800" dirty="0"/>
          </a:p>
          <a:p>
            <a:r>
              <a:rPr lang="sv-SE" sz="2800" dirty="0" err="1"/>
              <a:t>Any</a:t>
            </a:r>
            <a:r>
              <a:rPr lang="sv-SE" sz="2800" dirty="0"/>
              <a:t> </a:t>
            </a:r>
            <a:r>
              <a:rPr lang="sv-SE" sz="2800" dirty="0" err="1"/>
              <a:t>questions</a:t>
            </a:r>
            <a:r>
              <a:rPr lang="sv-SE" sz="2800" dirty="0"/>
              <a:t>?</a:t>
            </a:r>
            <a:endParaRPr lang="en-GB" sz="2800" dirty="0"/>
          </a:p>
        </p:txBody>
      </p:sp>
    </p:spTree>
    <p:extLst>
      <p:ext uri="{BB962C8B-B14F-4D97-AF65-F5344CB8AC3E}">
        <p14:creationId xmlns:p14="http://schemas.microsoft.com/office/powerpoint/2010/main" val="2732836608"/>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15915</TotalTime>
  <Words>1422</Words>
  <Application>Microsoft Office PowerPoint</Application>
  <PresentationFormat>Widescreen</PresentationFormat>
  <Paragraphs>116</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Gill Sans Light</vt:lpstr>
      <vt:lpstr>LatoWeb</vt:lpstr>
      <vt:lpstr>Office-tema</vt:lpstr>
      <vt:lpstr>Welcome to the spring term of the project carrier course!</vt:lpstr>
      <vt:lpstr>PowerPoint Presentation</vt:lpstr>
      <vt:lpstr>PowerPoint Presentation</vt:lpstr>
      <vt:lpstr>Why JML:</vt:lpstr>
      <vt:lpstr>Assignment (1,5 credits)</vt:lpstr>
      <vt:lpstr>Information on Canvas!</vt:lpstr>
      <vt:lpstr>Grade criteria:</vt:lpstr>
      <vt:lpstr>Calculation of final grade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Philip Köck</dc:creator>
  <cp:lastModifiedBy>Sahand Khodabandehloo</cp:lastModifiedBy>
  <cp:revision>129</cp:revision>
  <dcterms:created xsi:type="dcterms:W3CDTF">2022-01-13T08:25:58Z</dcterms:created>
  <dcterms:modified xsi:type="dcterms:W3CDTF">2026-01-20T07:57:28Z</dcterms:modified>
</cp:coreProperties>
</file>